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tiêu đề (0:00, 19:30). Chào mừng cả lớp, mỗi giảng viên tự giới thiệu một câu.</a:t>
            </a:r>
          </a:p>
          <a:p>
            <a:r>
              <a:rPr lang="en-US" sz="1400" b="0" dirty="0"/>
              <a:t>Trong tám tối thứ Bảy, chúng ta đi hết con đường từ một câu hỏi tại giường bệnh đến một bài báo sẵn sàng để nộp. Không cần phần mềm, không học công thức: học bằng hình ảnh, ví dụ và bài tập ngắn cả lớp cùng làm.</a:t>
            </a:r>
          </a:p>
          <a:p>
            <a:r>
              <a:rPr lang="en-US" sz="1400" b="0" dirty="0"/>
              <a:t>Nhờ mọi người đổi tên hiển thị thành họ và tên đầy đủ, và tìm khung chat, chức năng bình chọn (poll) và nút 'giơ tay'.</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Hỏi: 'Hãy nghĩ tới một việc trong khoa mà mỗi người làm một kiểu và chưa ai biết cách nào tốt nhất. Gõ vào khung chat.' Đọc to hai ba câu trả lời.</a:t>
            </a:r>
          </a:p>
          <a:p>
            <a:r>
              <a:rPr lang="en-US" sz="1400" b="0" dirty="0"/>
              <a:t>Ý chính: nghiên cứu bắt đầu từ điều còn chưa chắc chắn trong lâm sàng, không phải từ thống kê.</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Tuần 1-2: câu hỏi và bằng chứng. Tuần 3-4: thiết kế và sai lệch. Tuần 5-6: dữ liệu và phân tích. Tuần 7-8: đạo đức, viết và công bố. Mỗi thứ Bảy một buổi, giữa hai buổi có một tuần để làm bài về nhà.</a:t>
            </a:r>
          </a:p>
          <a:p>
            <a:r>
              <a:rPr lang="en-US" sz="1400" b="0" dirty="0"/>
              <a:t>Một ví dụ xuyên suốt cả khóa: dịch truyền trong sốc nhiễm khuẩn và tử vong 28 ngày. Từ Buổi 5, ví dụ này tiếp tục trong nghiên cứu của khóa học, FLUID-ICU.</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Cấp độ 1 đưa bạn từ câu hỏi lâm sàng đến bài báo. Ở cấp độ này giảng viên chạy phần mềm, các bạn đọc và diễn giải kết quả. Cấp độ 2 dạy mô hình thống kê bằng R. Cấp độ 3 gồm các phương pháp nâng cao, theo yêu cầu.</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Đề cương: viết từng phần trên lớp, nộp ở Buổi 8. Vài bạn tình nguyện trình bày (mỗi người 6 phút).</a:t>
            </a:r>
          </a:p>
          <a:p>
            <a:r>
              <a:rPr lang="en-US" sz="1400" b="0" dirty="0"/>
              <a:t>Bản thảo: FLUID-ICU là nghiên cứu của khóa học trên 620 người bệnh ICU bị nhiễm khuẩn huyết, có năm câu hỏi (Q1 đến Q5). Mỗi người chọn một câu, nhận bảng và hình kết quả, rồi viết bài. Sau Buổi 8, mỗi người phản biện bản thảo của một đồng nghiệp.</a:t>
            </a:r>
          </a:p>
          <a:p>
            <a:r>
              <a:rPr lang="en-US" sz="1400" b="0" dirty="0"/>
              <a:t>Cả hai viết bằng tiếng Anh. Có thể viết bằng tiếng Việt nếu thật sự không viết được tiếng Anh.</a:t>
            </a:r>
          </a:p>
          <a:p>
            <a:r>
              <a:rPr lang="en-US" sz="1400" b="0" dirty="0"/>
              <a:t>Hướng dẫn: Course/Assignment/proposal_brief và manuscript_brief.</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Mỗi thẻ ứng với hai tuần. Mục tiêu là hiểu và diễn giải, không phải tính toán.</a:t>
            </a:r>
          </a:p>
          <a:p>
            <a:r>
              <a:rPr lang="en-US" sz="1400" b="0" dirty="0"/>
              <a:t>Hỏi: 'Thẻ nào làm bạn lo nhất? Trả lời trong chat.' Thường là phân tích. Trấn an: lớp đi chậm và kiểm tra mức hiểu thường xuyên.</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Mỗi thứ Bảy cùng một nhịp: ôn tập, hai phần học có kiểm tra và bài tập ngắn, 15 phút giải lao, rồi thời gian viết đề cương hoặc bài báo.</a:t>
            </a:r>
          </a:p>
          <a:p>
            <a:r>
              <a:rPr lang="en-US" sz="1400" b="0" dirty="0"/>
              <a:t>Cuối mỗi buổi có slide bổ sung, chỉ dùng khi còn thời gian. Các bạn có thể tự đọc ở nhà.</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Trong mỗi phần xây dựng đề cương, giảng viên điền trước phần đó cho ví dụ xuyên suốt trên màn hình chia sẻ. Sau đó bạn viết cùng phần đó cho câu hỏi của mình.</a:t>
            </a:r>
          </a:p>
          <a:p>
            <a:r>
              <a:rPr lang="en-US" sz="1400" b="0" dirty="0"/>
              <a:t>Mẫu: Course/Templates/Research_Proposal_Template.docx (gửi qua email trước Buổi 1).</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Khoảng 30 bác sĩ và điều dưỡng học từ nhà. Cả lớp làm việc như một nhóm, không chia nhóm.</a:t>
            </a:r>
          </a:p>
          <a:p>
            <a:r>
              <a:rPr lang="en-US" sz="1400" b="0" dirty="0"/>
              <a:t>Cho 3 phút để gõ. Sau đó mời 4-5 người nói câu hỏi của mình và chỉ ra các chủ đề chung (dịch truyền, an thần, nhiễm khuẩn, vận động sớm, an toàn dùng thuốc).</a:t>
            </a:r>
          </a:p>
          <a:p>
            <a:r>
              <a:rPr lang="en-US" sz="1400" b="0" dirty="0"/>
              <a:t>Các câu hỏi nằm sẵn trong chat. Ở phần Xây dựng đề cương 1, mọi người có thể kéo lên xem lại.</a:t>
            </a:r>
          </a:p>
          <a:p>
            <a:r>
              <a:rPr lang="en-US" sz="1400" b="0" dirty="0"/>
              <a:t>Thời gian: 6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nơi an toàn để nói 'tôi chưa hiểu'. Có thể nhắn riêng cho giảng viên trong chat.</a:t>
            </a:r>
          </a:p>
          <a:p>
            <a:r>
              <a:rPr lang="en-US" sz="1400" b="0" dirty="0"/>
              <a:t>Chat bằng tiếng Việt hoặc tiếng Anh, miễn giúp bạn suy nghĩ. Không nêu tên hay chi tiết nhận dạng người bệnh.</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Dán đường link Google Form vào chat. Biểu mẫu hỏi họ và tên để ghép bài làm ở Buổi 1 và Buổi 8.</a:t>
            </a:r>
          </a:p>
          <a:p>
            <a:r>
              <a:rPr lang="en-US" sz="1400" b="0" dirty="0"/>
              <a:t>Học viên không thấy điểm hay đáp án sau khi gửi. Giảng viên xem kết quả ngay trong thẻ Câu trả lời (Responses) của biểu mẫu và bảng kết quả liên kết.</a:t>
            </a:r>
          </a:p>
          <a:p>
            <a:r>
              <a:rPr lang="en-US" sz="1400" b="0" dirty="0"/>
              <a:t>Đóng biểu mẫu sau 15 phút. Hôm nay không chữa đáp án: đáp án được chia sẻ sau lần làm thứ hai ở Buổi 8.</a:t>
            </a:r>
          </a:p>
          <a:p>
            <a:r>
              <a:rPr lang="en-US" sz="1400" b="0" dirty="0"/>
              <a:t>Thời gian: 15 phút. Phần học Buổi 1 bắt đầu lúc 0:35 (20:05).</a:t>
            </a:r>
          </a:p>
          <a:p>
            <a:r>
              <a:rPr lang="en-US" sz="1400" b="0" dirty="0"/>
              <a:t>Biểu mẫu được tạo một lần từ Course/Assessment/google_form (các bước trong README).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Buổi 1 (0:35, 20:05), ngay sau bài kiểm tra đầu khóa.</a:t>
            </a:r>
          </a:p>
          <a:p>
            <a:r>
              <a:rPr lang="en-US" sz="1400" b="0" dirty="0"/>
              <a:t>Mục tiêu hôm nay: mỗi người ra về với bản nháp câu hỏi nghiên cứu, mục tiêu tổng quát và mục tiêu cụ thể của riêng mình.</a:t>
            </a:r>
          </a:p>
          <a:p>
            <a:r>
              <a:rPr lang="en-US" sz="1400" b="0" dirty="0"/>
              <a:t>Học viên hầu như chưa có nền tảng nghiên cứu và đây là buổi tối sau giờ làm: đi chậm, dừng lại ở mọi slide kiểm tra.</a:t>
            </a:r>
          </a:p>
          <a:p>
            <a:r>
              <a:rPr lang="en-US" sz="1400" b="0" dirty="0"/>
              <a:t>Thời gian: 1 phút. Chỉ vào chương trình, không đọc to.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1.1 (0:35-1:10, 20:05-20:40).</a:t>
            </a:r>
          </a:p>
          <a:p>
            <a:r>
              <a:rPr lang="en-US" sz="1400" b="0" dirty="0"/>
              <a:t>Mời hai ba người bật micro trả lời. Thường gặp: kinh nghiệm thiên về những ca đáng nhớ, đồng nghiệp mỗi người một ý, thực hành thay đổi.</a:t>
            </a:r>
          </a:p>
          <a:p>
            <a:r>
              <a:rPr lang="en-US" sz="1400" b="0" dirty="0"/>
              <a:t>Ý chính: kinh nghiệm giúp nảy ra câu hỏi, nhưng không đủ để trả lời câu hỏi.</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Bên trái: một bác sĩ, ba người bệnh, không có nhóm so sánh. Bên phải: mỗi nhóm 50 người bệnh, đếm mọi ca tử vong.</a:t>
            </a:r>
          </a:p>
          <a:p>
            <a:r>
              <a:rPr lang="en-US" sz="1400" b="0" dirty="0"/>
              <a:t>Các con số chỉ để minh họa, nhưng xu hướng là có thật: thử nghiệm lớn CLASSIC (NEJM 2022, 1554 người bệnh) thấy tử vong 90 ngày như nhau giữa hạn chế dịch và truyền dịch chuẩn (42.3% so với 42.1%).</a:t>
            </a:r>
          </a:p>
          <a:p>
            <a:r>
              <a:rPr lang="en-US" sz="1400" b="0" dirty="0"/>
              <a:t>Hỏi: 'Vì sao mình nhớ ba ca tốt?' Thường gặp: sai lệch nhớ lại (recall bias). Ca kịch tính thì nhớ, ca thất bại thì quên.</a:t>
            </a:r>
          </a:p>
          <a:p>
            <a:r>
              <a:rPr lang="en-US" sz="1400" b="0" dirty="0"/>
              <a:t>Thời gian: 4 phút. Cả khóa học dựa trên ý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mô phỏng: nguy cơ tử vong thật là 40%. Hàng trên: 20 khoa, mỗi khoa 5 người bệnh, tỷ lệ tử vong từ 0% đến 80% chỉ do ngẫu nhiên. Nhóm 500 người tập trung quanh 40%.</a:t>
            </a:r>
          </a:p>
          <a:p>
            <a:r>
              <a:rPr lang="en-US" sz="1400" b="0" dirty="0"/>
              <a:t>Bình chọn (có / không / chưa biết được): 'Một khoa có 0/5 người bệnh tử vong sau quy trình mới. Quy trình có hiệu quả không?' Đáp án: chưa biết được, vì 0/5 xảy ra thường xuyên do ngẫu nhiên.</a:t>
            </a:r>
          </a:p>
          <a:p>
            <a:r>
              <a:rPr lang="en-US" sz="1400" b="0" dirty="0"/>
              <a:t>Thời gian: 4 phút. Cỡ mẫu học ở Buổi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từ dưới lên: ý kiến chuyên gia, loạt ca, bệnh-chứng, thuần tập, thử nghiệm ngẫu nhiên, và tổng quan hệ thống gộp nhiều nghiên cứu.</a:t>
            </a:r>
          </a:p>
          <a:p>
            <a:r>
              <a:rPr lang="en-US" sz="1400" b="0" dirty="0"/>
              <a:t>Thiết kế càng cao càng chống sai lệch tốt hơn với câu hỏi 'điều trị X có hiệu quả không?'. Thử nghiệm nhỏ hoặc làm kém vẫn có thể sai.</a:t>
            </a:r>
          </a:p>
          <a:p>
            <a:r>
              <a:rPr lang="en-US" sz="1400" b="0" dirty="0"/>
              <a:t>Với câu hỏi về tần suất, tác hại và tiên lượng, thiết kế quan sát thường là lựa chọn đúng.</a:t>
            </a:r>
          </a:p>
          <a:p>
            <a:r>
              <a:rPr lang="en-US" sz="1400" b="0" dirty="0"/>
              <a:t>Thời gian: 4 phút. Buổi 3 học kỹ từng thiết kế: đừng dạy thiết kế ở đây.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Cho 1 phút rồi chia sẻ kết quả. Đáp án: A, B, C, D.</a:t>
            </a:r>
          </a:p>
          <a:p>
            <a:r>
              <a:rPr lang="en-US" sz="1400" b="0" dirty="0"/>
              <a:t>C chính là thử nghiệm CLASSIC, không thấy khác biệt tử vong 90 ngày.</a:t>
            </a:r>
          </a:p>
          <a:p>
            <a:r>
              <a:rPr lang="en-US" sz="1400" b="0" dirty="0"/>
              <a:t>Điều gì làm C yếu hơn B? Quá nhỏ, mất nhiều người bệnh, hoặc người bệnh khác với người bệnh của mình.</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Hai bài báo này được nhắc đến ở mọi buổi.</a:t>
            </a:r>
          </a:p>
          <a:p>
            <a:r>
              <a:rPr lang="en-US" sz="1400" b="0" dirty="0"/>
              <a:t>Bài báo 1: thử nghiệm thí điểm tại ba ICU ở Pháp. Thử nghiệm thí điểm là một thử nghiệm nhỏ để xem có làm được thử nghiệm lớn hay không. Nghiên cứu hạn chế dịch 'không nhằm hồi sức' (dịch duy trì và dịch pha thuốc).</a:t>
            </a:r>
          </a:p>
          <a:p>
            <a:r>
              <a:rPr lang="en-US" sz="1400" b="0" dirty="0"/>
              <a:t>Bài báo 2: thuần tập ghép cặp từ sổ đăng ký của Liên minh Nhiễm khuẩn huyết Hàn Quốc, giống lựa chọn B trong câu hỏi nhanh.</a:t>
            </a:r>
          </a:p>
          <a:p>
            <a:r>
              <a:rPr lang="en-US" sz="1400" b="0" dirty="0"/>
              <a:t>Chưa cần đọc bây giờ. Ở Buổi 2, cả lớp cùng đọc phần tóm tắt của Bài báo 1.</a:t>
            </a:r>
          </a:p>
          <a:p>
            <a:r>
              <a:rPr lang="en-US" sz="1400" b="0" dirty="0"/>
              <a:t>Thời gian: 2 phút.</a:t>
            </a:r>
          </a:p>
          <a:p>
            <a:r>
              <a:rPr lang="en-US" sz="1400" b="0" dirty="0"/>
              <a:t>Trước Buổi 1, gửi email hai tệp PDF gốc (Course/Papers, tệp có chữ 'original') kèm phiếu bài tập Buổi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Mỗi ô một câu. Tuần 1-2 học ba ô màu xanh đậm: vấn đề, câu hỏi, tìm y văn.</a:t>
            </a:r>
          </a:p>
          <a:p>
            <a:r>
              <a:rPr lang="en-US" sz="1400" b="0" dirty="0"/>
              <a:t>Quan niệm sai: 'nghiên cứu là thu thập số liệu'. Thu thập số liệu đến sau câu hỏi, thiết kế và phê duyệt đạo đức.</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 hàng đầu: loại dữ liệu. Hai hàng cuối: nguồn dữ liệu.</a:t>
            </a:r>
          </a:p>
          <a:p>
            <a:r>
              <a:rPr lang="en-US" sz="1400" b="0" dirty="0"/>
              <a:t>Quan niệm sai: 'nghiên cứu định tính chỉ là ý kiến'. Nó có phương pháp chặt chẽ riêng.</a:t>
            </a:r>
          </a:p>
          <a:p>
            <a:r>
              <a:rPr lang="en-US" sz="1400" b="0" dirty="0"/>
              <a:t>Thời gian: 3 phút. Thiết kế định tính học lại ở Buổi 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Mời hai ba người trả lời ngắn. Đáp án ở slide sau.</a:t>
            </a:r>
          </a:p>
          <a:p>
            <a:r>
              <a:rPr lang="en-US" sz="1400" b="0" dirty="0"/>
              <a:t>Nếu lớp lưỡng lự ở câu C: hồ sơ được ghi để chăm sóc người bệnh, không phải cho nghiên cứu này, nên dùng lại là nghiên cứu thứ cấp.</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Hai câu hỏi phân loại được gần như mọi nghiên cứu: loại dữ liệu và nguồn dữ liệu.</a:t>
            </a:r>
          </a:p>
          <a:p>
            <a:r>
              <a:rPr lang="en-US" sz="1400" b="0" dirty="0"/>
              <a:t>Nghiên cứu thứ cấp thường khả thi nhất với một khoa bận rộn, nếu hồ sơ được ghi tốt (Buổi 5).</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Mười một trạm. Màu cho biết tuần nào của khóa học dạy trạm đó.</a:t>
            </a:r>
          </a:p>
          <a:p>
            <a:r>
              <a:rPr lang="en-US" sz="1400" b="0" dirty="0"/>
              <a:t>Trạm 1-6 là lên kế hoạch và thực hiện nghiên cứu. Trạm 7-11 là công bố. Thử nghiệm phải đăng ký trước khi nhận người bệnh đầu tiên. Con đường thường mất một đến ba năm, và nhiều nghiên cứu dừng lại ở trạm 7.</a:t>
            </a:r>
          </a:p>
          <a:p>
            <a:r>
              <a:rPr lang="en-US" sz="1400" b="0" dirty="0"/>
              <a:t>Hỏi: 'Nghiên cứu ở bệnh viện hay bị kẹt ở trạm nào?' Thường gặp: thủ tục đạo đức, thu thập số liệu hoặc viết bài.</a:t>
            </a:r>
          </a:p>
          <a:p>
            <a:r>
              <a:rPr lang="en-US" sz="1400" b="0" dirty="0"/>
              <a:t>Thời gian: 3 phút, rồi 3 phút hỏi đáp. Phần 1.1 kết thúc lúc 1:10 (20:40).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(1:10-1:25, 20:40-20:55). Gửi giờ bắt đầu lại vào chat, kèm đường link phiếu bài tập Buổi 1: Bài tập 1 dùng sau giải lao. Bắt đầu lại đúng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1.2 (1:25-2:05, 20:55-21:35).</a:t>
            </a:r>
          </a:p>
          <a:p>
            <a:r>
              <a:rPr lang="en-US" sz="1400" b="0" dirty="0"/>
              <a:t>Một băn khoăn mơ hồ ('dịch truyền có hại không?') phải thành một câu hỏi chính xác trước khi làm bất cứ việc gì khác.</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Sáu nguồn câu hỏi thường gặp, đều từ công việc hằng ngày.</a:t>
            </a:r>
          </a:p>
          <a:p>
            <a:r>
              <a:rPr lang="en-US" sz="1400" b="0" dirty="0"/>
              <a:t>Trước khi gọi một việc là nghiên cứu, hãy kiểm tra câu trả lời đã có chưa. Nếu có rồi, việc cần làm là áp dụng.</a:t>
            </a:r>
          </a:p>
          <a:p>
            <a:r>
              <a:rPr lang="en-US" sz="1400" b="0" dirty="0"/>
              <a:t>Nhắc lại các câu hỏi cả lớp đã gõ vào chat lúc đầu buổi.</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PICO = Population (đối tượng), Intervention (can thiệp), Comparison (so sánh), Outcome (kết cục). T (Time, thời gian) cho biết khi nào đo kết cục.</a:t>
            </a:r>
          </a:p>
          <a:p>
            <a:r>
              <a:rPr lang="en-US" sz="1400" b="0" dirty="0"/>
              <a:t>Mỗi chữ cái buộc mình quyết định: người bệnh nào, hạn chế thế nào, so với gì, kết cục nào và đo lúc nào?</a:t>
            </a:r>
          </a:p>
          <a:p>
            <a:r>
              <a:rPr lang="en-US" sz="1400" b="0" dirty="0"/>
              <a:t>Hỏi: 'Tử vong 28 ngày có phải kết cục hợp lý duy nhất?' Thường gặp: tử vong 90 ngày, tổn thương thận cần lọc máu, cân bằng dịch.</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 ví dụ ở các khoa khác. PECO là PICO với E (Exposure, phơi nhiễm) thay cho I: một yếu tố người bệnh có sẵn, nhà nghiên cứu không chỉ định, như béo phì hay cân bằng dịch dương.</a:t>
            </a:r>
          </a:p>
          <a:p>
            <a:r>
              <a:rPr lang="en-US" sz="1400" b="0" dirty="0"/>
              <a:t>Hàng 3 chỉ cần P và O (và T): hỏi một điều phổ biến đến mức nào.</a:t>
            </a:r>
          </a:p>
          <a:p>
            <a:r>
              <a:rPr lang="en-US" sz="1400" b="0" dirty="0"/>
              <a:t>Hỏi: 'Hãy đặt một câu hỏi PECO về dịch truyền.' Gợi ý: ở người lớn bị nhiễm khuẩn huyết, cân bằng dịch dương đến ngày 3, so với cân bằng trung tính hoặc âm, có liên quan với tử vong đến ngày 28 không? Đây là câu hỏi của Bài báo 2.</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chậm câu hỏi. Cho 1 phút bình chọn. Đáp án: C. D là thời gian (T), A thuộc P, B là I.</a:t>
            </a:r>
          </a:p>
          <a:p>
            <a:r>
              <a:rPr lang="en-US" sz="1400" b="0" dirty="0"/>
              <a:t>Chú ý nếu có người chọn 'sốc nhiễm khuẩn' là kết cục: nó đã xảy ra rồi, nên nó xác định ai đủ tiêu chuẩn.</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Kết cục phải là điều có thể xảy ra sau khi bắt đầu can thiệp.</a:t>
            </a:r>
          </a:p>
          <a:p>
            <a:r>
              <a:rPr lang="en-US" sz="1400" b="0" dirty="0"/>
              <a:t>Kết cục của Bài báo 1 là cân bằng dịch, không phải tử vong, nên bài này không trả lời được câu hỏi tử vong 28 ngày.</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Động từ cho biết loại câu hỏi: 'bao nhiêu' là mô tả, 'có liên quan với' là quan sát, 'có làm giảm' gợi ý thử nghiệm.</a:t>
            </a:r>
          </a:p>
          <a:p>
            <a:r>
              <a:rPr lang="en-US" sz="1400" b="0" dirty="0"/>
              <a:t>Hỏi: 'Bài báo 2 thuộc ô nào?' Đáp án: phân tích, quan sát (thuần tập).</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Bên trái: câu hỏi ngoài hành lang, từ nào cũng chưa rõ. Bên phải: cùng băn khoăn đó, viết theo PICO(T).</a:t>
            </a:r>
          </a:p>
          <a:p>
            <a:r>
              <a:rPr lang="en-US" sz="1400" b="0" dirty="0"/>
              <a:t>Hỏi: 'Hãy làm câu này trả lời được: Albumin có tốt hơn không?' Gợi ý: ở người lớn bị sốc nhiễm khuẩn, albumin kèm dịch tinh thể, so với chỉ dịch tinh thể, có làm giảm tử vong 28 ngày không?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FINER = Feasible (khả thi), Interesting (thú vị), Novel (mới), Ethical (đạo đức), Relevant (phù hợp), theo Hulley, sách Designing Clinical Research.</a:t>
            </a:r>
          </a:p>
          <a:p>
            <a:r>
              <a:rPr lang="en-US" sz="1400" b="0" dirty="0"/>
              <a:t>Khả thi là tiêu chí hay trượt nhất trong nghiên cứu tại bệnh viện: không đủ người bệnh, hoặc kết cục quá hiếm.</a:t>
            </a:r>
          </a:p>
          <a:p>
            <a:r>
              <a:rPr lang="en-US" sz="1400" b="0" dirty="0"/>
              <a:t>Mới không có nghĩa là 'chưa ai nghiên cứu': làm ở bối cảnh mới hoặc với thiết kế tốt hơn vẫn có thể là mới.</a:t>
            </a:r>
          </a:p>
          <a:p>
            <a:r>
              <a:rPr lang="en-US" sz="1400" b="0" dirty="0"/>
              <a:t>Bình chọn (F, I, N, E, R): 'Ví dụ xuyên suốt trượt tiêu chí nào?'</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 màu đỏ: muốn thấy khác biệt vài điểm phần trăm về tử vong cần hơn một nghìn người bệnh. Hai thử nghiệm CLASSIC (2022) và CLOVERS (2023) mỗi thử nghiệm có hơn 1500 người.</a:t>
            </a:r>
          </a:p>
          <a:p>
            <a:r>
              <a:rPr lang="en-US" sz="1400" b="0" dirty="0"/>
              <a:t>N màu vàng: các thử nghiệm lớn đó không thấy khác biệt về tử vong. E màu vàng: xin đồng ý trong sốc nhiễm khuẩn rất khó (Buổi 7).</a:t>
            </a:r>
          </a:p>
          <a:p>
            <a:r>
              <a:rPr lang="en-US" sz="1400" b="0" dirty="0"/>
              <a:t>Cách thu nhỏ: đổi kết cục, làm thử nghiệm thí điểm như Bài báo 1, hoặc đặt câu hỏi mô tả. Slide sau làm đúng việc này.</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Chia sẻ Bài tập 1 còn trống và gõ câu trả lời khi mọi người nói, mỗi chữ cái mời một người.</a:t>
            </a:r>
          </a:p>
          <a:p>
            <a:r>
              <a:rPr lang="en-US" sz="1400" b="0" dirty="0"/>
              <a:t>Đa số lớp chọn A hoặc C. Nếu chia đều, chọn A: đó là thử nghiệm thí điểm Bài báo 1 đã làm, và bài tập nhanh ở phần 1.3 dùng lại nó.</a:t>
            </a:r>
          </a:p>
          <a:p>
            <a:r>
              <a:rPr lang="en-US" sz="1400" b="0" dirty="0"/>
              <a:t>Phiên bản B là câu hỏi PECO (cân bằng dịch là phơi nhiễm). Đó là câu hỏi chính của nghiên cứu FLUID-ICU của khóa học.</a:t>
            </a:r>
          </a:p>
          <a:p>
            <a:r>
              <a:rPr lang="en-US" sz="1400" b="0" dirty="0"/>
              <a:t>Lỗi hay gặp: thiếu nhóm so sánh, kết cục không có mốc thời gian, hai kết cục trong một câu hỏi.</a:t>
            </a:r>
          </a:p>
          <a:p>
            <a:r>
              <a:rPr lang="en-US" sz="1400" b="0" dirty="0"/>
              <a:t>Đáp án mẫu: Course/Solutions/s1_solutions.md, Bài tập 1.</a:t>
            </a:r>
          </a:p>
          <a:p>
            <a:r>
              <a:rPr lang="en-US" sz="1400" b="0" dirty="0"/>
              <a:t>Thời gian: 8 phút làm + 3 phút tổng kết. Phần 1.3 bắt đầu lúc 2:05 (21:35).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1.3 (2:05-2:25, 21:35-21:55).</a:t>
            </a:r>
          </a:p>
          <a:p>
            <a:r>
              <a:rPr lang="en-US" sz="1400" b="0" dirty="0"/>
              <a:t>Mục tiêu tổng quát (aim), mục tiêu cụ thể (objectives) và giả thuyết là câu hỏi viết thành kế hoạch. Hội đồng đạo đức đọc phần này đầu tiên.</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Mục tiêu tổng quát là mục đích chung ('So sánh...', 'Mô tả...'). Mục tiêu cụ thể là các bước cụ thể, đo được.</a:t>
            </a:r>
          </a:p>
          <a:p>
            <a:r>
              <a:rPr lang="en-US" sz="1400" b="0" dirty="0"/>
              <a:t>Đánh dấu mục tiêu chính: nó quyết định cỡ mẫu (Buổi 6).</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'Tìm hiểu' thì không bao giờ xong và không kiểm tra được. 'So sánh cân bằng dịch ngày 5' nêu rõ kết cục, thời điểm và phép so sánh.</a:t>
            </a:r>
          </a:p>
          <a:p>
            <a:r>
              <a:rPr lang="en-US" sz="1400" b="0" dirty="0"/>
              <a:t>Hỏi: 'Viết lại: nghiên cứu về cân bằng dịch tại ICU của mình.' Gợi ý: ước tính tỷ lệ người lớn bị sốc nhiễm khuẩn tại ICU của mình có cân bằng dịch dương ở ngày 3.</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H0, giả thuyết không (null hypothesis): không có khác biệt. H1, giả thuyết đối (alternative hypothesis): có khác biệt, theo chiều nào cũng được.</a:t>
            </a:r>
          </a:p>
          <a:p>
            <a:r>
              <a:rPr lang="en-US" sz="1400" b="0" dirty="0"/>
              <a:t>So sánh: tòa án coi bị cáo 'không có tội' (H0) cho đến khi bằng chứng đủ mạnh. 'Không đủ bằng chứng buộc tội' không có nghĩa là 'vô tội'.</a:t>
            </a:r>
          </a:p>
          <a:p>
            <a:r>
              <a:rPr lang="en-US" sz="1400" b="0" dirty="0"/>
              <a:t>Câu hỏi thuần mô tả (phiên bản C) chỉ ước tính một con số, không cần giả thuyết.</a:t>
            </a:r>
          </a:p>
          <a:p>
            <a:r>
              <a:rPr lang="en-US" sz="1400" b="0" dirty="0"/>
              <a:t>Thời gian: 3 phút. Giá trị p học ở Buổi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5 phút tự viết, rồi 2 phút để hai ba người đọc mục tiêu chính của mình.</a:t>
            </a:r>
          </a:p>
          <a:p>
            <a:r>
              <a:rPr lang="en-US" sz="1400" b="0" dirty="0"/>
              <a:t>Chú ý: động từ mơ hồ, thiếu mốc thời gian, hoặc giả thuyết về một kết cục không có trong mục tiêu.</a:t>
            </a:r>
          </a:p>
          <a:p>
            <a:r>
              <a:rPr lang="en-US" sz="1400" b="0" dirty="0"/>
              <a:t>Thời gian: 7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chuỗi: O của câu hỏi = mục tiêu chính = kết cục trong H0 và H1. Người phản biện thấy ngay nếu chuỗi này bị đứt.</a:t>
            </a:r>
          </a:p>
          <a:p>
            <a:r>
              <a:rPr lang="en-US" sz="1400" b="0" dirty="0"/>
              <a:t>Đáp án mẫu: Course/Solutions/s1_solutions.md (Bài tập 2).</a:t>
            </a:r>
          </a:p>
          <a:p>
            <a:r>
              <a:rPr lang="en-US" sz="1400" b="0" dirty="0"/>
              <a:t>Thời gian: 3 phút. Phần 1.3 kết thúc lúc 2:25 (21:55).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1 (2:25-2:55, 21:55-22:25). Mỗi người viết đề cương của riêng mình.</a:t>
            </a:r>
          </a:p>
          <a:p>
            <a:r>
              <a:rPr lang="en-US" sz="1400" b="0" dirty="0"/>
              <a:t>Chuyển ngay sang slide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Phút 0-8: chia sẻ Course/Templates/Research_Proposal_Template.docx và điền Phần 1 cho phiên bản A, vừa làm vừa nói lý do.</a:t>
            </a:r>
          </a:p>
          <a:p>
            <a:r>
              <a:rPr lang="en-US" sz="1400" b="0" dirty="0"/>
              <a:t>Phút 8-25: mỗi người tự viết. Có thể tắt camera. Giảng viên trả lời câu hỏi trong chat.</a:t>
            </a:r>
          </a:p>
          <a:p>
            <a:r>
              <a:rPr lang="en-US" sz="1400" b="0" dirty="0"/>
              <a:t>Chưa có chủ đề? Xem lại các câu hỏi trong chat lúc chào mừng, hoặc tạm dùng phiên bản A hay C.</a:t>
            </a:r>
          </a:p>
          <a:p>
            <a:r>
              <a:rPr lang="en-US" sz="1400" b="0" dirty="0"/>
              <a:t>Phút 25-30: hai bạn tình nguyện đọc câu hỏi và mục tiêu. Mỗi người khác góp một ý cải thiện.</a:t>
            </a:r>
          </a:p>
          <a:p>
            <a:r>
              <a:rPr lang="en-US" sz="1400" b="0" dirty="0"/>
              <a:t>Thời gian: 30 phút. Tổng kết bắt đầu lúc 2:55 (22:25).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kết (2:55-3:00, 22:25-22:30). Đọc nhanh sáu từ khóa. Chúng có trong bảng thuật ngữ Anh-Việt của khóa học.</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Thứ Bảy tuần sau (Buổi 2): tìm trực tiếp trên PubMed, quản lý tài liệu bằng Zotero và đọc một bài báo trong 15 phút.</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Không chấm điểm. Đáp án: Câu 1 Khả thi: tử vong cần hơn một nghìn người bệnh. Câu 2 ví dụ: 'Ước tính tỷ lệ người lớn bị sốc nhiễm khuẩn tại ICU của mình có cân bằng dịch dương ở ngày 3'.</a:t>
            </a:r>
          </a:p>
          <a:p>
            <a:r>
              <a:rPr lang="en-US" sz="1400" b="0" dirty="0"/>
              <a:t>Lưu khung chat và đọc câu trả lời trong tuần. Nếu nhiều người vẫn dùng động từ mơ hồ, mở đầu Buổi 2 bằng một phút về mục tiêu.</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Khoảng 45 phút trong tuần. Từ đồng nghĩa giúp tìm kiếm nhanh hơn, vì PubMed tìm bằng tiếng Anh.</a:t>
            </a:r>
          </a:p>
          <a:p>
            <a:r>
              <a:rPr lang="en-US" sz="1400" b="0" dirty="0"/>
              <a:t>Buổi 2 cần Zotero: bản desktop, Zotero Connector cho trình duyệt và plug-in Word (zotero.org/download). Ai gặp khó khăn hãy email giảng viên trước thứ Sáu.</a:t>
            </a:r>
          </a:p>
          <a:p>
            <a:r>
              <a:rPr lang="en-US" sz="1400" b="0" dirty="0"/>
              <a:t>Kết thúc đúng giờ. 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bổ sung (Buổi 1). Tùy chọn: dùng nếu lớp đi nhanh, hoặc giới thiệu để học viên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bổ sung, dùng khi học viên hỏi dự án của mình có cần phê duyệt đạo đức không.</a:t>
            </a:r>
          </a:p>
          <a:p>
            <a:r>
              <a:rPr lang="en-US" sz="1400" b="0" dirty="0"/>
              <a:t>Audit so sánh thực hành với một tiêu chuẩn đã thống nhất. Cải tiến chất lượng (QI) thay đổi quy trình của khoa qua từng vòng nhỏ Lập kế hoạch, Thực hiện, Kiểm tra, Hành động (PDSA). Nếu dự án phân bổ ngẫu nhiên, thêm rủi ro mới hoặc thu thập dữ liệu ngoài chăm sóc thường quy, đó là nghiên cứu.</a:t>
            </a:r>
          </a:p>
          <a:p>
            <a:r>
              <a:rPr lang="en-US" sz="1400" b="0" dirty="0"/>
              <a:t>Quy định mỗi nơi một khác: xem quy định của cơ sở. Phê duyệt đạo đức học ở Buổi 7.</a:t>
            </a:r>
          </a:p>
          <a:p>
            <a:r>
              <a:rPr lang="en-US" sz="1400" b="0" dirty="0"/>
              <a:t>Thời gian: 3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dự phòng cho 'Ba ví dụ khác: PICO, PECO và P + O' (theo đề nghị của người phản biện).</a:t>
            </a:r>
          </a:p>
          <a:p>
            <a:r>
              <a:rPr lang="en-US" sz="1400" b="0" dirty="0"/>
              <a:t>Dùng như một bài tập ngắn: học viên viết mỗi dòng một câu hỏi vào chat, hoặc giảng viên gọi hai hoặc ba người (bật micro). Sau đó chiếu slide này.</a:t>
            </a:r>
          </a:p>
          <a:p>
            <a:r>
              <a:rPr lang="en-US" sz="1400" b="0" dirty="0"/>
              <a:t>Nhấn mạnh: câu hỏi điều trị dùng 'làm giảm' vì bảng kiểm được chủ động áp dụng. Câu hỏi PECO dùng 'có liên quan' vì béo phì không được chỉ định. Câu hỏi 'bao nhiêu' không có phép so sánh.</a:t>
            </a:r>
          </a:p>
          <a:p>
            <a:r>
              <a:rPr lang="en-US" sz="1400" b="0" dirty="0"/>
              <a:t>Thời gian: 5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bổ sung. Chẩn đoán: xét nghiệm mới là I, tiêu chuẩn tham chiếu là C, kết cục là độ chính xác (Buổi 4).</a:t>
            </a:r>
          </a:p>
          <a:p>
            <a:r>
              <a:rPr lang="en-US" sz="1400" b="0" dirty="0"/>
              <a:t>Tiên lượng: PECO cộng mốc thời gian. Câu hỏi định tính thường dùng SPIDER (Cooke và cộng sự, 2012).</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bổ sung. Đáp án: 1 Khả thi (quá lớn, quá dài). 2 Đạo đức (hoãn kháng sinh gây hại). 3 Mới (tháng nào cũng đã đo). 4 Phù hợp (không có tác động hợp lý tới thực hành).</a:t>
            </a:r>
          </a:p>
          <a:p>
            <a:r>
              <a:rPr lang="en-US" sz="1400" b="0" dirty="0"/>
              <a:t>Thời gian: 4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bổ sung. Đây là câu hỏi PECO (quan sát): khó phân bổ ngẫu nhiên điều dưỡng vào ca đêm.</a:t>
            </a:r>
          </a:p>
          <a:p>
            <a:r>
              <a:rPr lang="en-US" sz="1400" b="0" dirty="0"/>
              <a:t>Thời gian: 3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2.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Arial"/>
                <a:cs typeface="Arial"/>
              </a:rPr>
              <a:t>Nền tảng Nghiên cứu Lâm sàng</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Arial"/>
                <a:cs typeface="Arial"/>
              </a:rPr>
              <a:t>Cấp độ 1: Từ câu hỏi lâm sàng đến công bố</a:t>
            </a:r>
          </a:p>
          <a:p>
            <a:pPr marL="0" indent="0" algn="ctr">
              <a:spcBef>
                <a:spcPts val="440"/>
              </a:spcBef>
              <a:buNone/>
            </a:pPr>
            <a:r>
              <a:rPr lang="en-US" sz="2000" dirty="0">
                <a:solidFill>
                  <a:srgbClr val="000000"/>
                </a:solidFill>
                <a:latin typeface="Arial"/>
                <a:cs typeface="Arial"/>
              </a:rPr>
              <a:t>8 tối thứ Bảy trực tuyến, 19:30 đến 22:30, 24 giờ học</a:t>
            </a:r>
          </a:p>
          <a:p>
            <a:pPr marL="0" indent="0" algn="ctr">
              <a:spcBef>
                <a:spcPts val="440"/>
              </a:spcBef>
              <a:buNone/>
            </a:pPr>
            <a:r>
              <a:rPr lang="en-US" sz="2000" dirty="0">
                <a:solidFill>
                  <a:srgbClr val="000000"/>
                </a:solidFill>
                <a:latin typeface="Arial"/>
                <a:cs typeface="Arial"/>
              </a:rPr>
              <a:t>Giảng viên: Vương Mỹ Lượng &amp; Bernard Osang'ir</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Arial"/>
                <a:cs typeface="Arial"/>
              </a:rPr>
              <a:t>Ngày: 31/10/2026</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Mỗi ngày bạn đưa ra những quyết định mà nghiên cứu có thể giúp tốt hơn.</a:t>
            </a:r>
          </a:p>
          <a:p>
            <a:pPr marL="0" indent="0" algn="ctr">
              <a:spcBef>
                <a:spcPts val="1200"/>
              </a:spcBef>
              <a:buNone/>
            </a:pPr>
            <a:r>
              <a:rPr lang="en-US" sz="1900" i="1" dirty="0">
                <a:solidFill>
                  <a:srgbClr val="595959"/>
                </a:solidFill>
                <a:latin typeface="Arial"/>
                <a:cs typeface="Arial"/>
              </a:rPr>
              <a:t>Khóa học giúp bạn đặt câu hỏi đúng cách, trả lời và công bố câu trả lời.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Tám thứ Bảy, tám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cxnSp>
        <p:nvCxnSpPr>
          <p:cNvPr id="100" name="Line"/>
          <p:cNvCxnSpPr/>
          <p:nvPr/>
        </p:nvCxnSpPr>
        <p:spPr>
          <a:xfrm>
            <a:off x="1203960" y="3509280"/>
            <a:ext cx="9144000" cy="0"/>
          </a:xfrm>
          <a:prstGeom prst="straightConnector1">
            <a:avLst/>
          </a:prstGeom>
          <a:ln w="127000" cap="rnd">
            <a:solidFill>
              <a:srgbClr val="D5DDE1"/>
            </a:solidFill>
            <a:round/>
          </a:ln>
        </p:spPr>
      </p:cxnSp>
      <p:sp>
        <p:nvSpPr>
          <p:cNvPr id="101" name="Text"/>
          <p:cNvSpPr/>
          <p:nvPr/>
        </p:nvSpPr>
        <p:spPr>
          <a:xfrm>
            <a:off x="65532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D7377"/>
                </a:solidFill>
                <a:latin typeface="Arial"/>
                <a:cs typeface="Arial"/>
              </a:rPr>
              <a:t>Tuần 1-2</a:t>
            </a:r>
          </a:p>
          <a:p>
            <a:pPr marL="0" indent="0" algn="ctr">
              <a:lnSpc>
                <a:spcPct val="100000"/>
              </a:lnSpc>
              <a:spcBef>
                <a:spcPts val="300"/>
              </a:spcBef>
              <a:buNone/>
            </a:pPr>
            <a:r>
              <a:rPr lang="en-US" sz="1400" dirty="0">
                <a:solidFill>
                  <a:srgbClr val="595959"/>
                </a:solidFill>
                <a:latin typeface="Arial"/>
                <a:cs typeface="Arial"/>
              </a:rPr>
              <a:t>Câu hỏi và bằng chứng</a:t>
            </a:r>
          </a:p>
        </p:txBody>
      </p:sp>
      <p:sp>
        <p:nvSpPr>
          <p:cNvPr id="102" name="Box"/>
          <p:cNvSpPr/>
          <p:nvPr/>
        </p:nvSpPr>
        <p:spPr>
          <a:xfrm>
            <a:off x="701040" y="2695464"/>
            <a:ext cx="2194560" cy="64008"/>
          </a:xfrm>
          <a:prstGeom prst="roundRect">
            <a:avLst>
              <a:gd name="adj" fmla="val 50000"/>
            </a:avLst>
          </a:prstGeom>
          <a:solidFill>
            <a:srgbClr val="0D7377"/>
          </a:solidFill>
          <a:ln>
            <a:noFill/>
          </a:ln>
        </p:spPr>
        <p:txBody>
          <a:bodyPr wrap="square" lIns="54864" tIns="54864" rIns="54864" bIns="54864" rtlCol="0" anchor="ctr">
            <a:noAutofit/>
          </a:bodyPr>
          <a:lstStyle/>
          <a:p>
            <a:endParaRPr lang="en-US"/>
          </a:p>
        </p:txBody>
      </p:sp>
      <p:sp>
        <p:nvSpPr>
          <p:cNvPr id="103" name="Text"/>
          <p:cNvSpPr/>
          <p:nvPr/>
        </p:nvSpPr>
        <p:spPr>
          <a:xfrm>
            <a:off x="303276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B376C"/>
                </a:solidFill>
                <a:latin typeface="Arial"/>
                <a:cs typeface="Arial"/>
              </a:rPr>
              <a:t>Tuần 3-4</a:t>
            </a:r>
          </a:p>
          <a:p>
            <a:pPr marL="0" indent="0" algn="ctr">
              <a:lnSpc>
                <a:spcPct val="100000"/>
              </a:lnSpc>
              <a:spcBef>
                <a:spcPts val="300"/>
              </a:spcBef>
              <a:buNone/>
            </a:pPr>
            <a:r>
              <a:rPr lang="en-US" sz="1400" dirty="0">
                <a:solidFill>
                  <a:srgbClr val="595959"/>
                </a:solidFill>
                <a:latin typeface="Arial"/>
                <a:cs typeface="Arial"/>
              </a:rPr>
              <a:t>Thiết kế và sai lệch</a:t>
            </a:r>
          </a:p>
        </p:txBody>
      </p:sp>
      <p:sp>
        <p:nvSpPr>
          <p:cNvPr id="104" name="Box"/>
          <p:cNvSpPr/>
          <p:nvPr/>
        </p:nvSpPr>
        <p:spPr>
          <a:xfrm>
            <a:off x="3078480" y="2695464"/>
            <a:ext cx="2194560" cy="64008"/>
          </a:xfrm>
          <a:prstGeom prst="roundRect">
            <a:avLst>
              <a:gd name="adj" fmla="val 50000"/>
            </a:avLst>
          </a:prstGeom>
          <a:solidFill>
            <a:srgbClr val="0B376C"/>
          </a:solidFill>
          <a:ln>
            <a:noFill/>
          </a:ln>
        </p:spPr>
        <p:txBody>
          <a:bodyPr wrap="square" lIns="54864" tIns="54864" rIns="54864" bIns="54864" rtlCol="0" anchor="ctr">
            <a:noAutofit/>
          </a:bodyPr>
          <a:lstStyle/>
          <a:p>
            <a:endParaRPr lang="en-US"/>
          </a:p>
        </p:txBody>
      </p:sp>
      <p:sp>
        <p:nvSpPr>
          <p:cNvPr id="105" name="Text"/>
          <p:cNvSpPr/>
          <p:nvPr/>
        </p:nvSpPr>
        <p:spPr>
          <a:xfrm>
            <a:off x="541020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5FA39B"/>
                </a:solidFill>
                <a:latin typeface="Arial"/>
                <a:cs typeface="Arial"/>
              </a:rPr>
              <a:t>Tuần 5-6</a:t>
            </a:r>
          </a:p>
          <a:p>
            <a:pPr marL="0" indent="0" algn="ctr">
              <a:lnSpc>
                <a:spcPct val="100000"/>
              </a:lnSpc>
              <a:spcBef>
                <a:spcPts val="300"/>
              </a:spcBef>
              <a:buNone/>
            </a:pPr>
            <a:r>
              <a:rPr lang="en-US" sz="1400" dirty="0">
                <a:solidFill>
                  <a:srgbClr val="595959"/>
                </a:solidFill>
                <a:latin typeface="Arial"/>
                <a:cs typeface="Arial"/>
              </a:rPr>
              <a:t>Dữ liệu và phân tích</a:t>
            </a:r>
          </a:p>
        </p:txBody>
      </p:sp>
      <p:sp>
        <p:nvSpPr>
          <p:cNvPr id="106" name="Box"/>
          <p:cNvSpPr/>
          <p:nvPr/>
        </p:nvSpPr>
        <p:spPr>
          <a:xfrm>
            <a:off x="5455920" y="2695464"/>
            <a:ext cx="2194560" cy="64008"/>
          </a:xfrm>
          <a:prstGeom prst="roundRect">
            <a:avLst>
              <a:gd name="adj" fmla="val 50000"/>
            </a:avLst>
          </a:prstGeom>
          <a:solidFill>
            <a:srgbClr val="5FA39B"/>
          </a:solidFill>
          <a:ln>
            <a:noFill/>
          </a:ln>
        </p:spPr>
        <p:txBody>
          <a:bodyPr wrap="square" lIns="54864" tIns="54864" rIns="54864" bIns="54864" rtlCol="0" anchor="ctr">
            <a:noAutofit/>
          </a:bodyPr>
          <a:lstStyle/>
          <a:p>
            <a:endParaRPr lang="en-US"/>
          </a:p>
        </p:txBody>
      </p:sp>
      <p:sp>
        <p:nvSpPr>
          <p:cNvPr id="107" name="Text"/>
          <p:cNvSpPr/>
          <p:nvPr/>
        </p:nvSpPr>
        <p:spPr>
          <a:xfrm>
            <a:off x="778764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070C0"/>
                </a:solidFill>
                <a:latin typeface="Arial"/>
                <a:cs typeface="Arial"/>
              </a:rPr>
              <a:t>Tuần 7-8</a:t>
            </a:r>
          </a:p>
          <a:p>
            <a:pPr marL="0" indent="0" algn="ctr">
              <a:lnSpc>
                <a:spcPct val="100000"/>
              </a:lnSpc>
              <a:spcBef>
                <a:spcPts val="300"/>
              </a:spcBef>
              <a:buNone/>
            </a:pPr>
            <a:r>
              <a:rPr lang="en-US" sz="1400" dirty="0">
                <a:solidFill>
                  <a:srgbClr val="595959"/>
                </a:solidFill>
                <a:latin typeface="Arial"/>
                <a:cs typeface="Arial"/>
              </a:rPr>
              <a:t>Đạo đức, viết, công bố</a:t>
            </a:r>
          </a:p>
        </p:txBody>
      </p:sp>
      <p:sp>
        <p:nvSpPr>
          <p:cNvPr id="108" name="Box"/>
          <p:cNvSpPr/>
          <p:nvPr/>
        </p:nvSpPr>
        <p:spPr>
          <a:xfrm>
            <a:off x="7833360" y="2695464"/>
            <a:ext cx="2194560" cy="64008"/>
          </a:xfrm>
          <a:prstGeom prst="roundRect">
            <a:avLst>
              <a:gd name="adj" fmla="val 50000"/>
            </a:avLst>
          </a:prstGeom>
          <a:solidFill>
            <a:srgbClr val="0070C0"/>
          </a:solidFill>
          <a:ln>
            <a:noFill/>
          </a:ln>
        </p:spPr>
        <p:txBody>
          <a:bodyPr wrap="square" lIns="54864" tIns="54864" rIns="54864" bIns="54864" rtlCol="0" anchor="ctr">
            <a:noAutofit/>
          </a:bodyPr>
          <a:lstStyle/>
          <a:p>
            <a:endParaRPr lang="en-US"/>
          </a:p>
        </p:txBody>
      </p:sp>
      <p:sp>
        <p:nvSpPr>
          <p:cNvPr id="109" name="Ellipse"/>
          <p:cNvSpPr/>
          <p:nvPr/>
        </p:nvSpPr>
        <p:spPr>
          <a:xfrm>
            <a:off x="746760" y="3052080"/>
            <a:ext cx="914400" cy="914400"/>
          </a:xfrm>
          <a:prstGeom prst="ellipse">
            <a:avLst/>
          </a:prstGeom>
          <a:solidFill>
            <a:srgbClr val="0D7377"/>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1</a:t>
            </a:r>
          </a:p>
        </p:txBody>
      </p:sp>
      <p:sp>
        <p:nvSpPr>
          <p:cNvPr id="110" name="Text"/>
          <p:cNvSpPr/>
          <p:nvPr/>
        </p:nvSpPr>
        <p:spPr>
          <a:xfrm>
            <a:off x="60960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D7377"/>
                </a:solidFill>
                <a:latin typeface="Arial"/>
                <a:cs typeface="Arial"/>
              </a:rPr>
              <a:t>Hỏi</a:t>
            </a:r>
          </a:p>
        </p:txBody>
      </p:sp>
      <p:sp>
        <p:nvSpPr>
          <p:cNvPr id="111" name="Ellipse"/>
          <p:cNvSpPr/>
          <p:nvPr/>
        </p:nvSpPr>
        <p:spPr>
          <a:xfrm>
            <a:off x="1935480" y="3052080"/>
            <a:ext cx="914400" cy="914400"/>
          </a:xfrm>
          <a:prstGeom prst="ellipse">
            <a:avLst/>
          </a:prstGeom>
          <a:solidFill>
            <a:srgbClr val="0D7377"/>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2</a:t>
            </a:r>
          </a:p>
        </p:txBody>
      </p:sp>
      <p:sp>
        <p:nvSpPr>
          <p:cNvPr id="112" name="Text"/>
          <p:cNvSpPr/>
          <p:nvPr/>
        </p:nvSpPr>
        <p:spPr>
          <a:xfrm>
            <a:off x="179832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D7377"/>
                </a:solidFill>
                <a:latin typeface="Arial"/>
                <a:cs typeface="Arial"/>
              </a:rPr>
              <a:t>Tìm và đọc</a:t>
            </a:r>
          </a:p>
        </p:txBody>
      </p:sp>
      <p:sp>
        <p:nvSpPr>
          <p:cNvPr id="113" name="Ellipse"/>
          <p:cNvSpPr/>
          <p:nvPr/>
        </p:nvSpPr>
        <p:spPr>
          <a:xfrm>
            <a:off x="3124200" y="3052080"/>
            <a:ext cx="914400" cy="914400"/>
          </a:xfrm>
          <a:prstGeom prst="ellipse">
            <a:avLst/>
          </a:prstGeom>
          <a:solidFill>
            <a:srgbClr val="0B376C"/>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3</a:t>
            </a:r>
          </a:p>
        </p:txBody>
      </p:sp>
      <p:sp>
        <p:nvSpPr>
          <p:cNvPr id="114" name="Text"/>
          <p:cNvSpPr/>
          <p:nvPr/>
        </p:nvSpPr>
        <p:spPr>
          <a:xfrm>
            <a:off x="298704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B376C"/>
                </a:solidFill>
                <a:latin typeface="Arial"/>
                <a:cs typeface="Arial"/>
              </a:rPr>
              <a:t>Thiết kế</a:t>
            </a:r>
          </a:p>
        </p:txBody>
      </p:sp>
      <p:sp>
        <p:nvSpPr>
          <p:cNvPr id="115" name="Ellipse"/>
          <p:cNvSpPr/>
          <p:nvPr/>
        </p:nvSpPr>
        <p:spPr>
          <a:xfrm>
            <a:off x="4312920" y="3052080"/>
            <a:ext cx="914400" cy="914400"/>
          </a:xfrm>
          <a:prstGeom prst="ellipse">
            <a:avLst/>
          </a:prstGeom>
          <a:solidFill>
            <a:srgbClr val="0B376C"/>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4</a:t>
            </a:r>
          </a:p>
        </p:txBody>
      </p:sp>
      <p:sp>
        <p:nvSpPr>
          <p:cNvPr id="116" name="Text"/>
          <p:cNvSpPr/>
          <p:nvPr/>
        </p:nvSpPr>
        <p:spPr>
          <a:xfrm>
            <a:off x="417576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B376C"/>
                </a:solidFill>
                <a:latin typeface="Arial"/>
                <a:cs typeface="Arial"/>
              </a:rPr>
              <a:t>Sai lệch và tác động</a:t>
            </a:r>
          </a:p>
        </p:txBody>
      </p:sp>
      <p:sp>
        <p:nvSpPr>
          <p:cNvPr id="117" name="Ellipse"/>
          <p:cNvSpPr/>
          <p:nvPr/>
        </p:nvSpPr>
        <p:spPr>
          <a:xfrm>
            <a:off x="5501640" y="3052080"/>
            <a:ext cx="914400" cy="914400"/>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5</a:t>
            </a:r>
          </a:p>
        </p:txBody>
      </p:sp>
      <p:sp>
        <p:nvSpPr>
          <p:cNvPr id="118" name="Text"/>
          <p:cNvSpPr/>
          <p:nvPr/>
        </p:nvSpPr>
        <p:spPr>
          <a:xfrm>
            <a:off x="536448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5FA39B"/>
                </a:solidFill>
                <a:latin typeface="Arial"/>
                <a:cs typeface="Arial"/>
              </a:rPr>
              <a:t>Dữ liệu</a:t>
            </a:r>
          </a:p>
        </p:txBody>
      </p:sp>
      <p:sp>
        <p:nvSpPr>
          <p:cNvPr id="119" name="Ellipse"/>
          <p:cNvSpPr/>
          <p:nvPr/>
        </p:nvSpPr>
        <p:spPr>
          <a:xfrm>
            <a:off x="6690360" y="3052080"/>
            <a:ext cx="914400" cy="914400"/>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6</a:t>
            </a:r>
          </a:p>
        </p:txBody>
      </p:sp>
      <p:sp>
        <p:nvSpPr>
          <p:cNvPr id="120" name="Text"/>
          <p:cNvSpPr/>
          <p:nvPr/>
        </p:nvSpPr>
        <p:spPr>
          <a:xfrm>
            <a:off x="655320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5FA39B"/>
                </a:solidFill>
                <a:latin typeface="Arial"/>
                <a:cs typeface="Arial"/>
              </a:rPr>
              <a:t>Phân tích</a:t>
            </a:r>
          </a:p>
        </p:txBody>
      </p:sp>
      <p:sp>
        <p:nvSpPr>
          <p:cNvPr id="121" name="Ellipse"/>
          <p:cNvSpPr/>
          <p:nvPr/>
        </p:nvSpPr>
        <p:spPr>
          <a:xfrm>
            <a:off x="7879080" y="3052080"/>
            <a:ext cx="914400" cy="914400"/>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7</a:t>
            </a:r>
          </a:p>
        </p:txBody>
      </p:sp>
      <p:sp>
        <p:nvSpPr>
          <p:cNvPr id="122" name="Text"/>
          <p:cNvSpPr/>
          <p:nvPr/>
        </p:nvSpPr>
        <p:spPr>
          <a:xfrm>
            <a:off x="774192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070C0"/>
                </a:solidFill>
                <a:latin typeface="Arial"/>
                <a:cs typeface="Arial"/>
              </a:rPr>
              <a:t>Bảo vệ và viết</a:t>
            </a:r>
          </a:p>
        </p:txBody>
      </p:sp>
      <p:sp>
        <p:nvSpPr>
          <p:cNvPr id="123" name="Ellipse"/>
          <p:cNvSpPr/>
          <p:nvPr/>
        </p:nvSpPr>
        <p:spPr>
          <a:xfrm>
            <a:off x="9067800" y="3052080"/>
            <a:ext cx="914400" cy="914400"/>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8</a:t>
            </a:r>
          </a:p>
        </p:txBody>
      </p:sp>
      <p:sp>
        <p:nvSpPr>
          <p:cNvPr id="124" name="Text"/>
          <p:cNvSpPr/>
          <p:nvPr/>
        </p:nvSpPr>
        <p:spPr>
          <a:xfrm>
            <a:off x="893064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070C0"/>
                </a:solidFill>
                <a:latin typeface="Arial"/>
                <a:cs typeface="Arial"/>
              </a:rPr>
              <a:t>Công bố</a:t>
            </a:r>
          </a:p>
        </p:txBody>
      </p:sp>
      <p:sp>
        <p:nvSpPr>
          <p:cNvPr id="125" name="Box"/>
          <p:cNvSpPr/>
          <p:nvPr/>
        </p:nvSpPr>
        <p:spPr>
          <a:xfrm>
            <a:off x="10302240" y="2777760"/>
            <a:ext cx="1371600" cy="1463040"/>
          </a:xfrm>
          <a:prstGeom prst="roundRect">
            <a:avLst>
              <a:gd name="adj" fmla="val 12000"/>
            </a:avLst>
          </a:prstGeom>
          <a:solidFill>
            <a:srgbClr val="055F56"/>
          </a:solidFill>
          <a:ln>
            <a:noFill/>
          </a:ln>
        </p:spPr>
        <p:txBody>
          <a:bodyPr wrap="square" lIns="54864" tIns="54864" rIns="54864" bIns="54864" rtlCol="0" anchor="ctr">
            <a:noAutofit/>
          </a:bodyPr>
          <a:lstStyle/>
          <a:p>
            <a:pPr marL="0" indent="0" algn="ctr">
              <a:lnSpc>
                <a:spcPct val="100000"/>
              </a:lnSpc>
              <a:buNone/>
            </a:pPr>
            <a:r>
              <a:rPr lang="en-US" sz="1500" b="1" dirty="0">
                <a:solidFill>
                  <a:srgbClr val="FFFFFF"/>
                </a:solidFill>
                <a:latin typeface="Arial"/>
                <a:cs typeface="Arial"/>
              </a:rPr>
              <a:t>Đề cương</a:t>
            </a:r>
          </a:p>
          <a:p>
            <a:pPr marL="0" indent="0" algn="ctr">
              <a:lnSpc>
                <a:spcPct val="100000"/>
              </a:lnSpc>
              <a:spcBef>
                <a:spcPts val="100"/>
              </a:spcBef>
              <a:buNone/>
            </a:pPr>
            <a:r>
              <a:rPr lang="en-US" sz="1500" b="1" dirty="0">
                <a:solidFill>
                  <a:srgbClr val="FFFFFF"/>
                </a:solidFill>
                <a:latin typeface="Arial"/>
                <a:cs typeface="Arial"/>
              </a:rPr>
              <a:t>+</a:t>
            </a:r>
          </a:p>
          <a:p>
            <a:pPr marL="0" indent="0" algn="ctr">
              <a:lnSpc>
                <a:spcPct val="100000"/>
              </a:lnSpc>
              <a:spcBef>
                <a:spcPts val="100"/>
              </a:spcBef>
              <a:buNone/>
            </a:pPr>
            <a:r>
              <a:rPr lang="en-US" sz="1500" b="1" dirty="0">
                <a:solidFill>
                  <a:srgbClr val="FFFFFF"/>
                </a:solidFill>
                <a:latin typeface="Arial"/>
                <a:cs typeface="Arial"/>
              </a:rPr>
              <a:t>bản thảo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Khóa học này là Cấp độ 1 trong ba cấp độ</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Cấp độ 1  (khóa học này)</a:t>
            </a:r>
          </a:p>
        </p:txBody>
      </p:sp>
      <p:sp>
        <p:nvSpPr>
          <p:cNvPr id="71" name="CardBody"/>
          <p:cNvSpPr/>
          <p:nvPr/>
        </p:nvSpPr>
        <p:spPr>
          <a:xfrm>
            <a:off x="457200"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Từ câu hỏi đến công bố</a:t>
            </a:r>
          </a:p>
          <a:p>
            <a:pPr marL="0" indent="0" algn="ctr">
              <a:lnSpc>
                <a:spcPct val="104000"/>
              </a:lnSpc>
              <a:spcBef>
                <a:spcPts val="400"/>
              </a:spcBef>
              <a:buNone/>
            </a:pPr>
            <a:r>
              <a:rPr lang="en-US" sz="1750" dirty="0">
                <a:solidFill>
                  <a:srgbClr val="000000"/>
                </a:solidFill>
                <a:latin typeface="Arial"/>
                <a:cs typeface="Arial"/>
              </a:rPr>
              <a:t>Hỏi, thiết kế, phân tích, viết và công bố</a:t>
            </a:r>
          </a:p>
        </p:txBody>
      </p:sp>
      <p:sp>
        <p:nvSpPr>
          <p:cNvPr id="72" name="CardHead"/>
          <p:cNvSpPr/>
          <p:nvPr/>
        </p:nvSpPr>
        <p:spPr>
          <a:xfrm>
            <a:off x="4283066" y="191666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Cấp độ 2  (thực hành)</a:t>
            </a:r>
          </a:p>
        </p:txBody>
      </p:sp>
      <p:sp>
        <p:nvSpPr>
          <p:cNvPr id="73" name="CardBody"/>
          <p:cNvSpPr/>
          <p:nvPr/>
        </p:nvSpPr>
        <p:spPr>
          <a:xfrm>
            <a:off x="4283066"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Mô hình thống kê bằng R</a:t>
            </a:r>
          </a:p>
          <a:p>
            <a:pPr marL="0" indent="0" algn="ctr">
              <a:lnSpc>
                <a:spcPct val="104000"/>
              </a:lnSpc>
              <a:spcBef>
                <a:spcPts val="400"/>
              </a:spcBef>
              <a:buNone/>
            </a:pPr>
            <a:r>
              <a:rPr lang="en-US" sz="1750" dirty="0">
                <a:solidFill>
                  <a:srgbClr val="000000"/>
                </a:solidFill>
                <a:latin typeface="Arial"/>
                <a:cs typeface="Arial"/>
              </a:rPr>
              <a:t>Bạn tự chạy phân tích</a:t>
            </a:r>
          </a:p>
        </p:txBody>
      </p:sp>
      <p:sp>
        <p:nvSpPr>
          <p:cNvPr id="74" name="CardHead"/>
          <p:cNvSpPr/>
          <p:nvPr/>
        </p:nvSpPr>
        <p:spPr>
          <a:xfrm>
            <a:off x="8108932" y="1916666"/>
            <a:ext cx="3625866" cy="640000"/>
          </a:xfrm>
          <a:prstGeom prst="rect">
            <a:avLst/>
          </a:prstGeom>
          <a:solidFill>
            <a:srgbClr val="04242F"/>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Cấp độ 3  (nâng cao)</a:t>
            </a:r>
          </a:p>
        </p:txBody>
      </p:sp>
      <p:sp>
        <p:nvSpPr>
          <p:cNvPr id="75" name="CardBody"/>
          <p:cNvSpPr/>
          <p:nvPr/>
        </p:nvSpPr>
        <p:spPr>
          <a:xfrm>
            <a:off x="8108932"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Phương pháp nâng cao</a:t>
            </a:r>
          </a:p>
          <a:p>
            <a:pPr marL="0" indent="0" algn="ctr">
              <a:lnSpc>
                <a:spcPct val="104000"/>
              </a:lnSpc>
              <a:spcBef>
                <a:spcPts val="400"/>
              </a:spcBef>
              <a:buNone/>
            </a:pPr>
            <a:r>
              <a:rPr lang="en-US" sz="1750" dirty="0">
                <a:solidFill>
                  <a:srgbClr val="000000"/>
                </a:solidFill>
                <a:latin typeface="Arial"/>
                <a:cs typeface="Arial"/>
              </a:rPr>
              <a:t>Hội thảo chuyên đề theo yêu cầu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Cấp độ 1 là khóa học này. Cấp độ 2 và 3 dành cho ai muốn học sâu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sản phẩm, mỗi người tự làm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Cả hai đều là bài cá nhân. Giảng viên hướng dẫn từng bước trên lớp.</a:t>
            </a:r>
          </a:p>
        </p:txBody>
      </p:sp>
      <p:sp>
        <p:nvSpPr>
          <p:cNvPr id="70" name="CardHead"/>
          <p:cNvSpPr/>
          <p:nvPr/>
        </p:nvSpPr>
        <p:spPr>
          <a:xfrm>
            <a:off x="457200" y="2111157"/>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Đề cương nghiên cứu của bạn</a:t>
            </a:r>
          </a:p>
        </p:txBody>
      </p:sp>
      <p:sp>
        <p:nvSpPr>
          <p:cNvPr id="71" name="CardBody"/>
          <p:cNvSpPr/>
          <p:nvPr/>
        </p:nvSpPr>
        <p:spPr>
          <a:xfrm>
            <a:off x="457200" y="2751157"/>
            <a:ext cx="5538800"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Về một câu hỏi từ chính khoa của bạn</a:t>
            </a:r>
          </a:p>
          <a:p>
            <a:pPr marL="0" indent="0" algn="ctr">
              <a:lnSpc>
                <a:spcPct val="104000"/>
              </a:lnSpc>
              <a:spcBef>
                <a:spcPts val="400"/>
              </a:spcBef>
              <a:buNone/>
            </a:pPr>
            <a:r>
              <a:rPr lang="en-US" sz="1750" dirty="0">
                <a:solidFill>
                  <a:srgbClr val="000000"/>
                </a:solidFill>
                <a:latin typeface="Arial"/>
                <a:cs typeface="Arial"/>
              </a:rPr>
              <a:t>Viết từng phần, từ Buổi 1 đến Buổi 7</a:t>
            </a:r>
          </a:p>
          <a:p>
            <a:pPr marL="0" indent="0" algn="ctr">
              <a:lnSpc>
                <a:spcPct val="104000"/>
              </a:lnSpc>
              <a:spcBef>
                <a:spcPts val="400"/>
              </a:spcBef>
              <a:buNone/>
            </a:pPr>
            <a:r>
              <a:rPr lang="en-US" sz="1750" dirty="0">
                <a:solidFill>
                  <a:srgbClr val="000000"/>
                </a:solidFill>
                <a:latin typeface="Arial"/>
                <a:cs typeface="Arial"/>
              </a:rPr>
              <a:t>Nộp ở Buổi 8</a:t>
            </a:r>
          </a:p>
        </p:txBody>
      </p:sp>
      <p:sp>
        <p:nvSpPr>
          <p:cNvPr id="72" name="CardHead"/>
          <p:cNvSpPr/>
          <p:nvPr/>
        </p:nvSpPr>
        <p:spPr>
          <a:xfrm>
            <a:off x="6196000" y="2111157"/>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Bản thảo bài báo</a:t>
            </a:r>
          </a:p>
        </p:txBody>
      </p:sp>
      <p:sp>
        <p:nvSpPr>
          <p:cNvPr id="73" name="CardBody"/>
          <p:cNvSpPr/>
          <p:nvPr/>
        </p:nvSpPr>
        <p:spPr>
          <a:xfrm>
            <a:off x="6196000" y="2751157"/>
            <a:ext cx="5538800"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Dựa trên nghiên cứu của khóa học, FLUID-ICU</a:t>
            </a:r>
          </a:p>
          <a:p>
            <a:pPr marL="0" indent="0" algn="ctr">
              <a:lnSpc>
                <a:spcPct val="104000"/>
              </a:lnSpc>
              <a:spcBef>
                <a:spcPts val="400"/>
              </a:spcBef>
              <a:buNone/>
            </a:pPr>
            <a:r>
              <a:rPr lang="en-US" sz="1750" dirty="0">
                <a:solidFill>
                  <a:srgbClr val="000000"/>
                </a:solidFill>
                <a:latin typeface="Arial"/>
                <a:cs typeface="Arial"/>
              </a:rPr>
              <a:t>Giảng viên đưa kết quả, bạn viết bài báo</a:t>
            </a:r>
          </a:p>
          <a:p>
            <a:pPr marL="0" indent="0" algn="ctr">
              <a:lnSpc>
                <a:spcPct val="104000"/>
              </a:lnSpc>
              <a:spcBef>
                <a:spcPts val="400"/>
              </a:spcBef>
              <a:buNone/>
            </a:pPr>
            <a:r>
              <a:rPr lang="en-US" sz="1750" dirty="0">
                <a:solidFill>
                  <a:srgbClr val="000000"/>
                </a:solidFill>
                <a:latin typeface="Arial"/>
                <a:cs typeface="Arial"/>
              </a:rPr>
              <a:t>Sau đó bạn phản biện bản thảo của một đồng nghiệp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Sau khóa học, bạn sẽ có thể</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Hỏi và tìm</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Biến một vấn đề thành câu hỏi rõ ràng</a:t>
            </a:r>
          </a:p>
          <a:p>
            <a:pPr marL="0" indent="0" algn="ctr">
              <a:lnSpc>
                <a:spcPct val="104000"/>
              </a:lnSpc>
              <a:spcBef>
                <a:spcPts val="400"/>
              </a:spcBef>
              <a:buNone/>
            </a:pPr>
            <a:r>
              <a:rPr lang="en-US" sz="1600" dirty="0">
                <a:solidFill>
                  <a:srgbClr val="000000"/>
                </a:solidFill>
                <a:latin typeface="Arial"/>
                <a:cs typeface="Arial"/>
              </a:rPr>
              <a:t>Tìm trên PubMed và quản lý tài liệu</a:t>
            </a:r>
          </a:p>
          <a:p>
            <a:pPr marL="0" indent="0" algn="ctr">
              <a:lnSpc>
                <a:spcPct val="104000"/>
              </a:lnSpc>
              <a:spcBef>
                <a:spcPts val="400"/>
              </a:spcBef>
              <a:buNone/>
            </a:pPr>
            <a:r>
              <a:rPr lang="en-US" sz="1600" dirty="0">
                <a:solidFill>
                  <a:srgbClr val="000000"/>
                </a:solidFill>
                <a:latin typeface="Arial"/>
                <a:cs typeface="Arial"/>
              </a:rPr>
              <a:t>Đọc một bài báo trong 15 phút</a:t>
            </a:r>
          </a:p>
        </p:txBody>
      </p:sp>
      <p:sp>
        <p:nvSpPr>
          <p:cNvPr id="72" name="CardHead"/>
          <p:cNvSpPr/>
          <p:nvPr/>
        </p:nvSpPr>
        <p:spPr>
          <a:xfrm>
            <a:off x="33266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Thiết kế</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Chọn thiết kế nghiên cứu</a:t>
            </a:r>
          </a:p>
          <a:p>
            <a:pPr marL="0" indent="0" algn="ctr">
              <a:lnSpc>
                <a:spcPct val="104000"/>
              </a:lnSpc>
              <a:spcBef>
                <a:spcPts val="400"/>
              </a:spcBef>
              <a:buNone/>
            </a:pPr>
            <a:r>
              <a:rPr lang="en-US" sz="1600" dirty="0">
                <a:solidFill>
                  <a:srgbClr val="000000"/>
                </a:solidFill>
                <a:latin typeface="Arial"/>
                <a:cs typeface="Arial"/>
              </a:rPr>
              <a:t>Nhận ra sai lệch</a:t>
            </a:r>
          </a:p>
          <a:p>
            <a:pPr marL="0" indent="0" algn="ctr">
              <a:lnSpc>
                <a:spcPct val="104000"/>
              </a:lnSpc>
              <a:spcBef>
                <a:spcPts val="400"/>
              </a:spcBef>
              <a:buNone/>
            </a:pPr>
            <a:r>
              <a:rPr lang="en-US" sz="1600" dirty="0">
                <a:solidFill>
                  <a:srgbClr val="000000"/>
                </a:solidFill>
                <a:latin typeface="Arial"/>
                <a:cs typeface="Arial"/>
              </a:rPr>
              <a:t>Đọc các chỉ số đo lường tác động chính</a:t>
            </a:r>
          </a:p>
        </p:txBody>
      </p:sp>
      <p:sp>
        <p:nvSpPr>
          <p:cNvPr id="74" name="CardHead"/>
          <p:cNvSpPr/>
          <p:nvPr/>
        </p:nvSpPr>
        <p:spPr>
          <a:xfrm>
            <a:off x="6196000" y="1680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Phân tích</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Lên kế hoạch dữ liệu cần thu thập</a:t>
            </a:r>
          </a:p>
          <a:p>
            <a:pPr marL="0" indent="0" algn="ctr">
              <a:lnSpc>
                <a:spcPct val="104000"/>
              </a:lnSpc>
              <a:spcBef>
                <a:spcPts val="400"/>
              </a:spcBef>
              <a:buNone/>
            </a:pPr>
            <a:r>
              <a:rPr lang="en-US" sz="1600" dirty="0">
                <a:solidFill>
                  <a:srgbClr val="000000"/>
                </a:solidFill>
                <a:latin typeface="Arial"/>
                <a:cs typeface="Arial"/>
              </a:rPr>
              <a:t>Đọc kết quả một phân tích</a:t>
            </a:r>
          </a:p>
          <a:p>
            <a:pPr marL="0" indent="0" algn="ctr">
              <a:lnSpc>
                <a:spcPct val="104000"/>
              </a:lnSpc>
              <a:spcBef>
                <a:spcPts val="400"/>
              </a:spcBef>
              <a:buNone/>
            </a:pPr>
            <a:r>
              <a:rPr lang="en-US" sz="1600" dirty="0">
                <a:solidFill>
                  <a:srgbClr val="000000"/>
                </a:solidFill>
                <a:latin typeface="Arial"/>
                <a:cs typeface="Arial"/>
              </a:rPr>
              <a:t>Diễn giải một bộ dữ liệu thật</a:t>
            </a:r>
          </a:p>
        </p:txBody>
      </p:sp>
      <p:sp>
        <p:nvSpPr>
          <p:cNvPr id="76" name="CardHead"/>
          <p:cNvSpPr/>
          <p:nvPr/>
        </p:nvSpPr>
        <p:spPr>
          <a:xfrm>
            <a:off x="9065400" y="1680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Viết và công bố</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Lên kế hoạch xin phê duyệt đạo đức</a:t>
            </a:r>
          </a:p>
          <a:p>
            <a:pPr marL="0" indent="0" algn="ctr">
              <a:lnSpc>
                <a:spcPct val="104000"/>
              </a:lnSpc>
              <a:spcBef>
                <a:spcPts val="400"/>
              </a:spcBef>
              <a:buNone/>
            </a:pPr>
            <a:r>
              <a:rPr lang="en-US" sz="1600" dirty="0">
                <a:solidFill>
                  <a:srgbClr val="000000"/>
                </a:solidFill>
                <a:latin typeface="Arial"/>
                <a:cs typeface="Arial"/>
              </a:rPr>
              <a:t>Viết từng phần của bài báo</a:t>
            </a:r>
          </a:p>
          <a:p>
            <a:pPr marL="0" indent="0" algn="ctr">
              <a:lnSpc>
                <a:spcPct val="104000"/>
              </a:lnSpc>
              <a:spcBef>
                <a:spcPts val="400"/>
              </a:spcBef>
              <a:buNone/>
            </a:pPr>
            <a:r>
              <a:rPr lang="en-US" sz="1600" dirty="0">
                <a:solidFill>
                  <a:srgbClr val="000000"/>
                </a:solidFill>
                <a:latin typeface="Arial"/>
                <a:cs typeface="Arial"/>
              </a:rPr>
              <a:t>Nộp bài và trả lời phản biện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Hiểu và diễn giải: bạn sẽ không phải tự tính toán.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Mỗi buổi học diễn ra như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563880" y="2336320"/>
            <a:ext cx="578104" cy="1554480"/>
          </a:xfrm>
          <a:prstGeom prst="rect">
            <a:avLst/>
          </a:prstGeom>
          <a:solidFill>
            <a:srgbClr val="8A99A3"/>
          </a:solidFill>
          <a:ln>
            <a:noFill/>
          </a:ln>
        </p:spPr>
        <p:txBody>
          <a:bodyPr wrap="square" lIns="27432" tIns="27432" rIns="27432" bIns="27432" rtlCol="0" anchor="ctr">
            <a:noAutofit/>
          </a:bodyPr>
          <a:lstStyle/>
          <a:p>
            <a:pPr marL="0" indent="0" algn="ctr">
              <a:lnSpc>
                <a:spcPct val="100000"/>
              </a:lnSpc>
              <a:buNone/>
            </a:pPr>
            <a:r>
              <a:rPr lang="en-US" sz="1300" b="1" dirty="0">
                <a:solidFill>
                  <a:srgbClr val="FFFFFF"/>
                </a:solidFill>
                <a:latin typeface="Arial"/>
                <a:cs typeface="Arial"/>
              </a:rPr>
              <a:t>Ôn tập</a:t>
            </a:r>
          </a:p>
        </p:txBody>
      </p:sp>
      <p:sp>
        <p:nvSpPr>
          <p:cNvPr id="101" name="Text"/>
          <p:cNvSpPr/>
          <p:nvPr/>
        </p:nvSpPr>
        <p:spPr>
          <a:xfrm>
            <a:off x="19812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0:00</a:t>
            </a:r>
          </a:p>
        </p:txBody>
      </p:sp>
      <p:sp>
        <p:nvSpPr>
          <p:cNvPr id="102" name="Box"/>
          <p:cNvSpPr/>
          <p:nvPr/>
        </p:nvSpPr>
        <p:spPr>
          <a:xfrm>
            <a:off x="1178560" y="2336320"/>
            <a:ext cx="3651504" cy="1554480"/>
          </a:xfrm>
          <a:prstGeom prst="rect">
            <a:avLst/>
          </a:prstGeom>
          <a:solidFill>
            <a:srgbClr val="0D7377"/>
          </a:solidFill>
          <a:ln>
            <a:noFill/>
          </a:ln>
        </p:spPr>
        <p:txBody>
          <a:bodyPr wrap="square" lIns="27432" tIns="27432" rIns="27432" bIns="27432" rtlCol="0" anchor="ctr">
            <a:noAutofit/>
          </a:bodyPr>
          <a:lstStyle/>
          <a:p>
            <a:pPr marL="0" indent="0" algn="ctr">
              <a:lnSpc>
                <a:spcPct val="100000"/>
              </a:lnSpc>
              <a:buNone/>
            </a:pPr>
            <a:r>
              <a:rPr lang="en-US" sz="1800" b="1" dirty="0">
                <a:solidFill>
                  <a:srgbClr val="FFFFFF"/>
                </a:solidFill>
                <a:latin typeface="Arial"/>
                <a:cs typeface="Arial"/>
              </a:rPr>
              <a:t>Học, kiểm tra, thực hành (A)</a:t>
            </a:r>
          </a:p>
        </p:txBody>
      </p:sp>
      <p:sp>
        <p:nvSpPr>
          <p:cNvPr id="103" name="Text"/>
          <p:cNvSpPr/>
          <p:nvPr/>
        </p:nvSpPr>
        <p:spPr>
          <a:xfrm>
            <a:off x="81280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0:10</a:t>
            </a:r>
          </a:p>
        </p:txBody>
      </p:sp>
      <p:sp>
        <p:nvSpPr>
          <p:cNvPr id="104" name="Box"/>
          <p:cNvSpPr/>
          <p:nvPr/>
        </p:nvSpPr>
        <p:spPr>
          <a:xfrm>
            <a:off x="4866640" y="2336320"/>
            <a:ext cx="885444" cy="1554480"/>
          </a:xfrm>
          <a:prstGeom prst="rect">
            <a:avLst/>
          </a:prstGeom>
          <a:solidFill>
            <a:srgbClr val="D5DDE1"/>
          </a:solidFill>
          <a:ln>
            <a:noFill/>
          </a:ln>
        </p:spPr>
        <p:txBody>
          <a:bodyPr wrap="square" lIns="27432" tIns="27432" rIns="27432" bIns="27432" rtlCol="0" anchor="ctr">
            <a:noAutofit/>
          </a:bodyPr>
          <a:lstStyle/>
          <a:p>
            <a:pPr marL="0" indent="0" algn="ctr">
              <a:lnSpc>
                <a:spcPct val="100000"/>
              </a:lnSpc>
              <a:buNone/>
            </a:pPr>
            <a:r>
              <a:rPr lang="en-US" sz="1300" b="1" dirty="0">
                <a:solidFill>
                  <a:srgbClr val="000000"/>
                </a:solidFill>
                <a:latin typeface="Arial"/>
                <a:cs typeface="Arial"/>
              </a:rPr>
              <a:t>Giải lao</a:t>
            </a:r>
          </a:p>
        </p:txBody>
      </p:sp>
      <p:sp>
        <p:nvSpPr>
          <p:cNvPr id="105" name="Text"/>
          <p:cNvSpPr/>
          <p:nvPr/>
        </p:nvSpPr>
        <p:spPr>
          <a:xfrm>
            <a:off x="450088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1:10</a:t>
            </a:r>
          </a:p>
        </p:txBody>
      </p:sp>
      <p:sp>
        <p:nvSpPr>
          <p:cNvPr id="106" name="Box"/>
          <p:cNvSpPr/>
          <p:nvPr/>
        </p:nvSpPr>
        <p:spPr>
          <a:xfrm>
            <a:off x="5788660" y="2336320"/>
            <a:ext cx="3651504" cy="1554480"/>
          </a:xfrm>
          <a:prstGeom prst="rect">
            <a:avLst/>
          </a:prstGeom>
          <a:solidFill>
            <a:srgbClr val="0B376C"/>
          </a:solidFill>
          <a:ln>
            <a:noFill/>
          </a:ln>
        </p:spPr>
        <p:txBody>
          <a:bodyPr wrap="square" lIns="27432" tIns="27432" rIns="27432" bIns="27432" rtlCol="0" anchor="ctr">
            <a:noAutofit/>
          </a:bodyPr>
          <a:lstStyle/>
          <a:p>
            <a:pPr marL="0" indent="0" algn="ctr">
              <a:lnSpc>
                <a:spcPct val="100000"/>
              </a:lnSpc>
              <a:buNone/>
            </a:pPr>
            <a:r>
              <a:rPr lang="en-US" sz="1800" b="1" dirty="0">
                <a:solidFill>
                  <a:srgbClr val="FFFFFF"/>
                </a:solidFill>
                <a:latin typeface="Arial"/>
                <a:cs typeface="Arial"/>
              </a:rPr>
              <a:t>Học, kiểm tra, thực hành (B)</a:t>
            </a:r>
          </a:p>
        </p:txBody>
      </p:sp>
      <p:sp>
        <p:nvSpPr>
          <p:cNvPr id="107" name="Text"/>
          <p:cNvSpPr/>
          <p:nvPr/>
        </p:nvSpPr>
        <p:spPr>
          <a:xfrm>
            <a:off x="542290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1:25</a:t>
            </a:r>
          </a:p>
        </p:txBody>
      </p:sp>
      <p:sp>
        <p:nvSpPr>
          <p:cNvPr id="108" name="Box"/>
          <p:cNvSpPr/>
          <p:nvPr/>
        </p:nvSpPr>
        <p:spPr>
          <a:xfrm>
            <a:off x="9476740" y="2336320"/>
            <a:ext cx="1807464" cy="1554480"/>
          </a:xfrm>
          <a:prstGeom prst="rect">
            <a:avLst/>
          </a:prstGeom>
          <a:solidFill>
            <a:srgbClr val="055F56"/>
          </a:solidFill>
          <a:ln>
            <a:noFill/>
          </a:ln>
        </p:spPr>
        <p:txBody>
          <a:bodyPr wrap="square" lIns="27432" tIns="27432" rIns="27432" bIns="27432" rtlCol="0" anchor="ctr">
            <a:noAutofit/>
          </a:bodyPr>
          <a:lstStyle/>
          <a:p>
            <a:pPr marL="0" indent="0" algn="ctr">
              <a:lnSpc>
                <a:spcPct val="100000"/>
              </a:lnSpc>
              <a:buNone/>
            </a:pPr>
            <a:r>
              <a:rPr lang="en-US" sz="1800" b="1" dirty="0">
                <a:solidFill>
                  <a:srgbClr val="FFFFFF"/>
                </a:solidFill>
                <a:latin typeface="Arial"/>
                <a:cs typeface="Arial"/>
              </a:rPr>
              <a:t>Xây dựng đề cương hoặc bài báo</a:t>
            </a:r>
          </a:p>
        </p:txBody>
      </p:sp>
      <p:sp>
        <p:nvSpPr>
          <p:cNvPr id="109" name="Text"/>
          <p:cNvSpPr/>
          <p:nvPr/>
        </p:nvSpPr>
        <p:spPr>
          <a:xfrm>
            <a:off x="911098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2:25</a:t>
            </a:r>
          </a:p>
        </p:txBody>
      </p:sp>
      <p:sp>
        <p:nvSpPr>
          <p:cNvPr id="110" name="Box"/>
          <p:cNvSpPr/>
          <p:nvPr/>
        </p:nvSpPr>
        <p:spPr>
          <a:xfrm>
            <a:off x="11320780" y="2336320"/>
            <a:ext cx="270764" cy="1554480"/>
          </a:xfrm>
          <a:prstGeom prst="rect">
            <a:avLst/>
          </a:prstGeom>
          <a:solidFill>
            <a:srgbClr val="8A99A3"/>
          </a:solidFill>
          <a:ln>
            <a:noFill/>
          </a:ln>
        </p:spPr>
        <p:txBody>
          <a:bodyPr wrap="square" lIns="27432" tIns="27432" rIns="27432" bIns="27432" rtlCol="0" anchor="ctr">
            <a:noAutofit/>
          </a:bodyPr>
          <a:lstStyle/>
          <a:p>
            <a:endParaRPr lang="en-US"/>
          </a:p>
        </p:txBody>
      </p:sp>
      <p:sp>
        <p:nvSpPr>
          <p:cNvPr id="111" name="Text"/>
          <p:cNvSpPr/>
          <p:nvPr/>
        </p:nvSpPr>
        <p:spPr>
          <a:xfrm>
            <a:off x="1121664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3:00</a:t>
            </a:r>
          </a:p>
        </p:txBody>
      </p:sp>
      <p:sp>
        <p:nvSpPr>
          <p:cNvPr id="112" name="Text"/>
          <p:cNvSpPr/>
          <p:nvPr/>
        </p:nvSpPr>
        <p:spPr>
          <a:xfrm>
            <a:off x="10165080" y="1879120"/>
            <a:ext cx="1463040" cy="365760"/>
          </a:xfrm>
          <a:prstGeom prst="rect">
            <a:avLst/>
          </a:prstGeom>
          <a:noFill/>
          <a:ln>
            <a:noFill/>
          </a:ln>
        </p:spPr>
        <p:txBody>
          <a:bodyPr wrap="square" lIns="54864" tIns="54864" rIns="54864" bIns="54864" rtlCol="0" anchor="ctr">
            <a:noAutofit/>
          </a:bodyPr>
          <a:lstStyle/>
          <a:p>
            <a:pPr marL="0" indent="0" algn="r">
              <a:lnSpc>
                <a:spcPct val="100000"/>
              </a:lnSpc>
              <a:buNone/>
            </a:pPr>
            <a:r>
              <a:rPr lang="en-US" sz="1400" dirty="0">
                <a:solidFill>
                  <a:srgbClr val="8A99A3"/>
                </a:solidFill>
                <a:latin typeface="Arial"/>
                <a:cs typeface="Arial"/>
              </a:rPr>
              <a:t>Tổng kết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Cứ 20 phút kiểm tra mức hiểu một lần. Slide bổ sung chỉ dùng khi còn thời gian.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Viết đề cương của bạn từng phần một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Phần 1</a:t>
            </a:r>
          </a:p>
        </p:txBody>
      </p:sp>
      <p:sp>
        <p:nvSpPr>
          <p:cNvPr id="81" name="StepText"/>
          <p:cNvSpPr/>
          <p:nvPr/>
        </p:nvSpPr>
        <p:spPr>
          <a:xfrm>
            <a:off x="49720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Buổi 1-2</a:t>
            </a:r>
          </a:p>
          <a:p>
            <a:pPr marL="0" indent="0" algn="ctr">
              <a:lnSpc>
                <a:spcPct val="104000"/>
              </a:lnSpc>
              <a:spcBef>
                <a:spcPts val="200"/>
              </a:spcBef>
              <a:buNone/>
            </a:pPr>
            <a:r>
              <a:rPr lang="en-US" sz="1700" dirty="0">
                <a:solidFill>
                  <a:srgbClr val="000000"/>
                </a:solidFill>
                <a:latin typeface="Arial"/>
                <a:cs typeface="Arial"/>
              </a:rPr>
              <a:t>Câu hỏi, tổng quan, mục tiêu</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Phần 2</a:t>
            </a:r>
          </a:p>
        </p:txBody>
      </p:sp>
      <p:sp>
        <p:nvSpPr>
          <p:cNvPr id="83" name="StepText"/>
          <p:cNvSpPr/>
          <p:nvPr/>
        </p:nvSpPr>
        <p:spPr>
          <a:xfrm>
            <a:off x="274072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Buổi 3-4</a:t>
            </a:r>
          </a:p>
          <a:p>
            <a:pPr marL="0" indent="0" algn="ctr">
              <a:lnSpc>
                <a:spcPct val="104000"/>
              </a:lnSpc>
              <a:spcBef>
                <a:spcPts val="200"/>
              </a:spcBef>
              <a:buNone/>
            </a:pPr>
            <a:r>
              <a:rPr lang="en-US" sz="1700" dirty="0">
                <a:solidFill>
                  <a:srgbClr val="000000"/>
                </a:solidFill>
                <a:latin typeface="Arial"/>
                <a:cs typeface="Arial"/>
              </a:rPr>
              <a:t>Thiết kế và đối tượng</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Phần 3</a:t>
            </a:r>
          </a:p>
        </p:txBody>
      </p:sp>
      <p:sp>
        <p:nvSpPr>
          <p:cNvPr id="85" name="StepText"/>
          <p:cNvSpPr/>
          <p:nvPr/>
        </p:nvSpPr>
        <p:spPr>
          <a:xfrm>
            <a:off x="498424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Buổi 5-6</a:t>
            </a:r>
          </a:p>
          <a:p>
            <a:pPr marL="0" indent="0" algn="ctr">
              <a:lnSpc>
                <a:spcPct val="104000"/>
              </a:lnSpc>
              <a:spcBef>
                <a:spcPts val="200"/>
              </a:spcBef>
              <a:buNone/>
            </a:pPr>
            <a:r>
              <a:rPr lang="en-US" sz="1700" dirty="0">
                <a:solidFill>
                  <a:srgbClr val="000000"/>
                </a:solidFill>
                <a:latin typeface="Arial"/>
                <a:cs typeface="Arial"/>
              </a:rPr>
              <a:t>Dữ liệu, cỡ mẫu, kế hoạch phân tích</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Phần 4</a:t>
            </a:r>
          </a:p>
        </p:txBody>
      </p:sp>
      <p:sp>
        <p:nvSpPr>
          <p:cNvPr id="87" name="StepText"/>
          <p:cNvSpPr/>
          <p:nvPr/>
        </p:nvSpPr>
        <p:spPr>
          <a:xfrm>
            <a:off x="722776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Buổi 7</a:t>
            </a:r>
          </a:p>
          <a:p>
            <a:pPr marL="0" indent="0" algn="ctr">
              <a:lnSpc>
                <a:spcPct val="104000"/>
              </a:lnSpc>
              <a:spcBef>
                <a:spcPts val="200"/>
              </a:spcBef>
              <a:buNone/>
            </a:pPr>
            <a:r>
              <a:rPr lang="en-US" sz="1700" dirty="0">
                <a:solidFill>
                  <a:srgbClr val="000000"/>
                </a:solidFill>
                <a:latin typeface="Arial"/>
                <a:cs typeface="Arial"/>
              </a:rPr>
              <a:t>Đạo đức, tính khả thi, kế hoạch công bố</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Nộp</a:t>
            </a:r>
          </a:p>
        </p:txBody>
      </p:sp>
      <p:sp>
        <p:nvSpPr>
          <p:cNvPr id="89" name="StepText"/>
          <p:cNvSpPr/>
          <p:nvPr/>
        </p:nvSpPr>
        <p:spPr>
          <a:xfrm>
            <a:off x="947128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Buổi 8</a:t>
            </a:r>
          </a:p>
          <a:p>
            <a:pPr marL="0" indent="0" algn="ctr">
              <a:lnSpc>
                <a:spcPct val="104000"/>
              </a:lnSpc>
              <a:spcBef>
                <a:spcPts val="200"/>
              </a:spcBef>
              <a:buNone/>
            </a:pPr>
            <a:r>
              <a:rPr lang="en-US" sz="1700" dirty="0">
                <a:solidFill>
                  <a:srgbClr val="000000"/>
                </a:solidFill>
                <a:latin typeface="Arial"/>
                <a:cs typeface="Arial"/>
              </a:rPr>
              <a:t>Đề cương hoàn chỉnh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Câu hỏi của riêng bạn, một mẫu đề cương, mỗi hai tuần một phần.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Chào mừng: giới thiệu bản thân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Gõ vào chat: tên, khoa và nghề nghiệp của bạn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Thêm một câu hỏi bạn mong nghiên cứu trả lời được cho khoa mình</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Đọc tin nhắn của mọi người: nhiều câu là chủ đề nghiên cứu tiềm năng</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Sau đó vài bạn bật micro nói câu hỏi của mình</a:t>
            </a:r>
          </a:p>
        </p:txBody>
      </p:sp>
      <p:sp>
        <p:nvSpPr>
          <p:cNvPr id="52" name="Side"/>
          <p:cNvSpPr/>
          <p:nvPr/>
        </p:nvSpPr>
        <p:spPr>
          <a:xfrm>
            <a:off x="7423760" y="1720000"/>
            <a:ext cx="4311040" cy="14155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Tin nhắn mẫu</a:t>
            </a:r>
          </a:p>
          <a:p>
            <a:pPr marL="0" indent="0" algn="ctr">
              <a:lnSpc>
                <a:spcPct val="104000"/>
              </a:lnSpc>
              <a:spcBef>
                <a:spcPts val="300"/>
              </a:spcBef>
              <a:buNone/>
            </a:pPr>
            <a:r>
              <a:rPr lang="en-US" sz="1500" dirty="0">
                <a:solidFill>
                  <a:srgbClr val="000000"/>
                </a:solidFill>
                <a:latin typeface="Arial"/>
                <a:cs typeface="Arial"/>
              </a:rPr>
              <a:t>Lan, ICU, điều dưỡng</a:t>
            </a:r>
          </a:p>
          <a:p>
            <a:pPr marL="0" indent="0" algn="ctr">
              <a:lnSpc>
                <a:spcPct val="104000"/>
              </a:lnSpc>
              <a:spcBef>
                <a:spcPts val="300"/>
              </a:spcBef>
              <a:buNone/>
            </a:pPr>
            <a:r>
              <a:rPr lang="en-US" sz="1500" dirty="0">
                <a:solidFill>
                  <a:srgbClr val="000000"/>
                </a:solidFill>
                <a:latin typeface="Arial"/>
                <a:cs typeface="Arial"/>
              </a:rPr>
              <a:t>'Người bệnh sốc nhiễm khuẩn có cần ít dịch hơn lượng mình đang truyền không?'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Mỗi người một lời giới thiệu trong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Chúng ta cùng học trực tuyến như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9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Cứ hỏi</a:t>
            </a:r>
          </a:p>
        </p:txBody>
      </p:sp>
      <p:sp>
        <p:nvSpPr>
          <p:cNvPr id="71" name="CardBody"/>
          <p:cNvSpPr/>
          <p:nvPr/>
        </p:nvSpPr>
        <p:spPr>
          <a:xfrm>
            <a:off x="4572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Không có câu hỏi nào ngớ ngẩn</a:t>
            </a:r>
          </a:p>
          <a:p>
            <a:pPr marL="0" indent="0" algn="ctr">
              <a:lnSpc>
                <a:spcPct val="104000"/>
              </a:lnSpc>
              <a:spcBef>
                <a:spcPts val="400"/>
              </a:spcBef>
              <a:buNone/>
            </a:pPr>
            <a:r>
              <a:rPr lang="en-US" sz="1600" dirty="0">
                <a:solidFill>
                  <a:srgbClr val="000000"/>
                </a:solidFill>
                <a:latin typeface="Arial"/>
                <a:cs typeface="Arial"/>
              </a:rPr>
              <a:t>Dùng chat hoặc nút 'giơ tay'</a:t>
            </a:r>
          </a:p>
        </p:txBody>
      </p:sp>
      <p:sp>
        <p:nvSpPr>
          <p:cNvPr id="72" name="CardHead"/>
          <p:cNvSpPr/>
          <p:nvPr/>
        </p:nvSpPr>
        <p:spPr>
          <a:xfrm>
            <a:off x="3326600" y="199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Đi chậm</a:t>
            </a:r>
          </a:p>
        </p:txBody>
      </p:sp>
      <p:sp>
        <p:nvSpPr>
          <p:cNvPr id="73" name="CardBody"/>
          <p:cNvSpPr/>
          <p:nvPr/>
        </p:nvSpPr>
        <p:spPr>
          <a:xfrm>
            <a:off x="33266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Kiểm tra mức hiểu thường xuyên</a:t>
            </a:r>
          </a:p>
          <a:p>
            <a:pPr marL="0" indent="0" algn="ctr">
              <a:lnSpc>
                <a:spcPct val="104000"/>
              </a:lnSpc>
              <a:spcBef>
                <a:spcPts val="400"/>
              </a:spcBef>
              <a:buNone/>
            </a:pPr>
            <a:r>
              <a:rPr lang="en-US" sz="1600" dirty="0">
                <a:solidFill>
                  <a:srgbClr val="000000"/>
                </a:solidFill>
                <a:latin typeface="Arial"/>
                <a:cs typeface="Arial"/>
              </a:rPr>
              <a:t>Slide bổ sung chỉ khi còn thời gian</a:t>
            </a:r>
          </a:p>
        </p:txBody>
      </p:sp>
      <p:sp>
        <p:nvSpPr>
          <p:cNvPr id="74" name="CardHead"/>
          <p:cNvSpPr/>
          <p:nvPr/>
        </p:nvSpPr>
        <p:spPr>
          <a:xfrm>
            <a:off x="6196000" y="199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Lấy ví dụ từ khoa mình</a:t>
            </a:r>
          </a:p>
        </p:txBody>
      </p:sp>
      <p:sp>
        <p:nvSpPr>
          <p:cNvPr id="75" name="CardBody"/>
          <p:cNvSpPr/>
          <p:nvPr/>
        </p:nvSpPr>
        <p:spPr>
          <a:xfrm>
            <a:off x="61960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Dùng ví dụ từ thực hành của bạn</a:t>
            </a:r>
          </a:p>
          <a:p>
            <a:pPr marL="0" indent="0" algn="ctr">
              <a:lnSpc>
                <a:spcPct val="104000"/>
              </a:lnSpc>
              <a:spcBef>
                <a:spcPts val="400"/>
              </a:spcBef>
              <a:buNone/>
            </a:pPr>
            <a:r>
              <a:rPr lang="en-US" sz="1600" dirty="0">
                <a:solidFill>
                  <a:srgbClr val="000000"/>
                </a:solidFill>
                <a:latin typeface="Arial"/>
                <a:cs typeface="Arial"/>
              </a:rPr>
              <a:t>Không nêu tên hay chi tiết người bệnh</a:t>
            </a:r>
          </a:p>
        </p:txBody>
      </p:sp>
      <p:sp>
        <p:nvSpPr>
          <p:cNvPr id="76" name="CardHead"/>
          <p:cNvSpPr/>
          <p:nvPr/>
        </p:nvSpPr>
        <p:spPr>
          <a:xfrm>
            <a:off x="9065400" y="199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Thói quen trực tuyến</a:t>
            </a:r>
          </a:p>
        </p:txBody>
      </p:sp>
      <p:sp>
        <p:nvSpPr>
          <p:cNvPr id="77" name="CardBody"/>
          <p:cNvSpPr/>
          <p:nvPr/>
        </p:nvSpPr>
        <p:spPr>
          <a:xfrm>
            <a:off x="90654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Bật camera khi có thể</a:t>
            </a:r>
          </a:p>
          <a:p>
            <a:pPr marL="0" indent="0" algn="ctr">
              <a:lnSpc>
                <a:spcPct val="104000"/>
              </a:lnSpc>
              <a:spcBef>
                <a:spcPts val="400"/>
              </a:spcBef>
              <a:buNone/>
            </a:pPr>
            <a:r>
              <a:rPr lang="en-US" sz="1600" dirty="0">
                <a:solidFill>
                  <a:srgbClr val="000000"/>
                </a:solidFill>
                <a:latin typeface="Arial"/>
                <a:cs typeface="Arial"/>
              </a:rPr>
              <a:t>Tắt micro khi không nói</a:t>
            </a:r>
          </a:p>
          <a:p>
            <a:pPr marL="0" indent="0" algn="ctr">
              <a:lnSpc>
                <a:spcPct val="104000"/>
              </a:lnSpc>
              <a:spcBef>
                <a:spcPts val="400"/>
              </a:spcBef>
              <a:buNone/>
            </a:pPr>
            <a:r>
              <a:rPr lang="en-US" sz="1600" dirty="0">
                <a:solidFill>
                  <a:srgbClr val="000000"/>
                </a:solidFill>
                <a:latin typeface="Arial"/>
                <a:cs typeface="Arial"/>
              </a:rPr>
              <a:t>Quay lại đúng giờ sau giải lao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kiểm tra đầu khóa (biểu mẫu trực tuyến)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Mở biểu mẫu: đường link đang có trong chat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Nhập họ và tên của bạn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24 câu trắc nghiệm, chọn một đáp án cho mỗi câu (khoảng 12 phút)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Làm một mình: không xem tài liệu, không hỏi đồng nghiệp</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Nếu không chắc, hãy đoán: đây không phải kỳ thi</a:t>
            </a:r>
          </a:p>
        </p:txBody>
      </p:sp>
      <p:sp>
        <p:nvSpPr>
          <p:cNvPr id="52" name="Side"/>
          <p:cNvSpPr/>
          <p:nvPr/>
        </p:nvSpPr>
        <p:spPr>
          <a:xfrm>
            <a:off x="7423760" y="1720000"/>
            <a:ext cx="4311040" cy="14155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Vì sao kiểm tra bây giờ?</a:t>
            </a:r>
          </a:p>
          <a:p>
            <a:pPr marL="0" indent="0" algn="ctr">
              <a:lnSpc>
                <a:spcPct val="104000"/>
              </a:lnSpc>
              <a:spcBef>
                <a:spcPts val="300"/>
              </a:spcBef>
              <a:buNone/>
            </a:pPr>
            <a:r>
              <a:rPr lang="en-US" sz="1500" dirty="0">
                <a:solidFill>
                  <a:srgbClr val="000000"/>
                </a:solidFill>
                <a:latin typeface="Arial"/>
                <a:cs typeface="Arial"/>
              </a:rPr>
              <a:t>Làm lại cùng bài này ở Buổi 8</a:t>
            </a:r>
          </a:p>
          <a:p>
            <a:pPr marL="0" indent="0" algn="ctr">
              <a:lnSpc>
                <a:spcPct val="104000"/>
              </a:lnSpc>
              <a:spcBef>
                <a:spcPts val="300"/>
              </a:spcBef>
              <a:buNone/>
            </a:pPr>
            <a:r>
              <a:rPr lang="en-US" sz="1500" dirty="0">
                <a:solidFill>
                  <a:srgbClr val="000000"/>
                </a:solidFill>
                <a:latin typeface="Arial"/>
                <a:cs typeface="Arial"/>
              </a:rPr>
              <a:t>Chúng tôi đánh giá khóa học, không đánh giá bạn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Đã gửi biểu mẫu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Buổi 1 · Hỏi: từ vấn đề lâm sàng đến câu hỏi nghiên cứu</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1 · Thứ Bảy</a:t>
            </a:r>
          </a:p>
          <a:p>
            <a:pPr>
              <a:buNone/>
            </a:pPr>
            <a:endParaRPr sz="800"/>
          </a:p>
          <a:p>
            <a:pPr marL="274320" indent="-274320" algn="l">
              <a:spcBef>
                <a:spcPts val="440"/>
              </a:spcBef>
              <a:buFont typeface="Arial"/>
              <a:buChar char="•"/>
            </a:pPr>
            <a:r>
              <a:rPr lang="en-US" sz="1900" dirty="0">
                <a:solidFill>
                  <a:srgbClr val="000000"/>
                </a:solidFill>
                <a:latin typeface="Arial"/>
                <a:cs typeface="Arial"/>
              </a:rPr>
              <a:t>1.1  Vì sao cần nghiên cứu? Bằng chứng, thiết kế nghiên cứu, hai bài báo của khóa học</a:t>
            </a:r>
          </a:p>
          <a:p>
            <a:pPr marL="274320" indent="-274320" algn="l">
              <a:spcBef>
                <a:spcPts val="440"/>
              </a:spcBef>
              <a:buFont typeface="Arial"/>
              <a:buChar char="•"/>
            </a:pPr>
            <a:r>
              <a:rPr lang="en-US" sz="1900" dirty="0">
                <a:solidFill>
                  <a:srgbClr val="000000"/>
                </a:solidFill>
                <a:latin typeface="Arial"/>
                <a:cs typeface="Arial"/>
              </a:rPr>
              <a:t>Giải lao</a:t>
            </a:r>
          </a:p>
          <a:p>
            <a:pPr marL="274320" indent="-274320" algn="l">
              <a:spcBef>
                <a:spcPts val="440"/>
              </a:spcBef>
              <a:buFont typeface="Arial"/>
              <a:buChar char="•"/>
            </a:pPr>
            <a:r>
              <a:rPr lang="en-US" sz="1900" dirty="0">
                <a:solidFill>
                  <a:srgbClr val="000000"/>
                </a:solidFill>
                <a:latin typeface="Arial"/>
                <a:cs typeface="Arial"/>
              </a:rPr>
              <a:t>1.2  Từ vấn đề đến câu hỏi: PICO(T), PECO và FINER</a:t>
            </a:r>
          </a:p>
          <a:p>
            <a:pPr marL="274320" indent="-274320" algn="l">
              <a:spcBef>
                <a:spcPts val="440"/>
              </a:spcBef>
              <a:buFont typeface="Arial"/>
              <a:buChar char="•"/>
            </a:pPr>
            <a:r>
              <a:rPr lang="en-US" sz="1900" dirty="0">
                <a:solidFill>
                  <a:srgbClr val="000000"/>
                </a:solidFill>
                <a:latin typeface="Arial"/>
                <a:cs typeface="Arial"/>
              </a:rPr>
              <a:t>1.3  Mục tiêu tổng quát, mục tiêu cụ thể và giả thuyết</a:t>
            </a:r>
          </a:p>
          <a:p>
            <a:pPr marL="274320" indent="-274320" algn="l">
              <a:spcBef>
                <a:spcPts val="440"/>
              </a:spcBef>
              <a:buFont typeface="Arial"/>
              <a:buChar char="•"/>
            </a:pPr>
            <a:r>
              <a:rPr lang="en-US" sz="1900" dirty="0">
                <a:solidFill>
                  <a:srgbClr val="000000"/>
                </a:solidFill>
                <a:latin typeface="Arial"/>
                <a:cs typeface="Arial"/>
              </a:rPr>
              <a:t>Xây dựng đề cương 1: bắt đầu câu hỏi của riêng bạn</a:t>
            </a:r>
          </a:p>
          <a:p>
            <a:pPr marL="274320" indent="-274320" algn="l">
              <a:spcBef>
                <a:spcPts val="440"/>
              </a:spcBef>
              <a:buFont typeface="Arial"/>
              <a:buChar char="•"/>
            </a:pPr>
            <a:r>
              <a:rPr lang="en-US" sz="1900" dirty="0">
                <a:solidFill>
                  <a:srgbClr val="000000"/>
                </a:solidFill>
                <a:latin typeface="Arial"/>
                <a:cs typeface="Arial"/>
              </a:rPr>
              <a:t>Tổng kết: từ khóa, câu hỏi cuối buổi, bài về nhà</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1.1  Vì sao cần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Đã có kinh nghiệm, vì sao vẫn cần nghiên cứu?</a:t>
            </a:r>
          </a:p>
          <a:p>
            <a:pPr marL="0" indent="0" algn="ctr">
              <a:spcBef>
                <a:spcPts val="1200"/>
              </a:spcBef>
              <a:buNone/>
            </a:pPr>
            <a:r>
              <a:rPr lang="en-US" sz="1900" i="1" dirty="0">
                <a:solidFill>
                  <a:srgbClr val="595959"/>
                </a:solidFill>
                <a:latin typeface="Arial"/>
                <a:cs typeface="Arial"/>
              </a:rPr>
              <a:t>35 phút: bằng chứng, thiết kế nghiên cứu, hai bài báo của khóa học, các loại nghiên cứu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Giai thoại và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72440" y="1239040"/>
            <a:ext cx="4572000" cy="3931920"/>
          </a:xfrm>
          <a:prstGeom prst="roundRect">
            <a:avLst>
              <a:gd name="adj" fmla="val 5000"/>
            </a:avLst>
          </a:prstGeom>
          <a:noFill/>
          <a:ln w="31750">
            <a:solidFill>
              <a:srgbClr val="D9822B"/>
            </a:solidFill>
          </a:ln>
        </p:spPr>
        <p:txBody>
          <a:bodyPr wrap="square" lIns="54864" tIns="54864" rIns="54864" bIns="54864" rtlCol="0" anchor="ctr">
            <a:noAutofit/>
          </a:bodyPr>
          <a:lstStyle/>
          <a:p>
            <a:endParaRPr lang="en-US"/>
          </a:p>
        </p:txBody>
      </p:sp>
      <p:sp>
        <p:nvSpPr>
          <p:cNvPr id="101" name="Text"/>
          <p:cNvSpPr/>
          <p:nvPr/>
        </p:nvSpPr>
        <p:spPr>
          <a:xfrm>
            <a:off x="472440" y="1330480"/>
            <a:ext cx="4572000" cy="5029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200" b="1" dirty="0">
                <a:solidFill>
                  <a:srgbClr val="D9822B"/>
                </a:solidFill>
                <a:latin typeface="Arial"/>
                <a:cs typeface="Arial"/>
              </a:rPr>
              <a:t>Giai thoại</a:t>
            </a:r>
          </a:p>
        </p:txBody>
      </p:sp>
      <p:sp>
        <p:nvSpPr>
          <p:cNvPr id="102" name="PersonHead"/>
          <p:cNvSpPr/>
          <p:nvPr/>
        </p:nvSpPr>
        <p:spPr>
          <a:xfrm>
            <a:off x="934212" y="2199160"/>
            <a:ext cx="510235" cy="510235"/>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103" name="PersonBody"/>
          <p:cNvSpPr/>
          <p:nvPr/>
        </p:nvSpPr>
        <p:spPr>
          <a:xfrm>
            <a:off x="792480" y="2794434"/>
            <a:ext cx="793699" cy="822046"/>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104" name="Box"/>
          <p:cNvSpPr/>
          <p:nvPr/>
        </p:nvSpPr>
        <p:spPr>
          <a:xfrm>
            <a:off x="1798320" y="1924840"/>
            <a:ext cx="3017520" cy="1143000"/>
          </a:xfrm>
          <a:prstGeom prst="wedgeRoundRectCallout">
            <a:avLst>
              <a:gd name="adj1" fmla="val -64000"/>
              <a:gd name="adj2" fmla="val 4000"/>
              <a:gd name="adj3" fmla="val 16667"/>
            </a:avLst>
          </a:prstGeom>
          <a:solidFill>
            <a:srgbClr val="EAF2F5"/>
          </a:solidFill>
          <a:ln>
            <a:noFill/>
          </a:ln>
        </p:spPr>
        <p:txBody>
          <a:bodyPr wrap="square" lIns="109728" tIns="109728" rIns="109728" bIns="109728" rtlCol="0" anchor="ctr">
            <a:noAutofit/>
          </a:bodyPr>
          <a:lstStyle/>
          <a:p>
            <a:pPr marL="0" indent="0" algn="ctr">
              <a:lnSpc>
                <a:spcPct val="100000"/>
              </a:lnSpc>
              <a:buNone/>
            </a:pPr>
            <a:r>
              <a:rPr lang="en-US" sz="1600" dirty="0">
                <a:solidFill>
                  <a:srgbClr val="1A1A1A"/>
                </a:solidFill>
                <a:latin typeface="Arial"/>
                <a:cs typeface="Arial"/>
              </a:rPr>
              <a:t>"Tôi truyền ít dịch cho 3 người bệnh và cả 3 đều hồi phục tốt!"</a:t>
            </a:r>
          </a:p>
        </p:txBody>
      </p:sp>
      <p:sp>
        <p:nvSpPr>
          <p:cNvPr id="105" name="PersonHead"/>
          <p:cNvSpPr/>
          <p:nvPr/>
        </p:nvSpPr>
        <p:spPr>
          <a:xfrm>
            <a:off x="2346960" y="3250720"/>
            <a:ext cx="329184" cy="329184"/>
          </a:xfrm>
          <a:prstGeom prst="ellipse">
            <a:avLst/>
          </a:prstGeom>
          <a:solidFill>
            <a:srgbClr val="2E8B57"/>
          </a:solidFill>
          <a:ln>
            <a:noFill/>
          </a:ln>
        </p:spPr>
        <p:txBody>
          <a:bodyPr wrap="square" lIns="54864" tIns="54864" rIns="54864" bIns="54864" rtlCol="0" anchor="ctr">
            <a:noAutofit/>
          </a:bodyPr>
          <a:lstStyle/>
          <a:p>
            <a:endParaRPr lang="en-US"/>
          </a:p>
        </p:txBody>
      </p:sp>
      <p:sp>
        <p:nvSpPr>
          <p:cNvPr id="106" name="PersonBody"/>
          <p:cNvSpPr/>
          <p:nvPr/>
        </p:nvSpPr>
        <p:spPr>
          <a:xfrm>
            <a:off x="2255520" y="3634768"/>
            <a:ext cx="512064" cy="530352"/>
          </a:xfrm>
          <a:prstGeom prst="roundRect">
            <a:avLst>
              <a:gd name="adj" fmla="val 22000"/>
            </a:avLst>
          </a:prstGeom>
          <a:solidFill>
            <a:srgbClr val="2E8B57"/>
          </a:solidFill>
          <a:ln>
            <a:noFill/>
          </a:ln>
        </p:spPr>
        <p:txBody>
          <a:bodyPr wrap="square" lIns="54864" tIns="54864" rIns="54864" bIns="54864" rtlCol="0" anchor="ctr">
            <a:noAutofit/>
          </a:bodyPr>
          <a:lstStyle/>
          <a:p>
            <a:endParaRPr lang="en-US"/>
          </a:p>
        </p:txBody>
      </p:sp>
      <p:sp>
        <p:nvSpPr>
          <p:cNvPr id="107" name="PersonHead"/>
          <p:cNvSpPr/>
          <p:nvPr/>
        </p:nvSpPr>
        <p:spPr>
          <a:xfrm>
            <a:off x="3169920" y="3250720"/>
            <a:ext cx="329184" cy="329184"/>
          </a:xfrm>
          <a:prstGeom prst="ellipse">
            <a:avLst/>
          </a:prstGeom>
          <a:solidFill>
            <a:srgbClr val="2E8B57"/>
          </a:solidFill>
          <a:ln>
            <a:noFill/>
          </a:ln>
        </p:spPr>
        <p:txBody>
          <a:bodyPr wrap="square" lIns="54864" tIns="54864" rIns="54864" bIns="54864" rtlCol="0" anchor="ctr">
            <a:noAutofit/>
          </a:bodyPr>
          <a:lstStyle/>
          <a:p>
            <a:endParaRPr lang="en-US"/>
          </a:p>
        </p:txBody>
      </p:sp>
      <p:sp>
        <p:nvSpPr>
          <p:cNvPr id="108" name="PersonBody"/>
          <p:cNvSpPr/>
          <p:nvPr/>
        </p:nvSpPr>
        <p:spPr>
          <a:xfrm>
            <a:off x="3078480" y="3634768"/>
            <a:ext cx="512064" cy="530352"/>
          </a:xfrm>
          <a:prstGeom prst="roundRect">
            <a:avLst>
              <a:gd name="adj" fmla="val 22000"/>
            </a:avLst>
          </a:prstGeom>
          <a:solidFill>
            <a:srgbClr val="2E8B57"/>
          </a:solidFill>
          <a:ln>
            <a:noFill/>
          </a:ln>
        </p:spPr>
        <p:txBody>
          <a:bodyPr wrap="square" lIns="54864" tIns="54864" rIns="54864" bIns="54864" rtlCol="0" anchor="ctr">
            <a:noAutofit/>
          </a:bodyPr>
          <a:lstStyle/>
          <a:p>
            <a:endParaRPr lang="en-US"/>
          </a:p>
        </p:txBody>
      </p:sp>
      <p:sp>
        <p:nvSpPr>
          <p:cNvPr id="109" name="PersonHead"/>
          <p:cNvSpPr/>
          <p:nvPr/>
        </p:nvSpPr>
        <p:spPr>
          <a:xfrm>
            <a:off x="3992880" y="3250720"/>
            <a:ext cx="329184" cy="329184"/>
          </a:xfrm>
          <a:prstGeom prst="ellipse">
            <a:avLst/>
          </a:prstGeom>
          <a:solidFill>
            <a:srgbClr val="2E8B57"/>
          </a:solidFill>
          <a:ln>
            <a:noFill/>
          </a:ln>
        </p:spPr>
        <p:txBody>
          <a:bodyPr wrap="square" lIns="54864" tIns="54864" rIns="54864" bIns="54864" rtlCol="0" anchor="ctr">
            <a:noAutofit/>
          </a:bodyPr>
          <a:lstStyle/>
          <a:p>
            <a:endParaRPr lang="en-US"/>
          </a:p>
        </p:txBody>
      </p:sp>
      <p:sp>
        <p:nvSpPr>
          <p:cNvPr id="110" name="PersonBody"/>
          <p:cNvSpPr/>
          <p:nvPr/>
        </p:nvSpPr>
        <p:spPr>
          <a:xfrm>
            <a:off x="3901440" y="3634768"/>
            <a:ext cx="512064" cy="530352"/>
          </a:xfrm>
          <a:prstGeom prst="roundRect">
            <a:avLst>
              <a:gd name="adj" fmla="val 22000"/>
            </a:avLst>
          </a:prstGeom>
          <a:solidFill>
            <a:srgbClr val="2E8B57"/>
          </a:solidFill>
          <a:ln>
            <a:noFill/>
          </a:ln>
        </p:spPr>
        <p:txBody>
          <a:bodyPr wrap="square" lIns="54864" tIns="54864" rIns="54864" bIns="54864" rtlCol="0" anchor="ctr">
            <a:noAutofit/>
          </a:bodyPr>
          <a:lstStyle/>
          <a:p>
            <a:endParaRPr lang="en-US"/>
          </a:p>
        </p:txBody>
      </p:sp>
      <p:sp>
        <p:nvSpPr>
          <p:cNvPr id="111" name="Text"/>
          <p:cNvSpPr/>
          <p:nvPr/>
        </p:nvSpPr>
        <p:spPr>
          <a:xfrm>
            <a:off x="655320" y="4302280"/>
            <a:ext cx="42062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Ít người bệnh, không so sánh, chỉ nhớ những ca nổi bật</a:t>
            </a:r>
          </a:p>
        </p:txBody>
      </p:sp>
      <p:sp>
        <p:nvSpPr>
          <p:cNvPr id="112" name="Text"/>
          <p:cNvSpPr/>
          <p:nvPr/>
        </p:nvSpPr>
        <p:spPr>
          <a:xfrm>
            <a:off x="5044440" y="2930680"/>
            <a:ext cx="731520" cy="54864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400" b="1" dirty="0">
                <a:solidFill>
                  <a:srgbClr val="8A99A3"/>
                </a:solidFill>
                <a:latin typeface="Arial"/>
                <a:cs typeface="Arial"/>
              </a:rPr>
              <a:t>vs</a:t>
            </a:r>
          </a:p>
        </p:txBody>
      </p:sp>
      <p:sp>
        <p:nvSpPr>
          <p:cNvPr id="113" name="Box"/>
          <p:cNvSpPr/>
          <p:nvPr/>
        </p:nvSpPr>
        <p:spPr>
          <a:xfrm>
            <a:off x="5775960" y="1239040"/>
            <a:ext cx="5943600" cy="3931920"/>
          </a:xfrm>
          <a:prstGeom prst="roundRect">
            <a:avLst>
              <a:gd name="adj" fmla="val 5000"/>
            </a:avLst>
          </a:prstGeom>
          <a:noFill/>
          <a:ln w="31750">
            <a:solidFill>
              <a:srgbClr val="0D7377"/>
            </a:solidFill>
          </a:ln>
        </p:spPr>
        <p:txBody>
          <a:bodyPr wrap="square" lIns="54864" tIns="54864" rIns="54864" bIns="54864" rtlCol="0" anchor="ctr">
            <a:noAutofit/>
          </a:bodyPr>
          <a:lstStyle/>
          <a:p>
            <a:endParaRPr lang="en-US"/>
          </a:p>
        </p:txBody>
      </p:sp>
      <p:sp>
        <p:nvSpPr>
          <p:cNvPr id="114" name="Text"/>
          <p:cNvSpPr/>
          <p:nvPr/>
        </p:nvSpPr>
        <p:spPr>
          <a:xfrm>
            <a:off x="5775960" y="1330480"/>
            <a:ext cx="5943600" cy="5029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200" b="1" dirty="0">
                <a:solidFill>
                  <a:srgbClr val="0D7377"/>
                </a:solidFill>
                <a:latin typeface="Arial"/>
                <a:cs typeface="Arial"/>
              </a:rPr>
              <a:t>Bằng chứng</a:t>
            </a:r>
          </a:p>
        </p:txBody>
      </p:sp>
      <p:sp>
        <p:nvSpPr>
          <p:cNvPr id="115" name="Text"/>
          <p:cNvSpPr/>
          <p:nvPr/>
        </p:nvSpPr>
        <p:spPr>
          <a:xfrm>
            <a:off x="5913120" y="1805968"/>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D7377"/>
                </a:solidFill>
                <a:latin typeface="Arial"/>
                <a:cs typeface="Arial"/>
              </a:rPr>
              <a:t>Hạn chế dịch</a:t>
            </a:r>
          </a:p>
        </p:txBody>
      </p:sp>
      <p:sp>
        <p:nvSpPr>
          <p:cNvPr id="116" name="Text"/>
          <p:cNvSpPr/>
          <p:nvPr/>
        </p:nvSpPr>
        <p:spPr>
          <a:xfrm>
            <a:off x="8839200" y="1805968"/>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B376C"/>
                </a:solidFill>
                <a:latin typeface="Arial"/>
                <a:cs typeface="Arial"/>
              </a:rPr>
              <a:t>Chăm sóc thường quy</a:t>
            </a:r>
          </a:p>
        </p:txBody>
      </p:sp>
      <p:sp>
        <p:nvSpPr>
          <p:cNvPr id="117" name="PersonHead"/>
          <p:cNvSpPr/>
          <p:nvPr/>
        </p:nvSpPr>
        <p:spPr>
          <a:xfrm>
            <a:off x="615452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18" name="PersonBody"/>
          <p:cNvSpPr/>
          <p:nvPr/>
        </p:nvSpPr>
        <p:spPr>
          <a:xfrm>
            <a:off x="612343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19" name="PersonHead"/>
          <p:cNvSpPr/>
          <p:nvPr/>
        </p:nvSpPr>
        <p:spPr>
          <a:xfrm>
            <a:off x="640141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0" name="PersonBody"/>
          <p:cNvSpPr/>
          <p:nvPr/>
        </p:nvSpPr>
        <p:spPr>
          <a:xfrm>
            <a:off x="637032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1" name="PersonHead"/>
          <p:cNvSpPr/>
          <p:nvPr/>
        </p:nvSpPr>
        <p:spPr>
          <a:xfrm>
            <a:off x="664829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2" name="PersonBody"/>
          <p:cNvSpPr/>
          <p:nvPr/>
        </p:nvSpPr>
        <p:spPr>
          <a:xfrm>
            <a:off x="661720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3" name="PersonHead"/>
          <p:cNvSpPr/>
          <p:nvPr/>
        </p:nvSpPr>
        <p:spPr>
          <a:xfrm>
            <a:off x="689518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4" name="PersonBody"/>
          <p:cNvSpPr/>
          <p:nvPr/>
        </p:nvSpPr>
        <p:spPr>
          <a:xfrm>
            <a:off x="686409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5" name="PersonHead"/>
          <p:cNvSpPr/>
          <p:nvPr/>
        </p:nvSpPr>
        <p:spPr>
          <a:xfrm>
            <a:off x="714207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6" name="PersonBody"/>
          <p:cNvSpPr/>
          <p:nvPr/>
        </p:nvSpPr>
        <p:spPr>
          <a:xfrm>
            <a:off x="711098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7" name="PersonHead"/>
          <p:cNvSpPr/>
          <p:nvPr/>
        </p:nvSpPr>
        <p:spPr>
          <a:xfrm>
            <a:off x="738896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8" name="PersonBody"/>
          <p:cNvSpPr/>
          <p:nvPr/>
        </p:nvSpPr>
        <p:spPr>
          <a:xfrm>
            <a:off x="735787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9" name="PersonHead"/>
          <p:cNvSpPr/>
          <p:nvPr/>
        </p:nvSpPr>
        <p:spPr>
          <a:xfrm>
            <a:off x="763585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0" name="PersonBody"/>
          <p:cNvSpPr/>
          <p:nvPr/>
        </p:nvSpPr>
        <p:spPr>
          <a:xfrm>
            <a:off x="760476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1" name="PersonHead"/>
          <p:cNvSpPr/>
          <p:nvPr/>
        </p:nvSpPr>
        <p:spPr>
          <a:xfrm>
            <a:off x="788273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2" name="PersonBody"/>
          <p:cNvSpPr/>
          <p:nvPr/>
        </p:nvSpPr>
        <p:spPr>
          <a:xfrm>
            <a:off x="785164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3" name="PersonHead"/>
          <p:cNvSpPr/>
          <p:nvPr/>
        </p:nvSpPr>
        <p:spPr>
          <a:xfrm>
            <a:off x="812962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4" name="PersonBody"/>
          <p:cNvSpPr/>
          <p:nvPr/>
        </p:nvSpPr>
        <p:spPr>
          <a:xfrm>
            <a:off x="809853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5" name="PersonHead"/>
          <p:cNvSpPr/>
          <p:nvPr/>
        </p:nvSpPr>
        <p:spPr>
          <a:xfrm>
            <a:off x="837651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6" name="PersonBody"/>
          <p:cNvSpPr/>
          <p:nvPr/>
        </p:nvSpPr>
        <p:spPr>
          <a:xfrm>
            <a:off x="834542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7" name="PersonHead"/>
          <p:cNvSpPr/>
          <p:nvPr/>
        </p:nvSpPr>
        <p:spPr>
          <a:xfrm>
            <a:off x="615452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8" name="PersonBody"/>
          <p:cNvSpPr/>
          <p:nvPr/>
        </p:nvSpPr>
        <p:spPr>
          <a:xfrm>
            <a:off x="612343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9" name="PersonHead"/>
          <p:cNvSpPr/>
          <p:nvPr/>
        </p:nvSpPr>
        <p:spPr>
          <a:xfrm>
            <a:off x="640141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0" name="PersonBody"/>
          <p:cNvSpPr/>
          <p:nvPr/>
        </p:nvSpPr>
        <p:spPr>
          <a:xfrm>
            <a:off x="637032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1" name="PersonHead"/>
          <p:cNvSpPr/>
          <p:nvPr/>
        </p:nvSpPr>
        <p:spPr>
          <a:xfrm>
            <a:off x="664829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2" name="PersonBody"/>
          <p:cNvSpPr/>
          <p:nvPr/>
        </p:nvSpPr>
        <p:spPr>
          <a:xfrm>
            <a:off x="661720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3" name="PersonHead"/>
          <p:cNvSpPr/>
          <p:nvPr/>
        </p:nvSpPr>
        <p:spPr>
          <a:xfrm>
            <a:off x="689518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4" name="PersonBody"/>
          <p:cNvSpPr/>
          <p:nvPr/>
        </p:nvSpPr>
        <p:spPr>
          <a:xfrm>
            <a:off x="686409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5" name="PersonHead"/>
          <p:cNvSpPr/>
          <p:nvPr/>
        </p:nvSpPr>
        <p:spPr>
          <a:xfrm>
            <a:off x="714207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6" name="PersonBody"/>
          <p:cNvSpPr/>
          <p:nvPr/>
        </p:nvSpPr>
        <p:spPr>
          <a:xfrm>
            <a:off x="711098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7" name="PersonHead"/>
          <p:cNvSpPr/>
          <p:nvPr/>
        </p:nvSpPr>
        <p:spPr>
          <a:xfrm>
            <a:off x="738896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8" name="PersonBody"/>
          <p:cNvSpPr/>
          <p:nvPr/>
        </p:nvSpPr>
        <p:spPr>
          <a:xfrm>
            <a:off x="735787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9" name="PersonHead"/>
          <p:cNvSpPr/>
          <p:nvPr/>
        </p:nvSpPr>
        <p:spPr>
          <a:xfrm>
            <a:off x="763585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0" name="PersonBody"/>
          <p:cNvSpPr/>
          <p:nvPr/>
        </p:nvSpPr>
        <p:spPr>
          <a:xfrm>
            <a:off x="760476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1" name="PersonHead"/>
          <p:cNvSpPr/>
          <p:nvPr/>
        </p:nvSpPr>
        <p:spPr>
          <a:xfrm>
            <a:off x="788273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2" name="PersonBody"/>
          <p:cNvSpPr/>
          <p:nvPr/>
        </p:nvSpPr>
        <p:spPr>
          <a:xfrm>
            <a:off x="785164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3" name="PersonHead"/>
          <p:cNvSpPr/>
          <p:nvPr/>
        </p:nvSpPr>
        <p:spPr>
          <a:xfrm>
            <a:off x="812962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4" name="PersonBody"/>
          <p:cNvSpPr/>
          <p:nvPr/>
        </p:nvSpPr>
        <p:spPr>
          <a:xfrm>
            <a:off x="809853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5" name="PersonHead"/>
          <p:cNvSpPr/>
          <p:nvPr/>
        </p:nvSpPr>
        <p:spPr>
          <a:xfrm>
            <a:off x="837651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6" name="PersonBody"/>
          <p:cNvSpPr/>
          <p:nvPr/>
        </p:nvSpPr>
        <p:spPr>
          <a:xfrm>
            <a:off x="834542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7" name="PersonHead"/>
          <p:cNvSpPr/>
          <p:nvPr/>
        </p:nvSpPr>
        <p:spPr>
          <a:xfrm>
            <a:off x="6154522" y="2994688"/>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8" name="PersonBody"/>
          <p:cNvSpPr/>
          <p:nvPr/>
        </p:nvSpPr>
        <p:spPr>
          <a:xfrm>
            <a:off x="6123432" y="3125264"/>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9" name="PersonHead"/>
          <p:cNvSpPr/>
          <p:nvPr/>
        </p:nvSpPr>
        <p:spPr>
          <a:xfrm>
            <a:off x="6401410"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0" name="PersonBody"/>
          <p:cNvSpPr/>
          <p:nvPr/>
        </p:nvSpPr>
        <p:spPr>
          <a:xfrm>
            <a:off x="6370320"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1" name="PersonHead"/>
          <p:cNvSpPr/>
          <p:nvPr/>
        </p:nvSpPr>
        <p:spPr>
          <a:xfrm>
            <a:off x="6648298"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2" name="PersonBody"/>
          <p:cNvSpPr/>
          <p:nvPr/>
        </p:nvSpPr>
        <p:spPr>
          <a:xfrm>
            <a:off x="6617208"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3" name="PersonHead"/>
          <p:cNvSpPr/>
          <p:nvPr/>
        </p:nvSpPr>
        <p:spPr>
          <a:xfrm>
            <a:off x="6895186"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4" name="PersonBody"/>
          <p:cNvSpPr/>
          <p:nvPr/>
        </p:nvSpPr>
        <p:spPr>
          <a:xfrm>
            <a:off x="6864096"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5" name="PersonHead"/>
          <p:cNvSpPr/>
          <p:nvPr/>
        </p:nvSpPr>
        <p:spPr>
          <a:xfrm>
            <a:off x="7142074"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6" name="PersonBody"/>
          <p:cNvSpPr/>
          <p:nvPr/>
        </p:nvSpPr>
        <p:spPr>
          <a:xfrm>
            <a:off x="7110984"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7" name="PersonHead"/>
          <p:cNvSpPr/>
          <p:nvPr/>
        </p:nvSpPr>
        <p:spPr>
          <a:xfrm>
            <a:off x="7388962"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8" name="PersonBody"/>
          <p:cNvSpPr/>
          <p:nvPr/>
        </p:nvSpPr>
        <p:spPr>
          <a:xfrm>
            <a:off x="7357872"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9" name="PersonHead"/>
          <p:cNvSpPr/>
          <p:nvPr/>
        </p:nvSpPr>
        <p:spPr>
          <a:xfrm>
            <a:off x="7635850"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0" name="PersonBody"/>
          <p:cNvSpPr/>
          <p:nvPr/>
        </p:nvSpPr>
        <p:spPr>
          <a:xfrm>
            <a:off x="7604760"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1" name="PersonHead"/>
          <p:cNvSpPr/>
          <p:nvPr/>
        </p:nvSpPr>
        <p:spPr>
          <a:xfrm>
            <a:off x="7882738"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2" name="PersonBody"/>
          <p:cNvSpPr/>
          <p:nvPr/>
        </p:nvSpPr>
        <p:spPr>
          <a:xfrm>
            <a:off x="7851648"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3" name="PersonHead"/>
          <p:cNvSpPr/>
          <p:nvPr/>
        </p:nvSpPr>
        <p:spPr>
          <a:xfrm>
            <a:off x="8129626"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4" name="PersonBody"/>
          <p:cNvSpPr/>
          <p:nvPr/>
        </p:nvSpPr>
        <p:spPr>
          <a:xfrm>
            <a:off x="8098536"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5" name="PersonHead"/>
          <p:cNvSpPr/>
          <p:nvPr/>
        </p:nvSpPr>
        <p:spPr>
          <a:xfrm>
            <a:off x="8376514"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6" name="PersonBody"/>
          <p:cNvSpPr/>
          <p:nvPr/>
        </p:nvSpPr>
        <p:spPr>
          <a:xfrm>
            <a:off x="8345424"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7" name="PersonHead"/>
          <p:cNvSpPr/>
          <p:nvPr/>
        </p:nvSpPr>
        <p:spPr>
          <a:xfrm>
            <a:off x="6154522"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8" name="PersonBody"/>
          <p:cNvSpPr/>
          <p:nvPr/>
        </p:nvSpPr>
        <p:spPr>
          <a:xfrm>
            <a:off x="6123432"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9" name="PersonHead"/>
          <p:cNvSpPr/>
          <p:nvPr/>
        </p:nvSpPr>
        <p:spPr>
          <a:xfrm>
            <a:off x="6401410"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0" name="PersonBody"/>
          <p:cNvSpPr/>
          <p:nvPr/>
        </p:nvSpPr>
        <p:spPr>
          <a:xfrm>
            <a:off x="6370320"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1" name="PersonHead"/>
          <p:cNvSpPr/>
          <p:nvPr/>
        </p:nvSpPr>
        <p:spPr>
          <a:xfrm>
            <a:off x="6648298"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2" name="PersonBody"/>
          <p:cNvSpPr/>
          <p:nvPr/>
        </p:nvSpPr>
        <p:spPr>
          <a:xfrm>
            <a:off x="6617208"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3" name="PersonHead"/>
          <p:cNvSpPr/>
          <p:nvPr/>
        </p:nvSpPr>
        <p:spPr>
          <a:xfrm>
            <a:off x="6895186"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4" name="PersonBody"/>
          <p:cNvSpPr/>
          <p:nvPr/>
        </p:nvSpPr>
        <p:spPr>
          <a:xfrm>
            <a:off x="6864096"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5" name="PersonHead"/>
          <p:cNvSpPr/>
          <p:nvPr/>
        </p:nvSpPr>
        <p:spPr>
          <a:xfrm>
            <a:off x="7142074"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6" name="PersonBody"/>
          <p:cNvSpPr/>
          <p:nvPr/>
        </p:nvSpPr>
        <p:spPr>
          <a:xfrm>
            <a:off x="7110984"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7" name="PersonHead"/>
          <p:cNvSpPr/>
          <p:nvPr/>
        </p:nvSpPr>
        <p:spPr>
          <a:xfrm>
            <a:off x="7388962"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8" name="PersonBody"/>
          <p:cNvSpPr/>
          <p:nvPr/>
        </p:nvSpPr>
        <p:spPr>
          <a:xfrm>
            <a:off x="7357872"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9" name="PersonHead"/>
          <p:cNvSpPr/>
          <p:nvPr/>
        </p:nvSpPr>
        <p:spPr>
          <a:xfrm>
            <a:off x="7635850"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0" name="PersonBody"/>
          <p:cNvSpPr/>
          <p:nvPr/>
        </p:nvSpPr>
        <p:spPr>
          <a:xfrm>
            <a:off x="7604760"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1" name="PersonHead"/>
          <p:cNvSpPr/>
          <p:nvPr/>
        </p:nvSpPr>
        <p:spPr>
          <a:xfrm>
            <a:off x="7882738"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2" name="PersonBody"/>
          <p:cNvSpPr/>
          <p:nvPr/>
        </p:nvSpPr>
        <p:spPr>
          <a:xfrm>
            <a:off x="7851648"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3" name="PersonHead"/>
          <p:cNvSpPr/>
          <p:nvPr/>
        </p:nvSpPr>
        <p:spPr>
          <a:xfrm>
            <a:off x="8129626"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4" name="PersonBody"/>
          <p:cNvSpPr/>
          <p:nvPr/>
        </p:nvSpPr>
        <p:spPr>
          <a:xfrm>
            <a:off x="8098536"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5" name="PersonHead"/>
          <p:cNvSpPr/>
          <p:nvPr/>
        </p:nvSpPr>
        <p:spPr>
          <a:xfrm>
            <a:off x="8376514"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6" name="PersonBody"/>
          <p:cNvSpPr/>
          <p:nvPr/>
        </p:nvSpPr>
        <p:spPr>
          <a:xfrm>
            <a:off x="8345424"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7" name="PersonHead"/>
          <p:cNvSpPr/>
          <p:nvPr/>
        </p:nvSpPr>
        <p:spPr>
          <a:xfrm>
            <a:off x="6154522"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8" name="PersonBody"/>
          <p:cNvSpPr/>
          <p:nvPr/>
        </p:nvSpPr>
        <p:spPr>
          <a:xfrm>
            <a:off x="6123432"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9" name="PersonHead"/>
          <p:cNvSpPr/>
          <p:nvPr/>
        </p:nvSpPr>
        <p:spPr>
          <a:xfrm>
            <a:off x="6401410"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0" name="PersonBody"/>
          <p:cNvSpPr/>
          <p:nvPr/>
        </p:nvSpPr>
        <p:spPr>
          <a:xfrm>
            <a:off x="6370320"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1" name="PersonHead"/>
          <p:cNvSpPr/>
          <p:nvPr/>
        </p:nvSpPr>
        <p:spPr>
          <a:xfrm>
            <a:off x="6648298"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2" name="PersonBody"/>
          <p:cNvSpPr/>
          <p:nvPr/>
        </p:nvSpPr>
        <p:spPr>
          <a:xfrm>
            <a:off x="6617208"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3" name="PersonHead"/>
          <p:cNvSpPr/>
          <p:nvPr/>
        </p:nvSpPr>
        <p:spPr>
          <a:xfrm>
            <a:off x="6895186"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4" name="PersonBody"/>
          <p:cNvSpPr/>
          <p:nvPr/>
        </p:nvSpPr>
        <p:spPr>
          <a:xfrm>
            <a:off x="6864096"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5" name="PersonHead"/>
          <p:cNvSpPr/>
          <p:nvPr/>
        </p:nvSpPr>
        <p:spPr>
          <a:xfrm>
            <a:off x="7142074"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6" name="PersonBody"/>
          <p:cNvSpPr/>
          <p:nvPr/>
        </p:nvSpPr>
        <p:spPr>
          <a:xfrm>
            <a:off x="7110984"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7" name="PersonHead"/>
          <p:cNvSpPr/>
          <p:nvPr/>
        </p:nvSpPr>
        <p:spPr>
          <a:xfrm>
            <a:off x="7388962"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8" name="PersonBody"/>
          <p:cNvSpPr/>
          <p:nvPr/>
        </p:nvSpPr>
        <p:spPr>
          <a:xfrm>
            <a:off x="7357872"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9" name="PersonHead"/>
          <p:cNvSpPr/>
          <p:nvPr/>
        </p:nvSpPr>
        <p:spPr>
          <a:xfrm>
            <a:off x="7635850"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0" name="PersonBody"/>
          <p:cNvSpPr/>
          <p:nvPr/>
        </p:nvSpPr>
        <p:spPr>
          <a:xfrm>
            <a:off x="7604760"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1" name="PersonHead"/>
          <p:cNvSpPr/>
          <p:nvPr/>
        </p:nvSpPr>
        <p:spPr>
          <a:xfrm>
            <a:off x="7882738"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2" name="PersonBody"/>
          <p:cNvSpPr/>
          <p:nvPr/>
        </p:nvSpPr>
        <p:spPr>
          <a:xfrm>
            <a:off x="7851648"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3" name="PersonHead"/>
          <p:cNvSpPr/>
          <p:nvPr/>
        </p:nvSpPr>
        <p:spPr>
          <a:xfrm>
            <a:off x="8129626"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4" name="PersonBody"/>
          <p:cNvSpPr/>
          <p:nvPr/>
        </p:nvSpPr>
        <p:spPr>
          <a:xfrm>
            <a:off x="8098536"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5" name="PersonHead"/>
          <p:cNvSpPr/>
          <p:nvPr/>
        </p:nvSpPr>
        <p:spPr>
          <a:xfrm>
            <a:off x="8376514"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6" name="PersonBody"/>
          <p:cNvSpPr/>
          <p:nvPr/>
        </p:nvSpPr>
        <p:spPr>
          <a:xfrm>
            <a:off x="8345424"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7" name="PersonHead"/>
          <p:cNvSpPr/>
          <p:nvPr/>
        </p:nvSpPr>
        <p:spPr>
          <a:xfrm>
            <a:off x="908060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18" name="PersonBody"/>
          <p:cNvSpPr/>
          <p:nvPr/>
        </p:nvSpPr>
        <p:spPr>
          <a:xfrm>
            <a:off x="904951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19" name="PersonHead"/>
          <p:cNvSpPr/>
          <p:nvPr/>
        </p:nvSpPr>
        <p:spPr>
          <a:xfrm>
            <a:off x="932749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0" name="PersonBody"/>
          <p:cNvSpPr/>
          <p:nvPr/>
        </p:nvSpPr>
        <p:spPr>
          <a:xfrm>
            <a:off x="929640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1" name="PersonHead"/>
          <p:cNvSpPr/>
          <p:nvPr/>
        </p:nvSpPr>
        <p:spPr>
          <a:xfrm>
            <a:off x="957437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2" name="PersonBody"/>
          <p:cNvSpPr/>
          <p:nvPr/>
        </p:nvSpPr>
        <p:spPr>
          <a:xfrm>
            <a:off x="954328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3" name="PersonHead"/>
          <p:cNvSpPr/>
          <p:nvPr/>
        </p:nvSpPr>
        <p:spPr>
          <a:xfrm>
            <a:off x="982126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4" name="PersonBody"/>
          <p:cNvSpPr/>
          <p:nvPr/>
        </p:nvSpPr>
        <p:spPr>
          <a:xfrm>
            <a:off x="979017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5" name="PersonHead"/>
          <p:cNvSpPr/>
          <p:nvPr/>
        </p:nvSpPr>
        <p:spPr>
          <a:xfrm>
            <a:off x="1006815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6" name="PersonBody"/>
          <p:cNvSpPr/>
          <p:nvPr/>
        </p:nvSpPr>
        <p:spPr>
          <a:xfrm>
            <a:off x="1003706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7" name="PersonHead"/>
          <p:cNvSpPr/>
          <p:nvPr/>
        </p:nvSpPr>
        <p:spPr>
          <a:xfrm>
            <a:off x="1031504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8" name="PersonBody"/>
          <p:cNvSpPr/>
          <p:nvPr/>
        </p:nvSpPr>
        <p:spPr>
          <a:xfrm>
            <a:off x="1028395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9" name="PersonHead"/>
          <p:cNvSpPr/>
          <p:nvPr/>
        </p:nvSpPr>
        <p:spPr>
          <a:xfrm>
            <a:off x="1056193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0" name="PersonBody"/>
          <p:cNvSpPr/>
          <p:nvPr/>
        </p:nvSpPr>
        <p:spPr>
          <a:xfrm>
            <a:off x="1053084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1" name="PersonHead"/>
          <p:cNvSpPr/>
          <p:nvPr/>
        </p:nvSpPr>
        <p:spPr>
          <a:xfrm>
            <a:off x="1080881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2" name="PersonBody"/>
          <p:cNvSpPr/>
          <p:nvPr/>
        </p:nvSpPr>
        <p:spPr>
          <a:xfrm>
            <a:off x="1077772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3" name="PersonHead"/>
          <p:cNvSpPr/>
          <p:nvPr/>
        </p:nvSpPr>
        <p:spPr>
          <a:xfrm>
            <a:off x="1105570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4" name="PersonBody"/>
          <p:cNvSpPr/>
          <p:nvPr/>
        </p:nvSpPr>
        <p:spPr>
          <a:xfrm>
            <a:off x="1102461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5" name="PersonHead"/>
          <p:cNvSpPr/>
          <p:nvPr/>
        </p:nvSpPr>
        <p:spPr>
          <a:xfrm>
            <a:off x="1130259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6" name="PersonBody"/>
          <p:cNvSpPr/>
          <p:nvPr/>
        </p:nvSpPr>
        <p:spPr>
          <a:xfrm>
            <a:off x="1127150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7" name="PersonHead"/>
          <p:cNvSpPr/>
          <p:nvPr/>
        </p:nvSpPr>
        <p:spPr>
          <a:xfrm>
            <a:off x="908060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8" name="PersonBody"/>
          <p:cNvSpPr/>
          <p:nvPr/>
        </p:nvSpPr>
        <p:spPr>
          <a:xfrm>
            <a:off x="904951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9" name="PersonHead"/>
          <p:cNvSpPr/>
          <p:nvPr/>
        </p:nvSpPr>
        <p:spPr>
          <a:xfrm>
            <a:off x="932749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0" name="PersonBody"/>
          <p:cNvSpPr/>
          <p:nvPr/>
        </p:nvSpPr>
        <p:spPr>
          <a:xfrm>
            <a:off x="929640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1" name="PersonHead"/>
          <p:cNvSpPr/>
          <p:nvPr/>
        </p:nvSpPr>
        <p:spPr>
          <a:xfrm>
            <a:off x="957437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2" name="PersonBody"/>
          <p:cNvSpPr/>
          <p:nvPr/>
        </p:nvSpPr>
        <p:spPr>
          <a:xfrm>
            <a:off x="954328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3" name="PersonHead"/>
          <p:cNvSpPr/>
          <p:nvPr/>
        </p:nvSpPr>
        <p:spPr>
          <a:xfrm>
            <a:off x="982126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4" name="PersonBody"/>
          <p:cNvSpPr/>
          <p:nvPr/>
        </p:nvSpPr>
        <p:spPr>
          <a:xfrm>
            <a:off x="979017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5" name="PersonHead"/>
          <p:cNvSpPr/>
          <p:nvPr/>
        </p:nvSpPr>
        <p:spPr>
          <a:xfrm>
            <a:off x="1006815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6" name="PersonBody"/>
          <p:cNvSpPr/>
          <p:nvPr/>
        </p:nvSpPr>
        <p:spPr>
          <a:xfrm>
            <a:off x="1003706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7" name="PersonHead"/>
          <p:cNvSpPr/>
          <p:nvPr/>
        </p:nvSpPr>
        <p:spPr>
          <a:xfrm>
            <a:off x="1031504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8" name="PersonBody"/>
          <p:cNvSpPr/>
          <p:nvPr/>
        </p:nvSpPr>
        <p:spPr>
          <a:xfrm>
            <a:off x="1028395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9" name="PersonHead"/>
          <p:cNvSpPr/>
          <p:nvPr/>
        </p:nvSpPr>
        <p:spPr>
          <a:xfrm>
            <a:off x="1056193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0" name="PersonBody"/>
          <p:cNvSpPr/>
          <p:nvPr/>
        </p:nvSpPr>
        <p:spPr>
          <a:xfrm>
            <a:off x="1053084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1" name="PersonHead"/>
          <p:cNvSpPr/>
          <p:nvPr/>
        </p:nvSpPr>
        <p:spPr>
          <a:xfrm>
            <a:off x="1080881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2" name="PersonBody"/>
          <p:cNvSpPr/>
          <p:nvPr/>
        </p:nvSpPr>
        <p:spPr>
          <a:xfrm>
            <a:off x="1077772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3" name="PersonHead"/>
          <p:cNvSpPr/>
          <p:nvPr/>
        </p:nvSpPr>
        <p:spPr>
          <a:xfrm>
            <a:off x="1105570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4" name="PersonBody"/>
          <p:cNvSpPr/>
          <p:nvPr/>
        </p:nvSpPr>
        <p:spPr>
          <a:xfrm>
            <a:off x="1102461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5" name="PersonHead"/>
          <p:cNvSpPr/>
          <p:nvPr/>
        </p:nvSpPr>
        <p:spPr>
          <a:xfrm>
            <a:off x="1130259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6" name="PersonBody"/>
          <p:cNvSpPr/>
          <p:nvPr/>
        </p:nvSpPr>
        <p:spPr>
          <a:xfrm>
            <a:off x="1127150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7" name="PersonHead"/>
          <p:cNvSpPr/>
          <p:nvPr/>
        </p:nvSpPr>
        <p:spPr>
          <a:xfrm>
            <a:off x="9080602" y="2994688"/>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8" name="PersonBody"/>
          <p:cNvSpPr/>
          <p:nvPr/>
        </p:nvSpPr>
        <p:spPr>
          <a:xfrm>
            <a:off x="9049512" y="3125264"/>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9" name="PersonHead"/>
          <p:cNvSpPr/>
          <p:nvPr/>
        </p:nvSpPr>
        <p:spPr>
          <a:xfrm>
            <a:off x="9327490"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0" name="PersonBody"/>
          <p:cNvSpPr/>
          <p:nvPr/>
        </p:nvSpPr>
        <p:spPr>
          <a:xfrm>
            <a:off x="9296400"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1" name="PersonHead"/>
          <p:cNvSpPr/>
          <p:nvPr/>
        </p:nvSpPr>
        <p:spPr>
          <a:xfrm>
            <a:off x="9574378"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2" name="PersonBody"/>
          <p:cNvSpPr/>
          <p:nvPr/>
        </p:nvSpPr>
        <p:spPr>
          <a:xfrm>
            <a:off x="9543288"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3" name="PersonHead"/>
          <p:cNvSpPr/>
          <p:nvPr/>
        </p:nvSpPr>
        <p:spPr>
          <a:xfrm>
            <a:off x="9821266"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4" name="PersonBody"/>
          <p:cNvSpPr/>
          <p:nvPr/>
        </p:nvSpPr>
        <p:spPr>
          <a:xfrm>
            <a:off x="9790176"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5" name="PersonHead"/>
          <p:cNvSpPr/>
          <p:nvPr/>
        </p:nvSpPr>
        <p:spPr>
          <a:xfrm>
            <a:off x="10068154"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6" name="PersonBody"/>
          <p:cNvSpPr/>
          <p:nvPr/>
        </p:nvSpPr>
        <p:spPr>
          <a:xfrm>
            <a:off x="10037064"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7" name="PersonHead"/>
          <p:cNvSpPr/>
          <p:nvPr/>
        </p:nvSpPr>
        <p:spPr>
          <a:xfrm>
            <a:off x="10315042"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8" name="PersonBody"/>
          <p:cNvSpPr/>
          <p:nvPr/>
        </p:nvSpPr>
        <p:spPr>
          <a:xfrm>
            <a:off x="10283952"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9" name="PersonHead"/>
          <p:cNvSpPr/>
          <p:nvPr/>
        </p:nvSpPr>
        <p:spPr>
          <a:xfrm>
            <a:off x="10561930"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0" name="PersonBody"/>
          <p:cNvSpPr/>
          <p:nvPr/>
        </p:nvSpPr>
        <p:spPr>
          <a:xfrm>
            <a:off x="10530840"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1" name="PersonHead"/>
          <p:cNvSpPr/>
          <p:nvPr/>
        </p:nvSpPr>
        <p:spPr>
          <a:xfrm>
            <a:off x="10808818"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2" name="PersonBody"/>
          <p:cNvSpPr/>
          <p:nvPr/>
        </p:nvSpPr>
        <p:spPr>
          <a:xfrm>
            <a:off x="10777728"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3" name="PersonHead"/>
          <p:cNvSpPr/>
          <p:nvPr/>
        </p:nvSpPr>
        <p:spPr>
          <a:xfrm>
            <a:off x="11055706"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4" name="PersonBody"/>
          <p:cNvSpPr/>
          <p:nvPr/>
        </p:nvSpPr>
        <p:spPr>
          <a:xfrm>
            <a:off x="11024616"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5" name="PersonHead"/>
          <p:cNvSpPr/>
          <p:nvPr/>
        </p:nvSpPr>
        <p:spPr>
          <a:xfrm>
            <a:off x="11302594"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6" name="PersonBody"/>
          <p:cNvSpPr/>
          <p:nvPr/>
        </p:nvSpPr>
        <p:spPr>
          <a:xfrm>
            <a:off x="11271504"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7" name="PersonHead"/>
          <p:cNvSpPr/>
          <p:nvPr/>
        </p:nvSpPr>
        <p:spPr>
          <a:xfrm>
            <a:off x="9080602"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8" name="PersonBody"/>
          <p:cNvSpPr/>
          <p:nvPr/>
        </p:nvSpPr>
        <p:spPr>
          <a:xfrm>
            <a:off x="9049512"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9" name="PersonHead"/>
          <p:cNvSpPr/>
          <p:nvPr/>
        </p:nvSpPr>
        <p:spPr>
          <a:xfrm>
            <a:off x="9327490"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0" name="PersonBody"/>
          <p:cNvSpPr/>
          <p:nvPr/>
        </p:nvSpPr>
        <p:spPr>
          <a:xfrm>
            <a:off x="9296400"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1" name="PersonHead"/>
          <p:cNvSpPr/>
          <p:nvPr/>
        </p:nvSpPr>
        <p:spPr>
          <a:xfrm>
            <a:off x="9574378"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2" name="PersonBody"/>
          <p:cNvSpPr/>
          <p:nvPr/>
        </p:nvSpPr>
        <p:spPr>
          <a:xfrm>
            <a:off x="9543288"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3" name="PersonHead"/>
          <p:cNvSpPr/>
          <p:nvPr/>
        </p:nvSpPr>
        <p:spPr>
          <a:xfrm>
            <a:off x="9821266"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4" name="PersonBody"/>
          <p:cNvSpPr/>
          <p:nvPr/>
        </p:nvSpPr>
        <p:spPr>
          <a:xfrm>
            <a:off x="9790176"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5" name="PersonHead"/>
          <p:cNvSpPr/>
          <p:nvPr/>
        </p:nvSpPr>
        <p:spPr>
          <a:xfrm>
            <a:off x="10068154"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6" name="PersonBody"/>
          <p:cNvSpPr/>
          <p:nvPr/>
        </p:nvSpPr>
        <p:spPr>
          <a:xfrm>
            <a:off x="10037064"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7" name="PersonHead"/>
          <p:cNvSpPr/>
          <p:nvPr/>
        </p:nvSpPr>
        <p:spPr>
          <a:xfrm>
            <a:off x="10315042"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8" name="PersonBody"/>
          <p:cNvSpPr/>
          <p:nvPr/>
        </p:nvSpPr>
        <p:spPr>
          <a:xfrm>
            <a:off x="10283952"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9" name="PersonHead"/>
          <p:cNvSpPr/>
          <p:nvPr/>
        </p:nvSpPr>
        <p:spPr>
          <a:xfrm>
            <a:off x="10561930"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0" name="PersonBody"/>
          <p:cNvSpPr/>
          <p:nvPr/>
        </p:nvSpPr>
        <p:spPr>
          <a:xfrm>
            <a:off x="10530840"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1" name="PersonHead"/>
          <p:cNvSpPr/>
          <p:nvPr/>
        </p:nvSpPr>
        <p:spPr>
          <a:xfrm>
            <a:off x="10808818"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2" name="PersonBody"/>
          <p:cNvSpPr/>
          <p:nvPr/>
        </p:nvSpPr>
        <p:spPr>
          <a:xfrm>
            <a:off x="10777728"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3" name="PersonHead"/>
          <p:cNvSpPr/>
          <p:nvPr/>
        </p:nvSpPr>
        <p:spPr>
          <a:xfrm>
            <a:off x="11055706"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4" name="PersonBody"/>
          <p:cNvSpPr/>
          <p:nvPr/>
        </p:nvSpPr>
        <p:spPr>
          <a:xfrm>
            <a:off x="11024616"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5" name="PersonHead"/>
          <p:cNvSpPr/>
          <p:nvPr/>
        </p:nvSpPr>
        <p:spPr>
          <a:xfrm>
            <a:off x="11302594"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6" name="PersonBody"/>
          <p:cNvSpPr/>
          <p:nvPr/>
        </p:nvSpPr>
        <p:spPr>
          <a:xfrm>
            <a:off x="11271504"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7" name="PersonHead"/>
          <p:cNvSpPr/>
          <p:nvPr/>
        </p:nvSpPr>
        <p:spPr>
          <a:xfrm>
            <a:off x="9080602"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8" name="PersonBody"/>
          <p:cNvSpPr/>
          <p:nvPr/>
        </p:nvSpPr>
        <p:spPr>
          <a:xfrm>
            <a:off x="9049512"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9" name="PersonHead"/>
          <p:cNvSpPr/>
          <p:nvPr/>
        </p:nvSpPr>
        <p:spPr>
          <a:xfrm>
            <a:off x="9327490"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0" name="PersonBody"/>
          <p:cNvSpPr/>
          <p:nvPr/>
        </p:nvSpPr>
        <p:spPr>
          <a:xfrm>
            <a:off x="9296400"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1" name="PersonHead"/>
          <p:cNvSpPr/>
          <p:nvPr/>
        </p:nvSpPr>
        <p:spPr>
          <a:xfrm>
            <a:off x="9574378"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2" name="PersonBody"/>
          <p:cNvSpPr/>
          <p:nvPr/>
        </p:nvSpPr>
        <p:spPr>
          <a:xfrm>
            <a:off x="9543288"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3" name="PersonHead"/>
          <p:cNvSpPr/>
          <p:nvPr/>
        </p:nvSpPr>
        <p:spPr>
          <a:xfrm>
            <a:off x="9821266"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4" name="PersonBody"/>
          <p:cNvSpPr/>
          <p:nvPr/>
        </p:nvSpPr>
        <p:spPr>
          <a:xfrm>
            <a:off x="9790176"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5" name="PersonHead"/>
          <p:cNvSpPr/>
          <p:nvPr/>
        </p:nvSpPr>
        <p:spPr>
          <a:xfrm>
            <a:off x="10068154"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6" name="PersonBody"/>
          <p:cNvSpPr/>
          <p:nvPr/>
        </p:nvSpPr>
        <p:spPr>
          <a:xfrm>
            <a:off x="10037064"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7" name="PersonHead"/>
          <p:cNvSpPr/>
          <p:nvPr/>
        </p:nvSpPr>
        <p:spPr>
          <a:xfrm>
            <a:off x="10315042"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8" name="PersonBody"/>
          <p:cNvSpPr/>
          <p:nvPr/>
        </p:nvSpPr>
        <p:spPr>
          <a:xfrm>
            <a:off x="10283952"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9" name="PersonHead"/>
          <p:cNvSpPr/>
          <p:nvPr/>
        </p:nvSpPr>
        <p:spPr>
          <a:xfrm>
            <a:off x="10561930"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0" name="PersonBody"/>
          <p:cNvSpPr/>
          <p:nvPr/>
        </p:nvSpPr>
        <p:spPr>
          <a:xfrm>
            <a:off x="10530840"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1" name="PersonHead"/>
          <p:cNvSpPr/>
          <p:nvPr/>
        </p:nvSpPr>
        <p:spPr>
          <a:xfrm>
            <a:off x="10808818"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2" name="PersonBody"/>
          <p:cNvSpPr/>
          <p:nvPr/>
        </p:nvSpPr>
        <p:spPr>
          <a:xfrm>
            <a:off x="10777728"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3" name="PersonHead"/>
          <p:cNvSpPr/>
          <p:nvPr/>
        </p:nvSpPr>
        <p:spPr>
          <a:xfrm>
            <a:off x="11055706"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4" name="PersonBody"/>
          <p:cNvSpPr/>
          <p:nvPr/>
        </p:nvSpPr>
        <p:spPr>
          <a:xfrm>
            <a:off x="11024616"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5" name="PersonHead"/>
          <p:cNvSpPr/>
          <p:nvPr/>
        </p:nvSpPr>
        <p:spPr>
          <a:xfrm>
            <a:off x="11302594"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6" name="PersonBody"/>
          <p:cNvSpPr/>
          <p:nvPr/>
        </p:nvSpPr>
        <p:spPr>
          <a:xfrm>
            <a:off x="11271504"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7" name="Text"/>
          <p:cNvSpPr/>
          <p:nvPr/>
        </p:nvSpPr>
        <p:spPr>
          <a:xfrm>
            <a:off x="5913120" y="4073680"/>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B23B2E"/>
                </a:solidFill>
                <a:latin typeface="Arial"/>
                <a:cs typeface="Arial"/>
              </a:rPr>
              <a:t>21/50 tử vong</a:t>
            </a:r>
          </a:p>
        </p:txBody>
      </p:sp>
      <p:sp>
        <p:nvSpPr>
          <p:cNvPr id="318" name="Text"/>
          <p:cNvSpPr/>
          <p:nvPr/>
        </p:nvSpPr>
        <p:spPr>
          <a:xfrm>
            <a:off x="8839200" y="4073680"/>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B23B2E"/>
                </a:solidFill>
                <a:latin typeface="Arial"/>
                <a:cs typeface="Arial"/>
              </a:rPr>
              <a:t>21/50 tử vong</a:t>
            </a:r>
          </a:p>
        </p:txBody>
      </p:sp>
      <p:sp>
        <p:nvSpPr>
          <p:cNvPr id="319" name="Text"/>
          <p:cNvSpPr/>
          <p:nvPr/>
        </p:nvSpPr>
        <p:spPr>
          <a:xfrm>
            <a:off x="5867400" y="4485160"/>
            <a:ext cx="5760720" cy="54864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Nhiều người bệnh, so sánh công bằng, đếm mọi kết cục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Kinh nghiệm gợi ra câu hỏi. So sánh công bằng trên nhiều người bệnh mới trả lời được.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Vì sao kinh nghiệm của một khoa là chưa đủ</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Số nhỏ dao động do ngẫu nhiên. So sánh lớn và công bằng mới ổn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Tháp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220000"/>
            <a:ext cx="3600000" cy="4030000"/>
          </a:xfrm>
          <a:prstGeom prst="rect">
            <a:avLst/>
          </a:prstGeom>
          <a:noFill/>
          <a:ln>
            <a:noFill/>
          </a:ln>
        </p:spPr>
        <p:txBody>
          <a:bodyPr wrap="square" lIns="91440" tIns="45720" rIns="91440" bIns="45720" rtlCol="0" anchor="ctr"/>
          <a:lstStyle/>
          <a:p>
            <a:pPr marL="0" indent="0" algn="l">
              <a:buNone/>
            </a:pPr>
            <a:r>
              <a:rPr lang="en-US" sz="1700" b="1" dirty="0">
                <a:solidFill>
                  <a:srgbClr val="0D7377"/>
                </a:solidFill>
                <a:latin typeface="Arial"/>
                <a:cs typeface="Arial"/>
              </a:rPr>
              <a:t>Cách đọc</a:t>
            </a:r>
          </a:p>
          <a:p>
            <a:pPr marL="274320" indent="-274320" algn="l">
              <a:spcBef>
                <a:spcPts val="440"/>
              </a:spcBef>
              <a:buFont typeface="Arial"/>
              <a:buChar char="•"/>
            </a:pPr>
            <a:r>
              <a:rPr lang="en-US" sz="1450" dirty="0">
                <a:solidFill>
                  <a:srgbClr val="000000"/>
                </a:solidFill>
                <a:latin typeface="Arial"/>
                <a:cs typeface="Arial"/>
              </a:rPr>
              <a:t>Càng lên cao, nguy cơ sai lệch càng thấp với câu hỏi về hiệu quả điều trị</a:t>
            </a:r>
          </a:p>
          <a:p>
            <a:pPr marL="274320" indent="-274320" algn="l">
              <a:spcBef>
                <a:spcPts val="440"/>
              </a:spcBef>
              <a:buFont typeface="Arial"/>
              <a:buChar char="•"/>
            </a:pPr>
            <a:r>
              <a:rPr lang="en-US" sz="1450" dirty="0">
                <a:solidFill>
                  <a:srgbClr val="000000"/>
                </a:solidFill>
                <a:latin typeface="Arial"/>
                <a:cs typeface="Arial"/>
              </a:rPr>
              <a:t>Thuần tập làm tốt có thể hơn thử nghiệm làm kém</a:t>
            </a:r>
          </a:p>
          <a:p>
            <a:pPr marL="274320" indent="-274320" algn="l">
              <a:spcBef>
                <a:spcPts val="440"/>
              </a:spcBef>
              <a:buFont typeface="Arial"/>
              <a:buChar char="•"/>
            </a:pPr>
            <a:r>
              <a:rPr lang="en-US" sz="1450" dirty="0">
                <a:solidFill>
                  <a:srgbClr val="000000"/>
                </a:solidFill>
                <a:latin typeface="Arial"/>
                <a:cs typeface="Arial"/>
              </a:rPr>
              <a:t>Câu hỏi mô tả không cần thử nghiệm</a:t>
            </a:r>
          </a:p>
        </p:txBody>
      </p:sp>
      <p:cxnSp>
        <p:nvCxnSpPr>
          <p:cNvPr id="100" name="Arrow"/>
          <p:cNvCxnSpPr/>
          <p:nvPr/>
        </p:nvCxnSpPr>
        <p:spPr>
          <a:xfrm flipV="1">
            <a:off x="4637720" y="1348768"/>
            <a:ext cx="0" cy="3730752"/>
          </a:xfrm>
          <a:prstGeom prst="straightConnector1">
            <a:avLst/>
          </a:prstGeom>
          <a:ln w="50800" cap="rnd">
            <a:solidFill>
              <a:srgbClr val="0D7377"/>
            </a:solidFill>
            <a:round/>
            <a:tailEnd type="triangle" w="med" len="med"/>
          </a:ln>
        </p:spPr>
      </p:cxnSp>
      <p:sp>
        <p:nvSpPr>
          <p:cNvPr id="101" name="Text"/>
          <p:cNvSpPr/>
          <p:nvPr/>
        </p:nvSpPr>
        <p:spPr>
          <a:xfrm>
            <a:off x="4774880" y="1513360"/>
            <a:ext cx="457200" cy="3474720"/>
          </a:xfrm>
          <a:prstGeom prst="rect">
            <a:avLst/>
          </a:prstGeom>
          <a:noFill/>
          <a:ln>
            <a:noFill/>
          </a:ln>
        </p:spPr>
        <p:txBody>
          <a:bodyPr wrap="square" lIns="54864" tIns="54864" rIns="54864" bIns="54864" rtlCol="0" anchor="ctr" vert="vert270">
            <a:noAutofit/>
          </a:bodyPr>
          <a:lstStyle/>
          <a:p>
            <a:pPr marL="0" indent="0" algn="ctr">
              <a:lnSpc>
                <a:spcPct val="100000"/>
              </a:lnSpc>
              <a:buNone/>
            </a:pPr>
            <a:r>
              <a:rPr lang="en-US" sz="1500" b="1" dirty="0">
                <a:solidFill>
                  <a:srgbClr val="0D7377"/>
                </a:solidFill>
                <a:latin typeface="Arial"/>
                <a:cs typeface="Arial"/>
              </a:rPr>
              <a:t>ít sai lệch hơn, tin cậy hơn</a:t>
            </a:r>
          </a:p>
        </p:txBody>
      </p:sp>
      <p:sp>
        <p:nvSpPr>
          <p:cNvPr id="102" name="Box"/>
          <p:cNvSpPr/>
          <p:nvPr/>
        </p:nvSpPr>
        <p:spPr>
          <a:xfrm>
            <a:off x="5369240" y="4549168"/>
            <a:ext cx="6309360" cy="603504"/>
          </a:xfrm>
          <a:prstGeom prst="trapezoid">
            <a:avLst>
              <a:gd name="adj" fmla="val 50000"/>
            </a:avLst>
          </a:prstGeom>
          <a:solidFill>
            <a:srgbClr val="8A99A3"/>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Ý kiến chuyên gia, báo cáo ca</a:t>
            </a:r>
          </a:p>
        </p:txBody>
      </p:sp>
      <p:sp>
        <p:nvSpPr>
          <p:cNvPr id="103" name="Box"/>
          <p:cNvSpPr/>
          <p:nvPr/>
        </p:nvSpPr>
        <p:spPr>
          <a:xfrm>
            <a:off x="5698424" y="3890800"/>
            <a:ext cx="5650992" cy="603504"/>
          </a:xfrm>
          <a:prstGeom prst="trapezoid">
            <a:avLst>
              <a:gd name="adj" fmla="val 50000"/>
            </a:avLst>
          </a:prstGeom>
          <a:solidFill>
            <a:srgbClr val="5FA39B"/>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Loạt ca, nghiên cứu cắt ngang</a:t>
            </a:r>
          </a:p>
        </p:txBody>
      </p:sp>
      <p:sp>
        <p:nvSpPr>
          <p:cNvPr id="104" name="Box"/>
          <p:cNvSpPr/>
          <p:nvPr/>
        </p:nvSpPr>
        <p:spPr>
          <a:xfrm>
            <a:off x="6027608" y="3232432"/>
            <a:ext cx="4992624" cy="603504"/>
          </a:xfrm>
          <a:prstGeom prst="trapezoid">
            <a:avLst>
              <a:gd name="adj" fmla="val 50000"/>
            </a:avLst>
          </a:prstGeom>
          <a:solidFill>
            <a:srgbClr val="0070C0"/>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Nghiên cứu bệnh-chứng</a:t>
            </a:r>
          </a:p>
        </p:txBody>
      </p:sp>
      <p:sp>
        <p:nvSpPr>
          <p:cNvPr id="105" name="Box"/>
          <p:cNvSpPr/>
          <p:nvPr/>
        </p:nvSpPr>
        <p:spPr>
          <a:xfrm>
            <a:off x="6356792" y="2574064"/>
            <a:ext cx="4334256" cy="603504"/>
          </a:xfrm>
          <a:prstGeom prst="trapezoid">
            <a:avLst>
              <a:gd name="adj" fmla="val 50000"/>
            </a:avLst>
          </a:prstGeom>
          <a:solidFill>
            <a:srgbClr val="0B376C"/>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Nghiên cứu thuần tập</a:t>
            </a:r>
          </a:p>
        </p:txBody>
      </p:sp>
      <p:sp>
        <p:nvSpPr>
          <p:cNvPr id="106" name="Box"/>
          <p:cNvSpPr/>
          <p:nvPr/>
        </p:nvSpPr>
        <p:spPr>
          <a:xfrm>
            <a:off x="6685976" y="1915696"/>
            <a:ext cx="3675888" cy="603504"/>
          </a:xfrm>
          <a:prstGeom prst="trapezoid">
            <a:avLst>
              <a:gd name="adj" fmla="val 50000"/>
            </a:avLst>
          </a:prstGeom>
          <a:solidFill>
            <a:srgbClr val="0D7377"/>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Thử nghiệm ngẫu nhiên</a:t>
            </a:r>
          </a:p>
          <a:p>
            <a:pPr marL="0" indent="0" algn="ctr">
              <a:lnSpc>
                <a:spcPct val="100000"/>
              </a:lnSpc>
              <a:spcBef>
                <a:spcPts val="300"/>
              </a:spcBef>
              <a:buNone/>
            </a:pPr>
            <a:r>
              <a:rPr lang="en-US" sz="1500" b="1" dirty="0">
                <a:solidFill>
                  <a:srgbClr val="FFFFFF"/>
                </a:solidFill>
                <a:latin typeface="Arial"/>
                <a:cs typeface="Arial"/>
              </a:rPr>
              <a:t>có đối chứng</a:t>
            </a:r>
          </a:p>
        </p:txBody>
      </p:sp>
      <p:sp>
        <p:nvSpPr>
          <p:cNvPr id="107" name="Box"/>
          <p:cNvSpPr/>
          <p:nvPr/>
        </p:nvSpPr>
        <p:spPr>
          <a:xfrm>
            <a:off x="7015160" y="1257328"/>
            <a:ext cx="3017520" cy="603504"/>
          </a:xfrm>
          <a:prstGeom prst="trapezoid">
            <a:avLst>
              <a:gd name="adj" fmla="val 50000"/>
            </a:avLst>
          </a:prstGeom>
          <a:solidFill>
            <a:srgbClr val="055F56"/>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Tổng quan hệ thống</a:t>
            </a:r>
          </a:p>
          <a:p>
            <a:pPr marL="0" indent="0" algn="ctr">
              <a:lnSpc>
                <a:spcPct val="100000"/>
              </a:lnSpc>
              <a:spcBef>
                <a:spcPts val="300"/>
              </a:spcBef>
              <a:buNone/>
            </a:pPr>
            <a:r>
              <a:rPr lang="en-US" sz="1500" b="1" dirty="0">
                <a:solidFill>
                  <a:srgbClr val="FFFFFF"/>
                </a:solidFill>
                <a:latin typeface="Arial"/>
                <a:cs typeface="Arial"/>
              </a:rPr>
              <a:t>và phân tích gộp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Tháp xếp hạng thiết kế, không xếp hạng từng bài báo: vẫn phải kiểm tra chất lượng.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nhanh: xếp hạng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hỏi: hạn chế dịch có làm giảm tử vong trong sốc nhiễm khuẩn không?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một đồng nghiệp lâu năm: '20 năm nay, người bệnh tôi truyền ít dịch đều hồi phục tốt hơn'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một sổ đăng ký theo dõi hàng nghìn người bệnh ICU (thuần tập)</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một thử nghiệm phân bổ ngẫu nhiên 1554 người bệnh vào nhóm hạn chế dịch hoặc dịch thường quy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 một tổng quan hệ thống gộp mọi thử nghiệm về hạn chế dịch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Bình chọn: thứ tự nào đi từ yếu nhất đến mạnh nhất?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Các lựa chọn</a:t>
            </a:r>
          </a:p>
          <a:p>
            <a:pPr marL="0" indent="0" algn="ctr">
              <a:lnSpc>
                <a:spcPct val="104000"/>
              </a:lnSpc>
              <a:spcBef>
                <a:spcPts val="300"/>
              </a:spcBef>
              <a:buNone/>
            </a:pPr>
            <a:r>
              <a:rPr lang="en-US" sz="1500" dirty="0">
                <a:solidFill>
                  <a:srgbClr val="000000"/>
                </a:solidFill>
                <a:latin typeface="Arial"/>
                <a:cs typeface="Arial"/>
              </a:rPr>
              <a:t>A, B, C, D</a:t>
            </a:r>
          </a:p>
          <a:p>
            <a:pPr marL="0" indent="0" algn="ctr">
              <a:lnSpc>
                <a:spcPct val="104000"/>
              </a:lnSpc>
              <a:spcBef>
                <a:spcPts val="300"/>
              </a:spcBef>
              <a:buNone/>
            </a:pPr>
            <a:r>
              <a:rPr lang="en-US" sz="1500" dirty="0">
                <a:solidFill>
                  <a:srgbClr val="000000"/>
                </a:solidFill>
                <a:latin typeface="Arial"/>
                <a:cs typeface="Arial"/>
              </a:rPr>
              <a:t>B, A, C, D</a:t>
            </a:r>
          </a:p>
          <a:p>
            <a:pPr marL="0" indent="0" algn="ctr">
              <a:lnSpc>
                <a:spcPct val="104000"/>
              </a:lnSpc>
              <a:spcBef>
                <a:spcPts val="300"/>
              </a:spcBef>
              <a:buNone/>
            </a:pPr>
            <a:r>
              <a:rPr lang="en-US" sz="1500" dirty="0">
                <a:solidFill>
                  <a:srgbClr val="000000"/>
                </a:solidFill>
                <a:latin typeface="Arial"/>
                <a:cs typeface="Arial"/>
              </a:rPr>
              <a:t>A, C, B, D</a:t>
            </a:r>
          </a:p>
          <a:p>
            <a:pPr marL="0" indent="0" algn="ctr">
              <a:lnSpc>
                <a:spcPct val="104000"/>
              </a:lnSpc>
              <a:spcBef>
                <a:spcPts val="300"/>
              </a:spcBef>
              <a:buNone/>
            </a:pPr>
            <a:r>
              <a:rPr lang="en-US" sz="1500" dirty="0">
                <a:solidFill>
                  <a:srgbClr val="000000"/>
                </a:solidFill>
                <a:latin typeface="Arial"/>
                <a:cs typeface="Arial"/>
              </a:rPr>
              <a:t>D, C, B, A</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Kết quả bình chọn, rồi hỏi: điều gì có thể làm C yếu hơn B?</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bài báo cả lớp cùng đọc trong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Cả hai đều truy cập mở. Bạn nhận hai tệp PDF qua email trước Buổi 1.</a:t>
            </a:r>
          </a:p>
        </p:txBody>
      </p:sp>
      <p:sp>
        <p:nvSpPr>
          <p:cNvPr id="70" name="CardHead"/>
          <p:cNvSpPr/>
          <p:nvPr/>
        </p:nvSpPr>
        <p:spPr>
          <a:xfrm>
            <a:off x="457200" y="1909015"/>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báo 1: Boulet 2024, thử nghiệm</a:t>
            </a:r>
          </a:p>
        </p:txBody>
      </p:sp>
      <p:sp>
        <p:nvSpPr>
          <p:cNvPr id="71" name="CardBody"/>
          <p:cNvSpPr/>
          <p:nvPr/>
        </p:nvSpPr>
        <p:spPr>
          <a:xfrm>
            <a:off x="457200" y="2549015"/>
            <a:ext cx="5538800" cy="22029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b="1" dirty="0">
                <a:solidFill>
                  <a:srgbClr val="000000"/>
                </a:solidFill>
                <a:latin typeface="Arial"/>
                <a:cs typeface="Arial"/>
              </a:rPr>
              <a:t>Boulet N, et al. Crit Care 2024;28:429</a:t>
            </a:r>
          </a:p>
          <a:p>
            <a:pPr marL="0" indent="0" algn="ctr">
              <a:lnSpc>
                <a:spcPct val="104000"/>
              </a:lnSpc>
              <a:spcBef>
                <a:spcPts val="400"/>
              </a:spcBef>
              <a:buNone/>
            </a:pPr>
            <a:r>
              <a:rPr lang="en-US" sz="1500" i="1" dirty="0">
                <a:solidFill>
                  <a:srgbClr val="000000"/>
                </a:solidFill>
                <a:latin typeface="Arial"/>
                <a:cs typeface="Arial"/>
              </a:rPr>
              <a:t>Impact on fluid balance of an optimized restrictive strategy targeting non-resuscitative fluids in intensive care patients with septic shock</a:t>
            </a:r>
          </a:p>
          <a:p>
            <a:pPr marL="0" indent="0" algn="ctr">
              <a:lnSpc>
                <a:spcPct val="104000"/>
              </a:lnSpc>
              <a:spcBef>
                <a:spcPts val="400"/>
              </a:spcBef>
              <a:buNone/>
            </a:pPr>
            <a:r>
              <a:rPr lang="en-US" sz="1500" dirty="0">
                <a:solidFill>
                  <a:srgbClr val="000000"/>
                </a:solidFill>
                <a:latin typeface="Arial"/>
                <a:cs typeface="Arial"/>
              </a:rPr>
              <a:t>Thử nghiệm ngẫu nhiên có đối chứng (RCT) thí điểm (pilot), 48 người bệnh</a:t>
            </a:r>
          </a:p>
          <a:p>
            <a:pPr marL="0" indent="0" algn="ctr">
              <a:lnSpc>
                <a:spcPct val="104000"/>
              </a:lnSpc>
              <a:spcBef>
                <a:spcPts val="400"/>
              </a:spcBef>
              <a:buNone/>
            </a:pPr>
            <a:r>
              <a:rPr lang="en-US" sz="1500" dirty="0">
                <a:solidFill>
                  <a:srgbClr val="000000"/>
                </a:solidFill>
                <a:latin typeface="Arial"/>
                <a:cs typeface="Arial"/>
              </a:rPr>
              <a:t>Kết cục chính: cân bằng dịch ngày 5</a:t>
            </a:r>
          </a:p>
        </p:txBody>
      </p:sp>
      <p:sp>
        <p:nvSpPr>
          <p:cNvPr id="72" name="CardHead"/>
          <p:cNvSpPr/>
          <p:nvPr/>
        </p:nvSpPr>
        <p:spPr>
          <a:xfrm>
            <a:off x="6196000" y="1909015"/>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báo 2: Hyun 2023, thuần tập</a:t>
            </a:r>
          </a:p>
        </p:txBody>
      </p:sp>
      <p:sp>
        <p:nvSpPr>
          <p:cNvPr id="73" name="CardBody"/>
          <p:cNvSpPr/>
          <p:nvPr/>
        </p:nvSpPr>
        <p:spPr>
          <a:xfrm>
            <a:off x="6196000" y="2549015"/>
            <a:ext cx="5538800" cy="22029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b="1" dirty="0">
                <a:solidFill>
                  <a:srgbClr val="000000"/>
                </a:solidFill>
                <a:latin typeface="Arial"/>
                <a:cs typeface="Arial"/>
              </a:rPr>
              <a:t>Hyun DG, et al. Ann Intensive Care 2023;13:105</a:t>
            </a:r>
          </a:p>
          <a:p>
            <a:pPr marL="0" indent="0" algn="ctr">
              <a:lnSpc>
                <a:spcPct val="104000"/>
              </a:lnSpc>
              <a:spcBef>
                <a:spcPts val="400"/>
              </a:spcBef>
              <a:buNone/>
            </a:pPr>
            <a:r>
              <a:rPr lang="en-US" sz="1500" i="1" dirty="0">
                <a:solidFill>
                  <a:srgbClr val="000000"/>
                </a:solidFill>
                <a:latin typeface="Arial"/>
                <a:cs typeface="Arial"/>
              </a:rPr>
              <a:t>Impact of a cumulative positive fluid balance during the first three ICU days in patients with sepsis</a:t>
            </a:r>
          </a:p>
          <a:p>
            <a:pPr marL="0" indent="0" algn="ctr">
              <a:lnSpc>
                <a:spcPct val="104000"/>
              </a:lnSpc>
              <a:spcBef>
                <a:spcPts val="400"/>
              </a:spcBef>
              <a:buNone/>
            </a:pPr>
            <a:r>
              <a:rPr lang="en-US" sz="1500" dirty="0">
                <a:solidFill>
                  <a:srgbClr val="000000"/>
                </a:solidFill>
                <a:latin typeface="Arial"/>
                <a:cs typeface="Arial"/>
              </a:rPr>
              <a:t>Nghiên cứu thuần tập từ sổ đăng ký nhiễm khuẩn huyết Hàn Quốc</a:t>
            </a:r>
          </a:p>
          <a:p>
            <a:pPr marL="0" indent="0" algn="ctr">
              <a:lnSpc>
                <a:spcPct val="104000"/>
              </a:lnSpc>
              <a:spcBef>
                <a:spcPts val="400"/>
              </a:spcBef>
              <a:buNone/>
            </a:pPr>
            <a:r>
              <a:rPr lang="en-US" sz="1500" dirty="0">
                <a:solidFill>
                  <a:srgbClr val="000000"/>
                </a:solidFill>
                <a:latin typeface="Arial"/>
                <a:cs typeface="Arial"/>
              </a:rPr>
              <a:t>Kết cục chính: tử vong đến ngày 28</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Bài báo 1 là thử nghiệm, Bài báo 2 là thuần tập. Cả hai nghiên cứu dịch truyền trong nhiễm khuẩn huyết.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Chu trình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998720" y="1257328"/>
            <a:ext cx="2194560" cy="749808"/>
          </a:xfrm>
          <a:prstGeom prst="roundRect">
            <a:avLst>
              <a:gd name="adj" fmla="val 1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Vấn đề lâm sàng</a:t>
            </a:r>
          </a:p>
        </p:txBody>
      </p:sp>
      <p:sp>
        <p:nvSpPr>
          <p:cNvPr id="101" name="Box"/>
          <p:cNvSpPr/>
          <p:nvPr/>
        </p:nvSpPr>
        <p:spPr>
          <a:xfrm>
            <a:off x="8069968" y="1717981"/>
            <a:ext cx="2194560" cy="749808"/>
          </a:xfrm>
          <a:prstGeom prst="roundRect">
            <a:avLst>
              <a:gd name="adj" fmla="val 1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Câu hỏi nghiên cứu (PICO)</a:t>
            </a:r>
          </a:p>
        </p:txBody>
      </p:sp>
      <p:sp>
        <p:nvSpPr>
          <p:cNvPr id="102" name="Box"/>
          <p:cNvSpPr/>
          <p:nvPr/>
        </p:nvSpPr>
        <p:spPr>
          <a:xfrm>
            <a:off x="9342120" y="2830096"/>
            <a:ext cx="2194560" cy="749808"/>
          </a:xfrm>
          <a:prstGeom prst="roundRect">
            <a:avLst>
              <a:gd name="adj" fmla="val 1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Tìm y văn</a:t>
            </a:r>
          </a:p>
        </p:txBody>
      </p:sp>
      <p:sp>
        <p:nvSpPr>
          <p:cNvPr id="103" name="Box"/>
          <p:cNvSpPr/>
          <p:nvPr/>
        </p:nvSpPr>
        <p:spPr>
          <a:xfrm>
            <a:off x="8069968" y="3942211"/>
            <a:ext cx="2194560" cy="749808"/>
          </a:xfrm>
          <a:prstGeom prst="roundRect">
            <a:avLst>
              <a:gd name="adj" fmla="val 18000"/>
            </a:avLst>
          </a:prstGeom>
          <a:solidFill>
            <a:srgbClr val="0B376C"/>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Thiết kế và đề cương</a:t>
            </a:r>
          </a:p>
        </p:txBody>
      </p:sp>
      <p:sp>
        <p:nvSpPr>
          <p:cNvPr id="104" name="Box"/>
          <p:cNvSpPr/>
          <p:nvPr/>
        </p:nvSpPr>
        <p:spPr>
          <a:xfrm>
            <a:off x="4998720" y="4402864"/>
            <a:ext cx="2194560" cy="749808"/>
          </a:xfrm>
          <a:prstGeom prst="roundRect">
            <a:avLst>
              <a:gd name="adj" fmla="val 18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Phê duyệt đạo đức</a:t>
            </a:r>
          </a:p>
        </p:txBody>
      </p:sp>
      <p:sp>
        <p:nvSpPr>
          <p:cNvPr id="105" name="Box"/>
          <p:cNvSpPr/>
          <p:nvPr/>
        </p:nvSpPr>
        <p:spPr>
          <a:xfrm>
            <a:off x="1927472" y="3942211"/>
            <a:ext cx="2194560" cy="749808"/>
          </a:xfrm>
          <a:prstGeom prst="roundRect">
            <a:avLst>
              <a:gd name="adj" fmla="val 18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Thu thập dữ liệu</a:t>
            </a:r>
          </a:p>
        </p:txBody>
      </p:sp>
      <p:sp>
        <p:nvSpPr>
          <p:cNvPr id="106" name="Box"/>
          <p:cNvSpPr/>
          <p:nvPr/>
        </p:nvSpPr>
        <p:spPr>
          <a:xfrm>
            <a:off x="655320" y="2830096"/>
            <a:ext cx="2194560" cy="749808"/>
          </a:xfrm>
          <a:prstGeom prst="roundRect">
            <a:avLst>
              <a:gd name="adj" fmla="val 18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Phân tích, diễn giải</a:t>
            </a:r>
          </a:p>
        </p:txBody>
      </p:sp>
      <p:sp>
        <p:nvSpPr>
          <p:cNvPr id="107" name="Box"/>
          <p:cNvSpPr/>
          <p:nvPr/>
        </p:nvSpPr>
        <p:spPr>
          <a:xfrm>
            <a:off x="1927472" y="1717981"/>
            <a:ext cx="2194560" cy="749808"/>
          </a:xfrm>
          <a:prstGeom prst="roundRect">
            <a:avLst>
              <a:gd name="adj" fmla="val 18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Công bố và</a:t>
            </a:r>
          </a:p>
          <a:p>
            <a:pPr marL="0" indent="0" algn="ctr">
              <a:lnSpc>
                <a:spcPct val="100000"/>
              </a:lnSpc>
              <a:spcBef>
                <a:spcPts val="300"/>
              </a:spcBef>
              <a:buNone/>
            </a:pPr>
            <a:r>
              <a:rPr lang="en-US" sz="1600" b="1" dirty="0">
                <a:solidFill>
                  <a:srgbClr val="FFFFFF"/>
                </a:solidFill>
                <a:latin typeface="Arial"/>
                <a:cs typeface="Arial"/>
              </a:rPr>
              <a:t>thay đổi thực hành</a:t>
            </a:r>
          </a:p>
        </p:txBody>
      </p:sp>
      <p:cxnSp>
        <p:nvCxnSpPr>
          <p:cNvPr id="108" name="Arrow"/>
          <p:cNvCxnSpPr/>
          <p:nvPr/>
        </p:nvCxnSpPr>
        <p:spPr>
          <a:xfrm>
            <a:off x="7265623" y="1807662"/>
            <a:ext cx="732002" cy="109792"/>
          </a:xfrm>
          <a:prstGeom prst="straightConnector1">
            <a:avLst/>
          </a:prstGeom>
          <a:ln w="31750" cap="rnd">
            <a:solidFill>
              <a:srgbClr val="8A99A3"/>
            </a:solidFill>
            <a:round/>
            <a:tailEnd type="triangle" w="med" len="med"/>
          </a:ln>
        </p:spPr>
      </p:cxnSp>
      <p:cxnSp>
        <p:nvCxnSpPr>
          <p:cNvPr id="109" name="Arrow"/>
          <p:cNvCxnSpPr/>
          <p:nvPr/>
        </p:nvCxnSpPr>
        <p:spPr>
          <a:xfrm>
            <a:off x="9651176" y="2515935"/>
            <a:ext cx="304296" cy="266015"/>
          </a:xfrm>
          <a:prstGeom prst="straightConnector1">
            <a:avLst/>
          </a:prstGeom>
          <a:ln w="31750" cap="rnd">
            <a:solidFill>
              <a:srgbClr val="8A99A3"/>
            </a:solidFill>
            <a:round/>
            <a:tailEnd type="triangle" w="med" len="med"/>
          </a:ln>
        </p:spPr>
      </p:cxnSp>
      <p:cxnSp>
        <p:nvCxnSpPr>
          <p:cNvPr id="110" name="Arrow"/>
          <p:cNvCxnSpPr/>
          <p:nvPr/>
        </p:nvCxnSpPr>
        <p:spPr>
          <a:xfrm flipH="1">
            <a:off x="9651176" y="3628050"/>
            <a:ext cx="304296" cy="266015"/>
          </a:xfrm>
          <a:prstGeom prst="straightConnector1">
            <a:avLst/>
          </a:prstGeom>
          <a:ln w="31750" cap="rnd">
            <a:solidFill>
              <a:srgbClr val="8A99A3"/>
            </a:solidFill>
            <a:round/>
            <a:tailEnd type="triangle" w="med" len="med"/>
          </a:ln>
        </p:spPr>
      </p:cxnSp>
      <p:cxnSp>
        <p:nvCxnSpPr>
          <p:cNvPr id="111" name="Arrow"/>
          <p:cNvCxnSpPr/>
          <p:nvPr/>
        </p:nvCxnSpPr>
        <p:spPr>
          <a:xfrm flipH="1">
            <a:off x="7265623" y="4492545"/>
            <a:ext cx="732002" cy="109792"/>
          </a:xfrm>
          <a:prstGeom prst="straightConnector1">
            <a:avLst/>
          </a:prstGeom>
          <a:ln w="31750" cap="rnd">
            <a:solidFill>
              <a:srgbClr val="8A99A3"/>
            </a:solidFill>
            <a:round/>
            <a:tailEnd type="triangle" w="med" len="med"/>
          </a:ln>
        </p:spPr>
      </p:cxnSp>
      <p:cxnSp>
        <p:nvCxnSpPr>
          <p:cNvPr id="112" name="Arrow"/>
          <p:cNvCxnSpPr/>
          <p:nvPr/>
        </p:nvCxnSpPr>
        <p:spPr>
          <a:xfrm flipH="1" flipV="1">
            <a:off x="4194375" y="4492545"/>
            <a:ext cx="732002" cy="109792"/>
          </a:xfrm>
          <a:prstGeom prst="straightConnector1">
            <a:avLst/>
          </a:prstGeom>
          <a:ln w="31750" cap="rnd">
            <a:solidFill>
              <a:srgbClr val="8A99A3"/>
            </a:solidFill>
            <a:round/>
            <a:tailEnd type="triangle" w="med" len="med"/>
          </a:ln>
        </p:spPr>
      </p:cxnSp>
      <p:cxnSp>
        <p:nvCxnSpPr>
          <p:cNvPr id="113" name="Arrow"/>
          <p:cNvCxnSpPr/>
          <p:nvPr/>
        </p:nvCxnSpPr>
        <p:spPr>
          <a:xfrm flipH="1" flipV="1">
            <a:off x="2236528" y="3628050"/>
            <a:ext cx="304296" cy="266015"/>
          </a:xfrm>
          <a:prstGeom prst="straightConnector1">
            <a:avLst/>
          </a:prstGeom>
          <a:ln w="31750" cap="rnd">
            <a:solidFill>
              <a:srgbClr val="8A99A3"/>
            </a:solidFill>
            <a:round/>
            <a:tailEnd type="triangle" w="med" len="med"/>
          </a:ln>
        </p:spPr>
      </p:cxnSp>
      <p:cxnSp>
        <p:nvCxnSpPr>
          <p:cNvPr id="114" name="Arrow"/>
          <p:cNvCxnSpPr/>
          <p:nvPr/>
        </p:nvCxnSpPr>
        <p:spPr>
          <a:xfrm flipV="1">
            <a:off x="2236528" y="2515935"/>
            <a:ext cx="304296" cy="266015"/>
          </a:xfrm>
          <a:prstGeom prst="straightConnector1">
            <a:avLst/>
          </a:prstGeom>
          <a:ln w="31750" cap="rnd">
            <a:solidFill>
              <a:srgbClr val="8A99A3"/>
            </a:solidFill>
            <a:round/>
            <a:tailEnd type="triangle" w="med" len="med"/>
          </a:ln>
        </p:spPr>
      </p:cxnSp>
      <p:cxnSp>
        <p:nvCxnSpPr>
          <p:cNvPr id="115" name="Arrow"/>
          <p:cNvCxnSpPr/>
          <p:nvPr/>
        </p:nvCxnSpPr>
        <p:spPr>
          <a:xfrm flipV="1">
            <a:off x="4194375" y="1807662"/>
            <a:ext cx="732002" cy="109792"/>
          </a:xfrm>
          <a:prstGeom prst="straightConnector1">
            <a:avLst/>
          </a:prstGeom>
          <a:ln w="31750" cap="rnd">
            <a:solidFill>
              <a:srgbClr val="8A99A3"/>
            </a:solidFill>
            <a:round/>
            <a:tailEnd type="triangle" w="med" len="med"/>
          </a:ln>
        </p:spPr>
      </p:cxnSp>
      <p:sp>
        <p:nvSpPr>
          <p:cNvPr id="116" name="Text"/>
          <p:cNvSpPr/>
          <p:nvPr/>
        </p:nvSpPr>
        <p:spPr>
          <a:xfrm>
            <a:off x="4358640" y="2564920"/>
            <a:ext cx="3474720" cy="12801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000" b="1" dirty="0">
                <a:solidFill>
                  <a:srgbClr val="0D7377"/>
                </a:solidFill>
                <a:latin typeface="Arial"/>
                <a:cs typeface="Arial"/>
              </a:rPr>
              <a:t>Tuần 1-2</a:t>
            </a:r>
          </a:p>
          <a:p>
            <a:pPr marL="0" indent="0" algn="ctr">
              <a:lnSpc>
                <a:spcPct val="100000"/>
              </a:lnSpc>
              <a:spcBef>
                <a:spcPts val="300"/>
              </a:spcBef>
              <a:buNone/>
            </a:pPr>
            <a:r>
              <a:rPr lang="en-US" sz="1600" dirty="0">
                <a:solidFill>
                  <a:srgbClr val="1A1A1A"/>
                </a:solidFill>
                <a:latin typeface="Arial"/>
                <a:cs typeface="Arial"/>
              </a:rPr>
              <a:t>vấn đề, câu hỏi, tìm y văn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Nghiên cứu là một chu trình: kết quả công bố thay đổi thực hành và gợi ra câu hỏi mới.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quyết định loại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76186"/>
          <a:ext cx="11277600" cy="4021440"/>
        </p:xfrm>
        <a:graphic>
          <a:graphicData uri="http://schemas.openxmlformats.org/drawingml/2006/table">
            <a:tbl>
              <a:tblPr firstRow="1" bandRow="1">
                <a:tableStyleId>{5C22544A-7EE6-4342-B048-85BDC9FD1C3A}</a:tableStyleId>
              </a:tblPr>
              <a:tblGrid>
                <a:gridCol w="2631440"/>
                <a:gridCol w="4636346"/>
                <a:gridCol w="4009814"/>
              </a:tblGrid>
              <a:tr h="416240">
                <a:tc>
                  <a:txBody>
                    <a:bodyPr/>
                    <a:lstStyle/>
                    <a:p>
                      <a:pPr algn="l"/>
                      <a:r>
                        <a:rPr lang="en-US" sz="2000" b="1" dirty="0">
                          <a:solidFill>
                            <a:srgbClr val="FFFFFF"/>
                          </a:solidFill>
                          <a:latin typeface="Arial"/>
                          <a:cs typeface="Arial"/>
                        </a:rPr>
                        <a:t>Loại nghiên cứu</a:t>
                      </a:r>
                    </a:p>
                  </a:txBody>
                  <a:tcPr marL="73152" marR="73152" marT="45720" marB="45720" anchor="ctr">
                    <a:solidFill>
                      <a:srgbClr val="0D7377"/>
                    </a:solidFill>
                  </a:tcPr>
                </a:tc>
                <a:tc>
                  <a:txBody>
                    <a:bodyPr/>
                    <a:lstStyle/>
                    <a:p>
                      <a:pPr algn="l"/>
                      <a:r>
                        <a:rPr lang="en-US" sz="2000" b="1" dirty="0">
                          <a:solidFill>
                            <a:srgbClr val="FFFFFF"/>
                          </a:solidFill>
                          <a:latin typeface="Arial"/>
                          <a:cs typeface="Arial"/>
                        </a:rPr>
                        <a:t>Cho biết điều gì</a:t>
                      </a:r>
                    </a:p>
                  </a:txBody>
                  <a:tcPr marL="73152" marR="73152" marT="45720" marB="45720" anchor="ctr">
                    <a:solidFill>
                      <a:srgbClr val="0D7377"/>
                    </a:solidFill>
                  </a:tcPr>
                </a:tc>
                <a:tc>
                  <a:txBody>
                    <a:bodyPr/>
                    <a:lstStyle/>
                    <a:p>
                      <a:pPr algn="l"/>
                      <a:r>
                        <a:rPr lang="en-US" sz="2000" b="1" dirty="0">
                          <a:solidFill>
                            <a:srgbClr val="FFFFFF"/>
                          </a:solidFill>
                          <a:latin typeface="Arial"/>
                          <a:cs typeface="Arial"/>
                        </a:rPr>
                        <a:t>Ví dụ</a:t>
                      </a:r>
                    </a:p>
                  </a:txBody>
                  <a:tcPr marL="73152" marR="73152" marT="45720" marB="45720" anchor="ctr">
                    <a:solidFill>
                      <a:srgbClr val="0D7377"/>
                    </a:solidFill>
                  </a:tcPr>
                </a:tc>
              </a:tr>
              <a:tr h="721040">
                <a:tc>
                  <a:txBody>
                    <a:bodyPr/>
                    <a:lstStyle/>
                    <a:p>
                      <a:pPr algn="l"/>
                      <a:r>
                        <a:rPr lang="en-US" sz="2000" b="1" dirty="0">
                          <a:solidFill>
                            <a:srgbClr val="000000"/>
                          </a:solidFill>
                          <a:latin typeface="Arial"/>
                          <a:cs typeface="Arial"/>
                        </a:rPr>
                        <a:t>Định lượng</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Con số: bao nhiêu? X có làm thay đổi Y?</a:t>
                      </a:r>
                    </a:p>
                  </a:txBody>
                  <a:tcPr marL="73152" marR="73152" marT="45720" marB="45720" anchor="ctr">
                    <a:solidFill>
                      <a:srgbClr val="FFFFFF"/>
                    </a:solidFill>
                  </a:tcPr>
                </a:tc>
                <a:tc>
                  <a:txBody>
                    <a:bodyPr/>
                    <a:lstStyle/>
                    <a:p>
                      <a:pPr algn="l"/>
                      <a:r>
                        <a:rPr lang="en-US" sz="2000" dirty="0">
                          <a:solidFill>
                            <a:srgbClr val="000000"/>
                          </a:solidFill>
                          <a:latin typeface="Arial"/>
                          <a:cs typeface="Arial"/>
                        </a:rPr>
                        <a:t>Tử vong 28 ngày với hai chiến lược dịch</a:t>
                      </a:r>
                    </a:p>
                  </a:txBody>
                  <a:tcPr marL="73152" marR="73152" marT="45720" marB="45720" anchor="ctr">
                    <a:solidFill>
                      <a:srgbClr val="FFFFFF"/>
                    </a:solidFill>
                  </a:tcPr>
                </a:tc>
              </a:tr>
              <a:tr h="721040">
                <a:tc>
                  <a:txBody>
                    <a:bodyPr/>
                    <a:lstStyle/>
                    <a:p>
                      <a:pPr algn="l"/>
                      <a:r>
                        <a:rPr lang="en-US" sz="2000" b="1" dirty="0">
                          <a:solidFill>
                            <a:srgbClr val="000000"/>
                          </a:solidFill>
                          <a:latin typeface="Arial"/>
                          <a:cs typeface="Arial"/>
                        </a:rPr>
                        <a:t>Định tính</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Lời kể: vì sao? Như thế nào? Trải nghiệm ra sao?</a:t>
                      </a:r>
                    </a:p>
                  </a:txBody>
                  <a:tcPr marL="73152" marR="73152" marT="45720" marB="45720" anchor="ctr">
                    <a:solidFill>
                      <a:srgbClr val="F5F9FA"/>
                    </a:solidFill>
                  </a:tcPr>
                </a:tc>
                <a:tc>
                  <a:txBody>
                    <a:bodyPr/>
                    <a:lstStyle/>
                    <a:p>
                      <a:pPr algn="l"/>
                      <a:r>
                        <a:rPr lang="en-US" sz="2000" dirty="0">
                          <a:solidFill>
                            <a:srgbClr val="000000"/>
                          </a:solidFill>
                          <a:latin typeface="Arial"/>
                          <a:cs typeface="Arial"/>
                        </a:rPr>
                        <a:t>Phỏng vấn: vì sao điều dưỡng ngại ngừng dịch</a:t>
                      </a:r>
                    </a:p>
                  </a:txBody>
                  <a:tcPr marL="73152" marR="73152" marT="45720" marB="45720" anchor="ctr">
                    <a:solidFill>
                      <a:srgbClr val="F5F9FA"/>
                    </a:solidFill>
                  </a:tcPr>
                </a:tc>
              </a:tr>
              <a:tr h="721040">
                <a:tc>
                  <a:txBody>
                    <a:bodyPr/>
                    <a:lstStyle/>
                    <a:p>
                      <a:pPr algn="l"/>
                      <a:r>
                        <a:rPr lang="en-US" sz="2000" b="1" dirty="0">
                          <a:solidFill>
                            <a:srgbClr val="000000"/>
                          </a:solidFill>
                          <a:latin typeface="Arial"/>
                          <a:cs typeface="Arial"/>
                        </a:rPr>
                        <a:t>Hỗn hợp</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Con số và lời kể trong cùng một nghiên cứu</a:t>
                      </a:r>
                    </a:p>
                  </a:txBody>
                  <a:tcPr marL="73152" marR="73152" marT="45720" marB="45720" anchor="ctr">
                    <a:solidFill>
                      <a:srgbClr val="FFFFFF"/>
                    </a:solidFill>
                  </a:tcPr>
                </a:tc>
                <a:tc>
                  <a:txBody>
                    <a:bodyPr/>
                    <a:lstStyle/>
                    <a:p>
                      <a:pPr algn="l"/>
                      <a:r>
                        <a:rPr lang="en-US" sz="2000" dirty="0">
                          <a:solidFill>
                            <a:srgbClr val="000000"/>
                          </a:solidFill>
                          <a:latin typeface="Arial"/>
                          <a:cs typeface="Arial"/>
                        </a:rPr>
                        <a:t>Khảo sát thực hành dịch kèm thảo luận nhóm</a:t>
                      </a:r>
                    </a:p>
                  </a:txBody>
                  <a:tcPr marL="73152" marR="73152" marT="45720" marB="45720" anchor="ctr">
                    <a:solidFill>
                      <a:srgbClr val="FFFFFF"/>
                    </a:solidFill>
                  </a:tcPr>
                </a:tc>
              </a:tr>
              <a:tr h="721040">
                <a:tc>
                  <a:txBody>
                    <a:bodyPr/>
                    <a:lstStyle/>
                    <a:p>
                      <a:pPr algn="l"/>
                      <a:r>
                        <a:rPr lang="en-US" sz="2000" b="1" dirty="0">
                          <a:solidFill>
                            <a:srgbClr val="000000"/>
                          </a:solidFill>
                          <a:latin typeface="Arial"/>
                          <a:cs typeface="Arial"/>
                        </a:rPr>
                        <a:t>Nghiên cứu sơ cấp</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Bạn thu thập dữ liệu mới</a:t>
                      </a:r>
                    </a:p>
                  </a:txBody>
                  <a:tcPr marL="73152" marR="73152" marT="45720" marB="45720" anchor="ctr">
                    <a:solidFill>
                      <a:srgbClr val="F5F9FA"/>
                    </a:solidFill>
                  </a:tcPr>
                </a:tc>
                <a:tc>
                  <a:txBody>
                    <a:bodyPr/>
                    <a:lstStyle/>
                    <a:p>
                      <a:pPr algn="l"/>
                      <a:r>
                        <a:rPr lang="en-US" sz="2000" dirty="0">
                          <a:solidFill>
                            <a:srgbClr val="000000"/>
                          </a:solidFill>
                          <a:latin typeface="Arial"/>
                          <a:cs typeface="Arial"/>
                        </a:rPr>
                        <a:t>Bài báo 1: một thử nghiệm mới</a:t>
                      </a:r>
                    </a:p>
                  </a:txBody>
                  <a:tcPr marL="73152" marR="73152" marT="45720" marB="45720" anchor="ctr">
                    <a:solidFill>
                      <a:srgbClr val="F5F9FA"/>
                    </a:solidFill>
                  </a:tcPr>
                </a:tc>
              </a:tr>
              <a:tr h="721040">
                <a:tc>
                  <a:txBody>
                    <a:bodyPr/>
                    <a:lstStyle/>
                    <a:p>
                      <a:pPr algn="l"/>
                      <a:r>
                        <a:rPr lang="en-US" sz="2000" b="1" dirty="0">
                          <a:solidFill>
                            <a:srgbClr val="000000"/>
                          </a:solidFill>
                          <a:latin typeface="Arial"/>
                          <a:cs typeface="Arial"/>
                        </a:rPr>
                        <a:t>Nghiên cứu thứ cấp</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Bạn dùng lại dữ liệu có sẵn: hồ sơ, sổ đăng ký</a:t>
                      </a:r>
                    </a:p>
                  </a:txBody>
                  <a:tcPr marL="73152" marR="73152" marT="45720" marB="45720" anchor="ctr">
                    <a:solidFill>
                      <a:srgbClr val="FFFFFF"/>
                    </a:solidFill>
                  </a:tcPr>
                </a:tc>
                <a:tc>
                  <a:txBody>
                    <a:bodyPr/>
                    <a:lstStyle/>
                    <a:p>
                      <a:pPr algn="l"/>
                      <a:r>
                        <a:rPr lang="en-US" sz="2000" dirty="0">
                          <a:solidFill>
                            <a:srgbClr val="000000"/>
                          </a:solidFill>
                          <a:latin typeface="Arial"/>
                          <a:cs typeface="Arial"/>
                        </a:rPr>
                        <a:t>Bài báo 2: sổ đăng ký nhiễm khuẩn huyết</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Con số trả lời bao nhiêu, mức nào. Lời kể trả lời vì sao, như thế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hiểu bài: loại nghiên cứu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đếm số người bệnh sốc nhiễm khuẩn có cân bằng dịch dương ở ngày 3 trong năm nay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phỏng vấn điều dưỡng ICU vì sao họ ngại ngừng dịch truyền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phân tích lại hồ sơ ICU 3 năm về cân bằng dịch và tử vong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 khảo sát cách chỉ định dịch kèm thảo luận nhóm với bác sĩ</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Mỗi câu: con số, lời kể hay cả hai? Dữ liệu mới hay có sẵn?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Hai ba người trả lời, ví dụ 'A: con số, mới'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Đáp án: loại nghiên cứu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  Đếm số ca</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Định lượng</a:t>
            </a:r>
          </a:p>
          <a:p>
            <a:pPr marL="0" indent="0" algn="ctr">
              <a:lnSpc>
                <a:spcPct val="104000"/>
              </a:lnSpc>
              <a:spcBef>
                <a:spcPts val="400"/>
              </a:spcBef>
              <a:buNone/>
            </a:pPr>
            <a:r>
              <a:rPr lang="en-US" sz="1600" dirty="0">
                <a:solidFill>
                  <a:srgbClr val="000000"/>
                </a:solidFill>
                <a:latin typeface="Arial"/>
                <a:cs typeface="Arial"/>
              </a:rPr>
              <a:t>Sơ cấp</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  Phỏng vấn</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Định tính</a:t>
            </a:r>
          </a:p>
          <a:p>
            <a:pPr marL="0" indent="0" algn="ctr">
              <a:lnSpc>
                <a:spcPct val="104000"/>
              </a:lnSpc>
              <a:spcBef>
                <a:spcPts val="400"/>
              </a:spcBef>
              <a:buNone/>
            </a:pPr>
            <a:r>
              <a:rPr lang="en-US" sz="1600" dirty="0">
                <a:solidFill>
                  <a:srgbClr val="000000"/>
                </a:solidFill>
                <a:latin typeface="Arial"/>
                <a:cs typeface="Arial"/>
              </a:rPr>
              <a:t>Sơ cấp</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  Hồ sơ cũ</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Định lượng</a:t>
            </a:r>
          </a:p>
          <a:p>
            <a:pPr marL="0" indent="0" algn="ctr">
              <a:lnSpc>
                <a:spcPct val="104000"/>
              </a:lnSpc>
              <a:spcBef>
                <a:spcPts val="400"/>
              </a:spcBef>
              <a:buNone/>
            </a:pPr>
            <a:r>
              <a:rPr lang="en-US" sz="1600" dirty="0">
                <a:solidFill>
                  <a:srgbClr val="000000"/>
                </a:solidFill>
                <a:latin typeface="Arial"/>
                <a:cs typeface="Arial"/>
              </a:rPr>
              <a:t>Thứ cấp</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  Khảo sát + nhóm</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Hỗn hợp</a:t>
            </a:r>
          </a:p>
          <a:p>
            <a:pPr marL="0" indent="0" algn="ctr">
              <a:lnSpc>
                <a:spcPct val="104000"/>
              </a:lnSpc>
              <a:spcBef>
                <a:spcPts val="400"/>
              </a:spcBef>
              <a:buNone/>
            </a:pPr>
            <a:r>
              <a:rPr lang="en-US" sz="1600" dirty="0">
                <a:solidFill>
                  <a:srgbClr val="000000"/>
                </a:solidFill>
                <a:latin typeface="Arial"/>
                <a:cs typeface="Arial"/>
              </a:rPr>
              <a:t>Sơ cấp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Hỏi hai điều: con số hay lời kể? Dữ liệu mới hay có sẵn?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Cả con đường: từ ý tưởng đến công bố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cxnSp>
        <p:nvCxnSpPr>
          <p:cNvPr id="100" name="Line"/>
          <p:cNvCxnSpPr/>
          <p:nvPr/>
        </p:nvCxnSpPr>
        <p:spPr>
          <a:xfrm>
            <a:off x="1295400" y="2382040"/>
            <a:ext cx="9144000" cy="0"/>
          </a:xfrm>
          <a:prstGeom prst="straightConnector1">
            <a:avLst/>
          </a:prstGeom>
          <a:ln w="177800" cap="rnd">
            <a:solidFill>
              <a:srgbClr val="D5DDE1"/>
            </a:solidFill>
            <a:round/>
          </a:ln>
        </p:spPr>
      </p:cxnSp>
      <p:sp>
        <p:nvSpPr>
          <p:cNvPr id="101" name="Arc"/>
          <p:cNvSpPr/>
          <p:nvPr/>
        </p:nvSpPr>
        <p:spPr>
          <a:xfrm>
            <a:off x="9525000" y="2382040"/>
            <a:ext cx="1828800" cy="1828800"/>
          </a:xfrm>
          <a:prstGeom prst="arc">
            <a:avLst>
              <a:gd name="adj1" fmla="val 16200000"/>
              <a:gd name="adj2" fmla="val 5400000"/>
            </a:avLst>
          </a:prstGeom>
          <a:noFill/>
          <a:ln w="177800" cap="rnd">
            <a:solidFill>
              <a:srgbClr val="D5DDE1"/>
            </a:solidFill>
            <a:round/>
          </a:ln>
        </p:spPr>
      </p:sp>
      <p:cxnSp>
        <p:nvCxnSpPr>
          <p:cNvPr id="102" name="Line"/>
          <p:cNvCxnSpPr/>
          <p:nvPr/>
        </p:nvCxnSpPr>
        <p:spPr>
          <a:xfrm flipH="1">
            <a:off x="2209800" y="4210840"/>
            <a:ext cx="8229600" cy="0"/>
          </a:xfrm>
          <a:prstGeom prst="straightConnector1">
            <a:avLst/>
          </a:prstGeom>
          <a:ln w="177800" cap="rnd">
            <a:solidFill>
              <a:srgbClr val="D5DDE1"/>
            </a:solidFill>
            <a:round/>
          </a:ln>
        </p:spPr>
      </p:cxnSp>
      <p:sp>
        <p:nvSpPr>
          <p:cNvPr id="103" name="Ellipse"/>
          <p:cNvSpPr/>
          <p:nvPr/>
        </p:nvSpPr>
        <p:spPr>
          <a:xfrm>
            <a:off x="993648" y="2080288"/>
            <a:ext cx="603504" cy="603504"/>
          </a:xfrm>
          <a:prstGeom prst="ellipse">
            <a:avLst/>
          </a:prstGeom>
          <a:solidFill>
            <a:srgbClr val="0D7377"/>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1</a:t>
            </a:r>
          </a:p>
        </p:txBody>
      </p:sp>
      <p:sp>
        <p:nvSpPr>
          <p:cNvPr id="104" name="Text"/>
          <p:cNvSpPr/>
          <p:nvPr/>
        </p:nvSpPr>
        <p:spPr>
          <a:xfrm>
            <a:off x="3810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Câu hỏi</a:t>
            </a:r>
          </a:p>
        </p:txBody>
      </p:sp>
      <p:sp>
        <p:nvSpPr>
          <p:cNvPr id="105" name="Ellipse"/>
          <p:cNvSpPr/>
          <p:nvPr/>
        </p:nvSpPr>
        <p:spPr>
          <a:xfrm>
            <a:off x="2822448" y="2080288"/>
            <a:ext cx="603504" cy="603504"/>
          </a:xfrm>
          <a:prstGeom prst="ellipse">
            <a:avLst/>
          </a:prstGeom>
          <a:solidFill>
            <a:srgbClr val="0B376C"/>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2</a:t>
            </a:r>
          </a:p>
        </p:txBody>
      </p:sp>
      <p:sp>
        <p:nvSpPr>
          <p:cNvPr id="106" name="Text"/>
          <p:cNvSpPr/>
          <p:nvPr/>
        </p:nvSpPr>
        <p:spPr>
          <a:xfrm>
            <a:off x="22098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Thiết kế và đề cương</a:t>
            </a:r>
          </a:p>
        </p:txBody>
      </p:sp>
      <p:sp>
        <p:nvSpPr>
          <p:cNvPr id="107" name="Ellipse"/>
          <p:cNvSpPr/>
          <p:nvPr/>
        </p:nvSpPr>
        <p:spPr>
          <a:xfrm>
            <a:off x="4651248" y="20802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3</a:t>
            </a:r>
          </a:p>
        </p:txBody>
      </p:sp>
      <p:sp>
        <p:nvSpPr>
          <p:cNvPr id="108" name="Text"/>
          <p:cNvSpPr/>
          <p:nvPr/>
        </p:nvSpPr>
        <p:spPr>
          <a:xfrm>
            <a:off x="40386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Đăng ký</a:t>
            </a:r>
          </a:p>
        </p:txBody>
      </p:sp>
      <p:sp>
        <p:nvSpPr>
          <p:cNvPr id="109" name="Ellipse"/>
          <p:cNvSpPr/>
          <p:nvPr/>
        </p:nvSpPr>
        <p:spPr>
          <a:xfrm>
            <a:off x="6480048" y="20802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4</a:t>
            </a:r>
          </a:p>
        </p:txBody>
      </p:sp>
      <p:sp>
        <p:nvSpPr>
          <p:cNvPr id="110" name="Text"/>
          <p:cNvSpPr/>
          <p:nvPr/>
        </p:nvSpPr>
        <p:spPr>
          <a:xfrm>
            <a:off x="58674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Phê duyệt đạo đức</a:t>
            </a:r>
          </a:p>
        </p:txBody>
      </p:sp>
      <p:sp>
        <p:nvSpPr>
          <p:cNvPr id="111" name="Ellipse"/>
          <p:cNvSpPr/>
          <p:nvPr/>
        </p:nvSpPr>
        <p:spPr>
          <a:xfrm>
            <a:off x="8308848" y="2080288"/>
            <a:ext cx="603504" cy="603504"/>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5</a:t>
            </a:r>
          </a:p>
        </p:txBody>
      </p:sp>
      <p:sp>
        <p:nvSpPr>
          <p:cNvPr id="112" name="Text"/>
          <p:cNvSpPr/>
          <p:nvPr/>
        </p:nvSpPr>
        <p:spPr>
          <a:xfrm>
            <a:off x="76962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Thu thập dữ liệu</a:t>
            </a:r>
          </a:p>
        </p:txBody>
      </p:sp>
      <p:sp>
        <p:nvSpPr>
          <p:cNvPr id="113" name="Ellipse"/>
          <p:cNvSpPr/>
          <p:nvPr/>
        </p:nvSpPr>
        <p:spPr>
          <a:xfrm>
            <a:off x="10137648" y="2080288"/>
            <a:ext cx="603504" cy="603504"/>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6</a:t>
            </a:r>
          </a:p>
        </p:txBody>
      </p:sp>
      <p:sp>
        <p:nvSpPr>
          <p:cNvPr id="114" name="Text"/>
          <p:cNvSpPr/>
          <p:nvPr/>
        </p:nvSpPr>
        <p:spPr>
          <a:xfrm>
            <a:off x="95250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Phân tích</a:t>
            </a:r>
          </a:p>
        </p:txBody>
      </p:sp>
      <p:sp>
        <p:nvSpPr>
          <p:cNvPr id="115" name="Ellipse"/>
          <p:cNvSpPr/>
          <p:nvPr/>
        </p:nvSpPr>
        <p:spPr>
          <a:xfrm>
            <a:off x="101376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7</a:t>
            </a:r>
          </a:p>
        </p:txBody>
      </p:sp>
      <p:sp>
        <p:nvSpPr>
          <p:cNvPr id="116" name="Text"/>
          <p:cNvSpPr/>
          <p:nvPr/>
        </p:nvSpPr>
        <p:spPr>
          <a:xfrm>
            <a:off x="94335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Viết bài</a:t>
            </a:r>
          </a:p>
        </p:txBody>
      </p:sp>
      <p:sp>
        <p:nvSpPr>
          <p:cNvPr id="117" name="Ellipse"/>
          <p:cNvSpPr/>
          <p:nvPr/>
        </p:nvSpPr>
        <p:spPr>
          <a:xfrm>
            <a:off x="80802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8</a:t>
            </a:r>
          </a:p>
        </p:txBody>
      </p:sp>
      <p:sp>
        <p:nvSpPr>
          <p:cNvPr id="118" name="Text"/>
          <p:cNvSpPr/>
          <p:nvPr/>
        </p:nvSpPr>
        <p:spPr>
          <a:xfrm>
            <a:off x="73761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Nộp bài</a:t>
            </a:r>
          </a:p>
        </p:txBody>
      </p:sp>
      <p:sp>
        <p:nvSpPr>
          <p:cNvPr id="119" name="Ellipse"/>
          <p:cNvSpPr/>
          <p:nvPr/>
        </p:nvSpPr>
        <p:spPr>
          <a:xfrm>
            <a:off x="60228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9</a:t>
            </a:r>
          </a:p>
        </p:txBody>
      </p:sp>
      <p:sp>
        <p:nvSpPr>
          <p:cNvPr id="120" name="Text"/>
          <p:cNvSpPr/>
          <p:nvPr/>
        </p:nvSpPr>
        <p:spPr>
          <a:xfrm>
            <a:off x="53187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Bình duyệt</a:t>
            </a:r>
          </a:p>
        </p:txBody>
      </p:sp>
      <p:sp>
        <p:nvSpPr>
          <p:cNvPr id="121" name="Ellipse"/>
          <p:cNvSpPr/>
          <p:nvPr/>
        </p:nvSpPr>
        <p:spPr>
          <a:xfrm>
            <a:off x="39654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10</a:t>
            </a:r>
          </a:p>
        </p:txBody>
      </p:sp>
      <p:sp>
        <p:nvSpPr>
          <p:cNvPr id="122" name="Text"/>
          <p:cNvSpPr/>
          <p:nvPr/>
        </p:nvSpPr>
        <p:spPr>
          <a:xfrm>
            <a:off x="32613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Công bố</a:t>
            </a:r>
          </a:p>
        </p:txBody>
      </p:sp>
      <p:sp>
        <p:nvSpPr>
          <p:cNvPr id="123" name="Ellipse"/>
          <p:cNvSpPr/>
          <p:nvPr/>
        </p:nvSpPr>
        <p:spPr>
          <a:xfrm>
            <a:off x="1908048" y="3909088"/>
            <a:ext cx="603504" cy="603504"/>
          </a:xfrm>
          <a:prstGeom prst="ellipse">
            <a:avLst/>
          </a:prstGeom>
          <a:solidFill>
            <a:srgbClr val="055F56"/>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11</a:t>
            </a:r>
          </a:p>
        </p:txBody>
      </p:sp>
      <p:sp>
        <p:nvSpPr>
          <p:cNvPr id="124" name="Text"/>
          <p:cNvSpPr/>
          <p:nvPr/>
        </p:nvSpPr>
        <p:spPr>
          <a:xfrm>
            <a:off x="12039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Tác động tới người bệnh</a:t>
            </a:r>
          </a:p>
        </p:txBody>
      </p:sp>
      <p:sp>
        <p:nvSpPr>
          <p:cNvPr id="125" name="Box"/>
          <p:cNvSpPr/>
          <p:nvPr/>
        </p:nvSpPr>
        <p:spPr>
          <a:xfrm>
            <a:off x="1158240" y="3122704"/>
            <a:ext cx="2103120" cy="347472"/>
          </a:xfrm>
          <a:prstGeom prst="roundRect">
            <a:avLst>
              <a:gd name="adj" fmla="val 50000"/>
            </a:avLst>
          </a:prstGeom>
          <a:solidFill>
            <a:srgbClr val="0D7377"/>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Tuần 1-2  Hỏi và tìm</a:t>
            </a:r>
          </a:p>
        </p:txBody>
      </p:sp>
      <p:sp>
        <p:nvSpPr>
          <p:cNvPr id="126" name="Box"/>
          <p:cNvSpPr/>
          <p:nvPr/>
        </p:nvSpPr>
        <p:spPr>
          <a:xfrm>
            <a:off x="3352800" y="3122704"/>
            <a:ext cx="2103120" cy="347472"/>
          </a:xfrm>
          <a:prstGeom prst="roundRect">
            <a:avLst>
              <a:gd name="adj" fmla="val 50000"/>
            </a:avLst>
          </a:prstGeom>
          <a:solidFill>
            <a:srgbClr val="0B376C"/>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Tuần 3-4  Thiết kế</a:t>
            </a:r>
          </a:p>
        </p:txBody>
      </p:sp>
      <p:sp>
        <p:nvSpPr>
          <p:cNvPr id="127" name="Box"/>
          <p:cNvSpPr/>
          <p:nvPr/>
        </p:nvSpPr>
        <p:spPr>
          <a:xfrm>
            <a:off x="5547360" y="3122704"/>
            <a:ext cx="2103120" cy="347472"/>
          </a:xfrm>
          <a:prstGeom prst="roundRect">
            <a:avLst>
              <a:gd name="adj" fmla="val 50000"/>
            </a:avLst>
          </a:prstGeom>
          <a:solidFill>
            <a:srgbClr val="5FA39B"/>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Tuần 5-6  Đo lường</a:t>
            </a:r>
          </a:p>
        </p:txBody>
      </p:sp>
      <p:sp>
        <p:nvSpPr>
          <p:cNvPr id="128" name="Box"/>
          <p:cNvSpPr/>
          <p:nvPr/>
        </p:nvSpPr>
        <p:spPr>
          <a:xfrm>
            <a:off x="7741920" y="3122704"/>
            <a:ext cx="2103120" cy="347472"/>
          </a:xfrm>
          <a:prstGeom prst="roundRect">
            <a:avLst>
              <a:gd name="adj" fmla="val 50000"/>
            </a:avLst>
          </a:prstGeom>
          <a:solidFill>
            <a:srgbClr val="0070C0"/>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Tuần 7-8  Công bố</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Khóa học đi hết con đường. Đề cương của bạn gồm trạm 1 đến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1.2  Từ vấn đề đến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Đặt đúng câu hỏi là đã đi được nửa đường.</a:t>
            </a:r>
          </a:p>
          <a:p>
            <a:pPr marL="0" indent="0" algn="ctr">
              <a:spcBef>
                <a:spcPts val="1200"/>
              </a:spcBef>
              <a:buNone/>
            </a:pPr>
            <a:r>
              <a:rPr lang="en-US" sz="1900" i="1" dirty="0">
                <a:solidFill>
                  <a:srgbClr val="595959"/>
                </a:solidFill>
                <a:latin typeface="Arial"/>
                <a:cs typeface="Arial"/>
              </a:rPr>
              <a:t>40 phút: PICO(T) và PECO, loại câu hỏi, FINER, rồi một bài tập cả lớp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nghiên cứu đến từ đâu?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Trước hết hãy kiểm tra: đã có câu trả lời chưa? Tìm y văn sẽ cho biết (Buổi 2).</a:t>
            </a:r>
          </a:p>
        </p:txBody>
      </p:sp>
      <p:sp>
        <p:nvSpPr>
          <p:cNvPr id="70" name="CardHead"/>
          <p:cNvSpPr/>
          <p:nvPr/>
        </p:nvSpPr>
        <p:spPr>
          <a:xfrm>
            <a:off x="457200" y="1764023"/>
            <a:ext cx="54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Câu hỏi đến từ đâu</a:t>
            </a:r>
          </a:p>
        </p:txBody>
      </p:sp>
      <p:sp>
        <p:nvSpPr>
          <p:cNvPr id="71" name="CardBody"/>
          <p:cNvSpPr/>
          <p:nvPr/>
        </p:nvSpPr>
        <p:spPr>
          <a:xfrm>
            <a:off x="457200" y="2404023"/>
            <a:ext cx="5438800" cy="2637930"/>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800" dirty="0">
                <a:solidFill>
                  <a:srgbClr val="000000"/>
                </a:solidFill>
                <a:latin typeface="Arial"/>
                <a:cs typeface="Arial"/>
              </a:rPr>
              <a:t>Băn khoăn tại giường: "Sao mình lại làm như vậy?"</a:t>
            </a:r>
          </a:p>
          <a:p>
            <a:pPr marL="274320" indent="-274320" algn="l">
              <a:lnSpc>
                <a:spcPct val="104000"/>
              </a:lnSpc>
              <a:spcBef>
                <a:spcPts val="400"/>
              </a:spcBef>
              <a:buFont typeface="Arial"/>
              <a:buChar char="•"/>
            </a:pPr>
            <a:r>
              <a:rPr lang="en-US" sz="1800" dirty="0">
                <a:solidFill>
                  <a:srgbClr val="000000"/>
                </a:solidFill>
                <a:latin typeface="Arial"/>
                <a:cs typeface="Arial"/>
              </a:rPr>
              <a:t>Mỗi đồng nghiệp làm một kiểu</a:t>
            </a:r>
          </a:p>
          <a:p>
            <a:pPr marL="274320" indent="-274320" algn="l">
              <a:lnSpc>
                <a:spcPct val="104000"/>
              </a:lnSpc>
              <a:spcBef>
                <a:spcPts val="400"/>
              </a:spcBef>
              <a:buFont typeface="Arial"/>
              <a:buChar char="•"/>
            </a:pPr>
            <a:r>
              <a:rPr lang="en-US" sz="1800" dirty="0">
                <a:solidFill>
                  <a:srgbClr val="000000"/>
                </a:solidFill>
                <a:latin typeface="Arial"/>
                <a:cs typeface="Arial"/>
              </a:rPr>
              <a:t>Số liệu sự cố, sổ đăng ký</a:t>
            </a:r>
          </a:p>
          <a:p>
            <a:pPr marL="274320" indent="-274320" algn="l">
              <a:lnSpc>
                <a:spcPct val="104000"/>
              </a:lnSpc>
              <a:spcBef>
                <a:spcPts val="400"/>
              </a:spcBef>
              <a:buFont typeface="Arial"/>
              <a:buChar char="•"/>
            </a:pPr>
            <a:r>
              <a:rPr lang="en-US" sz="1800" dirty="0">
                <a:solidFill>
                  <a:srgbClr val="000000"/>
                </a:solidFill>
                <a:latin typeface="Arial"/>
                <a:cs typeface="Arial"/>
              </a:rPr>
              <a:t>Hướng dẫn ghi "bằng chứng độ tin cậy thấp"</a:t>
            </a:r>
          </a:p>
          <a:p>
            <a:pPr marL="274320" indent="-274320" algn="l">
              <a:lnSpc>
                <a:spcPct val="104000"/>
              </a:lnSpc>
              <a:spcBef>
                <a:spcPts val="400"/>
              </a:spcBef>
              <a:buFont typeface="Arial"/>
              <a:buChar char="•"/>
            </a:pPr>
            <a:r>
              <a:rPr lang="en-US" sz="1800" dirty="0">
                <a:solidFill>
                  <a:srgbClr val="000000"/>
                </a:solidFill>
                <a:latin typeface="Arial"/>
                <a:cs typeface="Arial"/>
              </a:rPr>
              <a:t>Bài báo kết luận "cần thêm nghiên cứu"</a:t>
            </a:r>
          </a:p>
          <a:p>
            <a:pPr marL="274320" indent="-274320" algn="l">
              <a:lnSpc>
                <a:spcPct val="104000"/>
              </a:lnSpc>
              <a:spcBef>
                <a:spcPts val="400"/>
              </a:spcBef>
              <a:buFont typeface="Arial"/>
              <a:buChar char="•"/>
            </a:pPr>
            <a:r>
              <a:rPr lang="en-US" sz="1800" dirty="0">
                <a:solidFill>
                  <a:srgbClr val="000000"/>
                </a:solidFill>
                <a:latin typeface="Arial"/>
                <a:cs typeface="Arial"/>
              </a:rPr>
              <a:t>Câu hỏi của người bệnh và gia đình</a:t>
            </a:r>
          </a:p>
        </p:txBody>
      </p:sp>
      <p:sp>
        <p:nvSpPr>
          <p:cNvPr id="72" name="CardHead"/>
          <p:cNvSpPr/>
          <p:nvPr/>
        </p:nvSpPr>
        <p:spPr>
          <a:xfrm>
            <a:off x="6096000" y="1764023"/>
            <a:ext cx="271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Đã biết</a:t>
            </a:r>
          </a:p>
        </p:txBody>
      </p:sp>
      <p:sp>
        <p:nvSpPr>
          <p:cNvPr id="73" name="CardBody"/>
          <p:cNvSpPr/>
          <p:nvPr/>
        </p:nvSpPr>
        <p:spPr>
          <a:xfrm>
            <a:off x="6096000" y="2404023"/>
            <a:ext cx="2719400" cy="26379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b="1" dirty="0">
                <a:solidFill>
                  <a:srgbClr val="000000"/>
                </a:solidFill>
                <a:latin typeface="Arial"/>
                <a:cs typeface="Arial"/>
              </a:rPr>
              <a:t>Áp dụng</a:t>
            </a:r>
          </a:p>
          <a:p>
            <a:pPr marL="0" indent="0" algn="ctr">
              <a:lnSpc>
                <a:spcPct val="104000"/>
              </a:lnSpc>
              <a:spcBef>
                <a:spcPts val="400"/>
              </a:spcBef>
              <a:buNone/>
            </a:pPr>
            <a:r>
              <a:rPr lang="en-US" sz="1800" dirty="0">
                <a:solidFill>
                  <a:srgbClr val="000000"/>
                </a:solidFill>
                <a:latin typeface="Arial"/>
                <a:cs typeface="Arial"/>
              </a:rPr>
              <a:t>Cập nhật hướng dẫn hoặc quy trình của khoa</a:t>
            </a:r>
          </a:p>
        </p:txBody>
      </p:sp>
      <p:sp>
        <p:nvSpPr>
          <p:cNvPr id="74" name="CardHead"/>
          <p:cNvSpPr/>
          <p:nvPr/>
        </p:nvSpPr>
        <p:spPr>
          <a:xfrm>
            <a:off x="9015400" y="1764023"/>
            <a:ext cx="271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Chưa biết</a:t>
            </a:r>
          </a:p>
        </p:txBody>
      </p:sp>
      <p:sp>
        <p:nvSpPr>
          <p:cNvPr id="75" name="CardBody"/>
          <p:cNvSpPr/>
          <p:nvPr/>
        </p:nvSpPr>
        <p:spPr>
          <a:xfrm>
            <a:off x="9015400" y="2404023"/>
            <a:ext cx="2719400" cy="26379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b="1" dirty="0">
                <a:solidFill>
                  <a:srgbClr val="000000"/>
                </a:solidFill>
                <a:latin typeface="Arial"/>
                <a:cs typeface="Arial"/>
              </a:rPr>
              <a:t>Câu hỏi nghiên cứu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đã có câu trả lời, hãy áp dụng. Nếu chưa, bạn có một câu hỏi nghiên cứu.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PICO(T): ví dụ xuyên suốt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Ở người lớn bị sốc nhiễm khuẩn tại ICU, chiến lược hạn chế dịch, so với chăm sóc thường quy, có làm giảm tử vong 28 ngày không?</a:t>
            </a:r>
          </a:p>
        </p:txBody>
      </p:sp>
      <p:sp>
        <p:nvSpPr>
          <p:cNvPr id="70" name="CardHead"/>
          <p:cNvSpPr/>
          <p:nvPr/>
        </p:nvSpPr>
        <p:spPr>
          <a:xfrm>
            <a:off x="457200" y="2242887"/>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  Đối tượng</a:t>
            </a:r>
          </a:p>
        </p:txBody>
      </p:sp>
      <p:sp>
        <p:nvSpPr>
          <p:cNvPr id="71" name="CardBody"/>
          <p:cNvSpPr/>
          <p:nvPr/>
        </p:nvSpPr>
        <p:spPr>
          <a:xfrm>
            <a:off x="457200" y="2882887"/>
            <a:ext cx="2095520" cy="14949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Người lớn (≥18 tuổi) bị sốc nhiễm khuẩn tại ICU</a:t>
            </a:r>
          </a:p>
        </p:txBody>
      </p:sp>
      <p:sp>
        <p:nvSpPr>
          <p:cNvPr id="72" name="CardHead"/>
          <p:cNvSpPr/>
          <p:nvPr/>
        </p:nvSpPr>
        <p:spPr>
          <a:xfrm>
            <a:off x="2752720" y="2242887"/>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  Can thiệp</a:t>
            </a:r>
          </a:p>
        </p:txBody>
      </p:sp>
      <p:sp>
        <p:nvSpPr>
          <p:cNvPr id="73" name="CardBody"/>
          <p:cNvSpPr/>
          <p:nvPr/>
        </p:nvSpPr>
        <p:spPr>
          <a:xfrm>
            <a:off x="2752720" y="2882887"/>
            <a:ext cx="2095520" cy="14949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Chiến lược hạn chế dịch</a:t>
            </a:r>
          </a:p>
        </p:txBody>
      </p:sp>
      <p:sp>
        <p:nvSpPr>
          <p:cNvPr id="74" name="CardHead"/>
          <p:cNvSpPr/>
          <p:nvPr/>
        </p:nvSpPr>
        <p:spPr>
          <a:xfrm>
            <a:off x="5048240" y="2242887"/>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  So sánh</a:t>
            </a:r>
          </a:p>
        </p:txBody>
      </p:sp>
      <p:sp>
        <p:nvSpPr>
          <p:cNvPr id="75" name="CardBody"/>
          <p:cNvSpPr/>
          <p:nvPr/>
        </p:nvSpPr>
        <p:spPr>
          <a:xfrm>
            <a:off x="5048240" y="2882887"/>
            <a:ext cx="2095520" cy="14949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Chăm sóc thường quy (dịch tiêu chuẩn)</a:t>
            </a:r>
          </a:p>
        </p:txBody>
      </p:sp>
      <p:sp>
        <p:nvSpPr>
          <p:cNvPr id="76" name="CardHead"/>
          <p:cNvSpPr/>
          <p:nvPr/>
        </p:nvSpPr>
        <p:spPr>
          <a:xfrm>
            <a:off x="7343760" y="2242887"/>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  Kết cục</a:t>
            </a:r>
          </a:p>
        </p:txBody>
      </p:sp>
      <p:sp>
        <p:nvSpPr>
          <p:cNvPr id="77" name="CardBody"/>
          <p:cNvSpPr/>
          <p:nvPr/>
        </p:nvSpPr>
        <p:spPr>
          <a:xfrm>
            <a:off x="7343760" y="2882887"/>
            <a:ext cx="2095520" cy="14949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Tử vong do mọi nguyên nhân</a:t>
            </a:r>
          </a:p>
        </p:txBody>
      </p:sp>
      <p:sp>
        <p:nvSpPr>
          <p:cNvPr id="78" name="CardHead"/>
          <p:cNvSpPr/>
          <p:nvPr/>
        </p:nvSpPr>
        <p:spPr>
          <a:xfrm>
            <a:off x="9639280" y="2242887"/>
            <a:ext cx="2095520" cy="640000"/>
          </a:xfrm>
          <a:prstGeom prst="rect">
            <a:avLst/>
          </a:prstGeom>
          <a:solidFill>
            <a:srgbClr val="8A99A3"/>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  Thời gian</a:t>
            </a:r>
          </a:p>
        </p:txBody>
      </p:sp>
      <p:sp>
        <p:nvSpPr>
          <p:cNvPr id="79" name="CardBody"/>
          <p:cNvSpPr/>
          <p:nvPr/>
        </p:nvSpPr>
        <p:spPr>
          <a:xfrm>
            <a:off x="9639280" y="2882887"/>
            <a:ext cx="2095520" cy="14949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Trong vòng 28 ngày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Buổi nào cũng quay lại câu hỏi này.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Ba ví dụ khác: PICO, PECO và P + 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53680"/>
          <a:ext cx="11277600" cy="3188960"/>
        </p:xfrm>
        <a:graphic>
          <a:graphicData uri="http://schemas.openxmlformats.org/drawingml/2006/table">
            <a:tbl>
              <a:tblPr firstRow="1" bandRow="1">
                <a:tableStyleId>{5C22544A-7EE6-4342-B048-85BDC9FD1C3A}</a:tableStyleId>
              </a:tblPr>
              <a:tblGrid>
                <a:gridCol w="2182761"/>
                <a:gridCol w="2037243"/>
                <a:gridCol w="2037243"/>
                <a:gridCol w="1527932"/>
                <a:gridCol w="2037243"/>
                <a:gridCol w="1455178"/>
              </a:tblGrid>
              <a:tr h="385760">
                <a:tc>
                  <a:txBody>
                    <a:bodyPr/>
                    <a:lstStyle/>
                    <a:p>
                      <a:pPr algn="l"/>
                      <a:r>
                        <a:rPr lang="en-US" sz="18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800" b="1" dirty="0">
                          <a:solidFill>
                            <a:srgbClr val="FFFFFF"/>
                          </a:solidFill>
                          <a:latin typeface="Arial"/>
                          <a:cs typeface="Arial"/>
                        </a:rPr>
                        <a:t>P</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I / E</a:t>
                      </a:r>
                    </a:p>
                  </a:txBody>
                  <a:tcPr marL="73152" marR="73152" marT="45720" marB="45720" anchor="ctr">
                    <a:solidFill>
                      <a:srgbClr val="0B376C"/>
                    </a:solidFill>
                  </a:tcPr>
                </a:tc>
                <a:tc>
                  <a:txBody>
                    <a:bodyPr/>
                    <a:lstStyle/>
                    <a:p>
                      <a:pPr algn="l"/>
                      <a:r>
                        <a:rPr lang="en-US" sz="1800" b="1" dirty="0">
                          <a:solidFill>
                            <a:srgbClr val="FFFFFF"/>
                          </a:solidFill>
                          <a:latin typeface="Arial"/>
                          <a:cs typeface="Arial"/>
                        </a:rPr>
                        <a:t>C</a:t>
                      </a:r>
                    </a:p>
                  </a:txBody>
                  <a:tcPr marL="73152" marR="73152" marT="45720" marB="45720" anchor="ctr">
                    <a:solidFill>
                      <a:srgbClr val="5FA39B"/>
                    </a:solidFill>
                  </a:tcPr>
                </a:tc>
                <a:tc>
                  <a:txBody>
                    <a:bodyPr/>
                    <a:lstStyle/>
                    <a:p>
                      <a:pPr algn="l"/>
                      <a:r>
                        <a:rPr lang="en-US" sz="1800" b="1" dirty="0">
                          <a:solidFill>
                            <a:srgbClr val="FFFFFF"/>
                          </a:solidFill>
                          <a:latin typeface="Arial"/>
                          <a:cs typeface="Arial"/>
                        </a:rPr>
                        <a:t>O</a:t>
                      </a:r>
                    </a:p>
                  </a:txBody>
                  <a:tcPr marL="73152" marR="73152" marT="45720" marB="45720" anchor="ctr">
                    <a:solidFill>
                      <a:srgbClr val="0070C0"/>
                    </a:solidFill>
                  </a:tcPr>
                </a:tc>
                <a:tc>
                  <a:txBody>
                    <a:bodyPr/>
                    <a:lstStyle/>
                    <a:p>
                      <a:pPr algn="l"/>
                      <a:r>
                        <a:rPr lang="en-US" sz="1800" b="1" dirty="0">
                          <a:solidFill>
                            <a:srgbClr val="FFFFFF"/>
                          </a:solidFill>
                          <a:latin typeface="Arial"/>
                          <a:cs typeface="Arial"/>
                        </a:rPr>
                        <a:t>T</a:t>
                      </a:r>
                    </a:p>
                  </a:txBody>
                  <a:tcPr marL="73152" marR="73152" marT="45720" marB="45720" anchor="ctr">
                    <a:solidFill>
                      <a:srgbClr val="8A99A3"/>
                    </a:solidFill>
                  </a:tcPr>
                </a:tc>
              </a:tr>
              <a:tr h="934400">
                <a:tc>
                  <a:txBody>
                    <a:bodyPr/>
                    <a:lstStyle/>
                    <a:p>
                      <a:pPr algn="l"/>
                      <a:r>
                        <a:rPr lang="en-US" sz="1800" b="1" dirty="0">
                          <a:solidFill>
                            <a:srgbClr val="000000"/>
                          </a:solidFill>
                          <a:latin typeface="Arial"/>
                          <a:cs typeface="Arial"/>
                        </a:rPr>
                        <a:t>Điều trị (PICO)</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Người lớn thở máy tại ICU</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Bảng kiểm đầu giường 2 lần/ngày</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Chăm sóc thường quy</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Viêm phổi liên quan thở máy</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Ngày 28 tại ICU</a:t>
                      </a:r>
                    </a:p>
                  </a:txBody>
                  <a:tcPr marL="73152" marR="73152" marT="45720" marB="45720" anchor="ctr">
                    <a:solidFill>
                      <a:srgbClr val="FFFFFF"/>
                    </a:solidFill>
                  </a:tcPr>
                </a:tc>
              </a:tr>
              <a:tr h="934400">
                <a:tc>
                  <a:txBody>
                    <a:bodyPr/>
                    <a:lstStyle/>
                    <a:p>
                      <a:pPr algn="l"/>
                      <a:r>
                        <a:rPr lang="en-US" sz="1800" b="1" dirty="0">
                          <a:solidFill>
                            <a:srgbClr val="000000"/>
                          </a:solidFill>
                          <a:latin typeface="Arial"/>
                          <a:cs typeface="Arial"/>
                        </a:rPr>
                        <a:t>Yếu tố nguy cơ (PECO)</a:t>
                      </a:r>
                    </a:p>
                    <a:p>
                      <a:pPr algn="l"/>
                      <a:r>
                        <a:rPr lang="en-US" sz="1800" b="1" dirty="0">
                          <a:solidFill>
                            <a:srgbClr val="000000"/>
                          </a:solidFill>
                          <a:latin typeface="Arial"/>
                          <a:cs typeface="Arial"/>
                        </a:rPr>
                        <a:t>E = Phơi nhiễm</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Người lớn tại khoa nội</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Béo phì (BMI ≥30)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BMI dưới 30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Tổn thương do tì đè mới</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Trong thời gian nằm viện</a:t>
                      </a:r>
                    </a:p>
                  </a:txBody>
                  <a:tcPr marL="73152" marR="73152" marT="45720" marB="45720" anchor="ctr">
                    <a:solidFill>
                      <a:srgbClr val="F5F9FA"/>
                    </a:solidFill>
                  </a:tcPr>
                </a:tc>
              </a:tr>
              <a:tr h="934400">
                <a:tc>
                  <a:txBody>
                    <a:bodyPr/>
                    <a:lstStyle/>
                    <a:p>
                      <a:pPr algn="l"/>
                      <a:r>
                        <a:rPr lang="en-US" sz="1800" b="1" dirty="0">
                          <a:solidFill>
                            <a:srgbClr val="000000"/>
                          </a:solidFill>
                          <a:latin typeface="Arial"/>
                          <a:cs typeface="Arial"/>
                        </a:rPr>
                        <a:t>Bao nhiêu? (P + O)</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Người ≥65 tuổi sau mổ gãy cổ xương đùi</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Mê sảng</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7 ngày đầu</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PECO: E = Phơi nhiễm (Exposure), dùng khi không thể chủ động phân bổ yếu tố đó (ví dụ béo phì).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hiểu bài: tìm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hỏi của Bài báo 1: 'Ở người lớn bị sốc nhiễm khuẩn trong 24 giờ đầu dùng thuốc vận mạch, hạn chế dịch không nhằm hồi sức, so với chăm sóc thường quy, có làm giảm cân bằng dịch tích lũy ngày 5 không?'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Bình chọn: những từ nào là kết cục (O)?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Sau đó hai ba người nói đối tượng (P)</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Các lựa chọn</a:t>
            </a:r>
          </a:p>
          <a:p>
            <a:pPr marL="0" indent="0" algn="ctr">
              <a:lnSpc>
                <a:spcPct val="104000"/>
              </a:lnSpc>
              <a:spcBef>
                <a:spcPts val="300"/>
              </a:spcBef>
              <a:buNone/>
            </a:pPr>
            <a:r>
              <a:rPr lang="en-US" sz="1500" dirty="0">
                <a:solidFill>
                  <a:srgbClr val="000000"/>
                </a:solidFill>
                <a:latin typeface="Arial"/>
                <a:cs typeface="Arial"/>
              </a:rPr>
              <a:t>A: sốc nhiễm khuẩn</a:t>
            </a:r>
          </a:p>
          <a:p>
            <a:pPr marL="0" indent="0" algn="ctr">
              <a:lnSpc>
                <a:spcPct val="104000"/>
              </a:lnSpc>
              <a:spcBef>
                <a:spcPts val="300"/>
              </a:spcBef>
              <a:buNone/>
            </a:pPr>
            <a:r>
              <a:rPr lang="en-US" sz="1500" dirty="0">
                <a:solidFill>
                  <a:srgbClr val="000000"/>
                </a:solidFill>
                <a:latin typeface="Arial"/>
                <a:cs typeface="Arial"/>
              </a:rPr>
              <a:t>B: hạn chế dịch không nhằm hồi sức</a:t>
            </a:r>
          </a:p>
          <a:p>
            <a:pPr marL="0" indent="0" algn="ctr">
              <a:lnSpc>
                <a:spcPct val="104000"/>
              </a:lnSpc>
              <a:spcBef>
                <a:spcPts val="300"/>
              </a:spcBef>
              <a:buNone/>
            </a:pPr>
            <a:r>
              <a:rPr lang="en-US" sz="1500" dirty="0">
                <a:solidFill>
                  <a:srgbClr val="000000"/>
                </a:solidFill>
                <a:latin typeface="Arial"/>
                <a:cs typeface="Arial"/>
              </a:rPr>
              <a:t>C: cân bằng dịch tích lũy</a:t>
            </a:r>
          </a:p>
          <a:p>
            <a:pPr marL="0" indent="0" algn="ctr">
              <a:lnSpc>
                <a:spcPct val="104000"/>
              </a:lnSpc>
              <a:spcBef>
                <a:spcPts val="300"/>
              </a:spcBef>
              <a:buNone/>
            </a:pPr>
            <a:r>
              <a:rPr lang="en-US" sz="1500" dirty="0">
                <a:solidFill>
                  <a:srgbClr val="000000"/>
                </a:solidFill>
                <a:latin typeface="Arial"/>
                <a:cs typeface="Arial"/>
              </a:rPr>
              <a:t>D: ngày 5</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Kết quả bình chọn, rồi nói P thành lời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Đáp án: PICO trong câu hỏi của Bài báo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98256"/>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a:t>
            </a:r>
          </a:p>
        </p:txBody>
      </p:sp>
      <p:sp>
        <p:nvSpPr>
          <p:cNvPr id="71" name="CardBody"/>
          <p:cNvSpPr/>
          <p:nvPr/>
        </p:nvSpPr>
        <p:spPr>
          <a:xfrm>
            <a:off x="45720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Người lớn bị sốc nhiễm khuẩn</a:t>
            </a:r>
          </a:p>
          <a:p>
            <a:pPr marL="0" indent="0" algn="ctr">
              <a:lnSpc>
                <a:spcPct val="104000"/>
              </a:lnSpc>
              <a:spcBef>
                <a:spcPts val="400"/>
              </a:spcBef>
              <a:buNone/>
            </a:pPr>
            <a:r>
              <a:rPr lang="en-US" sz="1450" dirty="0">
                <a:solidFill>
                  <a:srgbClr val="000000"/>
                </a:solidFill>
                <a:latin typeface="Arial"/>
                <a:cs typeface="Arial"/>
              </a:rPr>
              <a:t>Trong 24 giờ đầu dùng thuốc vận mạch</a:t>
            </a:r>
          </a:p>
        </p:txBody>
      </p:sp>
      <p:sp>
        <p:nvSpPr>
          <p:cNvPr id="72" name="CardHead"/>
          <p:cNvSpPr/>
          <p:nvPr/>
        </p:nvSpPr>
        <p:spPr>
          <a:xfrm>
            <a:off x="2752720" y="1898256"/>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a:t>
            </a:r>
          </a:p>
        </p:txBody>
      </p:sp>
      <p:sp>
        <p:nvSpPr>
          <p:cNvPr id="73" name="CardBody"/>
          <p:cNvSpPr/>
          <p:nvPr/>
        </p:nvSpPr>
        <p:spPr>
          <a:xfrm>
            <a:off x="275272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Hạn chế dịch không nhằm hồi sức</a:t>
            </a:r>
          </a:p>
        </p:txBody>
      </p:sp>
      <p:sp>
        <p:nvSpPr>
          <p:cNvPr id="74" name="CardHead"/>
          <p:cNvSpPr/>
          <p:nvPr/>
        </p:nvSpPr>
        <p:spPr>
          <a:xfrm>
            <a:off x="5048240" y="1898256"/>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a:t>
            </a:r>
          </a:p>
        </p:txBody>
      </p:sp>
      <p:sp>
        <p:nvSpPr>
          <p:cNvPr id="75" name="CardBody"/>
          <p:cNvSpPr/>
          <p:nvPr/>
        </p:nvSpPr>
        <p:spPr>
          <a:xfrm>
            <a:off x="504824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Chăm sóc thường quy</a:t>
            </a:r>
          </a:p>
        </p:txBody>
      </p:sp>
      <p:sp>
        <p:nvSpPr>
          <p:cNvPr id="76" name="CardHead"/>
          <p:cNvSpPr/>
          <p:nvPr/>
        </p:nvSpPr>
        <p:spPr>
          <a:xfrm>
            <a:off x="7343760" y="1898256"/>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a:t>
            </a:r>
          </a:p>
        </p:txBody>
      </p:sp>
      <p:sp>
        <p:nvSpPr>
          <p:cNvPr id="77" name="CardBody"/>
          <p:cNvSpPr/>
          <p:nvPr/>
        </p:nvSpPr>
        <p:spPr>
          <a:xfrm>
            <a:off x="734376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Cân bằng dịch tích lũy</a:t>
            </a:r>
          </a:p>
        </p:txBody>
      </p:sp>
      <p:sp>
        <p:nvSpPr>
          <p:cNvPr id="78" name="CardHead"/>
          <p:cNvSpPr/>
          <p:nvPr/>
        </p:nvSpPr>
        <p:spPr>
          <a:xfrm>
            <a:off x="9639280" y="1898256"/>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a:t>
            </a:r>
          </a:p>
        </p:txBody>
      </p:sp>
      <p:sp>
        <p:nvSpPr>
          <p:cNvPr id="79" name="CardBody"/>
          <p:cNvSpPr/>
          <p:nvPr/>
        </p:nvSpPr>
        <p:spPr>
          <a:xfrm>
            <a:off x="963928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Ngày 5</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Tình trạng khiến người bệnh vào nghiên cứu (sốc nhiễm khuẩn) thuộc P, không phải 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nhóm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Câu hỏi quyết định thiết kế (học kỹ ở Buổi 3).</a:t>
            </a:r>
          </a:p>
        </p:txBody>
      </p:sp>
      <p:sp>
        <p:nvSpPr>
          <p:cNvPr id="70" name="CardHead"/>
          <p:cNvSpPr/>
          <p:nvPr/>
        </p:nvSpPr>
        <p:spPr>
          <a:xfrm>
            <a:off x="457200"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Mô tả</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Cái gì? Bao nhiêu? Ai?</a:t>
            </a:r>
          </a:p>
          <a:p>
            <a:pPr marL="0" indent="0" algn="ctr">
              <a:lnSpc>
                <a:spcPct val="104000"/>
              </a:lnSpc>
              <a:spcBef>
                <a:spcPts val="400"/>
              </a:spcBef>
              <a:buNone/>
            </a:pPr>
            <a:r>
              <a:rPr lang="en-US" sz="1750" dirty="0">
                <a:solidFill>
                  <a:srgbClr val="000000"/>
                </a:solidFill>
                <a:latin typeface="Arial"/>
                <a:cs typeface="Arial"/>
              </a:rPr>
              <a:t>"Bao nhiêu người bệnh sốc nhiễm khuẩn của khoa có cân bằng dịch dương vào ngày 3?"</a:t>
            </a:r>
          </a:p>
          <a:p>
            <a:pPr marL="0" indent="0" algn="ctr">
              <a:lnSpc>
                <a:spcPct val="104000"/>
              </a:lnSpc>
              <a:spcBef>
                <a:spcPts val="400"/>
              </a:spcBef>
              <a:buNone/>
            </a:pPr>
            <a:r>
              <a:rPr lang="en-US" sz="1750" b="1" dirty="0">
                <a:solidFill>
                  <a:srgbClr val="000000"/>
                </a:solidFill>
                <a:latin typeface="Arial"/>
                <a:cs typeface="Arial"/>
              </a:rPr>
              <a:t>Loạt ca, cắt ngang</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Phân tích: quan sát</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X có liên quan tới Y?</a:t>
            </a:r>
          </a:p>
          <a:p>
            <a:pPr marL="0" indent="0" algn="ctr">
              <a:lnSpc>
                <a:spcPct val="104000"/>
              </a:lnSpc>
              <a:spcBef>
                <a:spcPts val="400"/>
              </a:spcBef>
              <a:buNone/>
            </a:pPr>
            <a:r>
              <a:rPr lang="en-US" sz="1750" dirty="0">
                <a:solidFill>
                  <a:srgbClr val="000000"/>
                </a:solidFill>
                <a:latin typeface="Arial"/>
                <a:cs typeface="Arial"/>
              </a:rPr>
              <a:t>"Cân bằng dịch dương có liên quan tới tử vong không?"</a:t>
            </a:r>
          </a:p>
          <a:p>
            <a:pPr marL="0" indent="0" algn="ctr">
              <a:lnSpc>
                <a:spcPct val="104000"/>
              </a:lnSpc>
              <a:spcBef>
                <a:spcPts val="400"/>
              </a:spcBef>
              <a:buNone/>
            </a:pPr>
            <a:r>
              <a:rPr lang="en-US" sz="1750" b="1" dirty="0">
                <a:solidFill>
                  <a:srgbClr val="000000"/>
                </a:solidFill>
                <a:latin typeface="Arial"/>
                <a:cs typeface="Arial"/>
              </a:rPr>
              <a:t>Thuần tập, bệnh-chứng</a:t>
            </a:r>
          </a:p>
        </p:txBody>
      </p:sp>
      <p:sp>
        <p:nvSpPr>
          <p:cNvPr id="74" name="CardHead"/>
          <p:cNvSpPr/>
          <p:nvPr/>
        </p:nvSpPr>
        <p:spPr>
          <a:xfrm>
            <a:off x="8108932" y="2018552"/>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Phân tích: can thiệp</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X có gây ra Y?</a:t>
            </a:r>
          </a:p>
          <a:p>
            <a:pPr marL="0" indent="0" algn="ctr">
              <a:lnSpc>
                <a:spcPct val="104000"/>
              </a:lnSpc>
              <a:spcBef>
                <a:spcPts val="400"/>
              </a:spcBef>
              <a:buNone/>
            </a:pPr>
            <a:r>
              <a:rPr lang="en-US" sz="1750" dirty="0">
                <a:solidFill>
                  <a:srgbClr val="000000"/>
                </a:solidFill>
                <a:latin typeface="Arial"/>
                <a:cs typeface="Arial"/>
              </a:rPr>
              <a:t>"Hạn chế dịch có làm giảm tử vong 28 ngày không?"</a:t>
            </a:r>
          </a:p>
          <a:p>
            <a:pPr marL="0" indent="0" algn="ctr">
              <a:lnSpc>
                <a:spcPct val="104000"/>
              </a:lnSpc>
              <a:spcBef>
                <a:spcPts val="400"/>
              </a:spcBef>
              <a:buNone/>
            </a:pPr>
            <a:r>
              <a:rPr lang="en-US" sz="1750" b="1" dirty="0">
                <a:solidFill>
                  <a:srgbClr val="000000"/>
                </a:solidFill>
                <a:latin typeface="Arial"/>
                <a:cs typeface="Arial"/>
              </a:rPr>
              <a:t>Thử nghiệm ngẫu nhiên có đối chứng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Câu hỏi mô tả để mô tả. Câu hỏi phân tích để so sánh hoặc kiểm định nguyên nhân.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băn khoăn mơ hồ đến câu hỏi trả lời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35249"/>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Mơ hồ</a:t>
            </a:r>
          </a:p>
        </p:txBody>
      </p:sp>
      <p:sp>
        <p:nvSpPr>
          <p:cNvPr id="71" name="CardBody"/>
          <p:cNvSpPr/>
          <p:nvPr/>
        </p:nvSpPr>
        <p:spPr>
          <a:xfrm>
            <a:off x="4572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b="1" dirty="0">
                <a:solidFill>
                  <a:srgbClr val="000000"/>
                </a:solidFill>
                <a:latin typeface="Arial"/>
                <a:cs typeface="Arial"/>
              </a:rPr>
              <a:t>"Truyền dịch có hại cho người bệnh ICU không?"</a:t>
            </a:r>
          </a:p>
          <a:p>
            <a:pPr marL="0" indent="0" algn="ctr">
              <a:lnSpc>
                <a:spcPct val="104000"/>
              </a:lnSpc>
              <a:spcBef>
                <a:spcPts val="400"/>
              </a:spcBef>
              <a:buNone/>
            </a:pPr>
            <a:r>
              <a:rPr lang="en-US" sz="1950" dirty="0">
                <a:solidFill>
                  <a:srgbClr val="000000"/>
                </a:solidFill>
                <a:latin typeface="Arial"/>
                <a:cs typeface="Arial"/>
              </a:rPr>
              <a:t>Người bệnh nào?</a:t>
            </a:r>
          </a:p>
          <a:p>
            <a:pPr marL="0" indent="0" algn="ctr">
              <a:lnSpc>
                <a:spcPct val="104000"/>
              </a:lnSpc>
              <a:spcBef>
                <a:spcPts val="400"/>
              </a:spcBef>
              <a:buNone/>
            </a:pPr>
            <a:r>
              <a:rPr lang="en-US" sz="1950" dirty="0">
                <a:solidFill>
                  <a:srgbClr val="000000"/>
                </a:solidFill>
                <a:latin typeface="Arial"/>
                <a:cs typeface="Arial"/>
              </a:rPr>
              <a:t>Dịch gì, bao nhiêu?</a:t>
            </a:r>
          </a:p>
          <a:p>
            <a:pPr marL="0" indent="0" algn="ctr">
              <a:lnSpc>
                <a:spcPct val="104000"/>
              </a:lnSpc>
              <a:spcBef>
                <a:spcPts val="400"/>
              </a:spcBef>
              <a:buNone/>
            </a:pPr>
            <a:r>
              <a:rPr lang="en-US" sz="1950" dirty="0">
                <a:solidFill>
                  <a:srgbClr val="000000"/>
                </a:solidFill>
                <a:latin typeface="Arial"/>
                <a:cs typeface="Arial"/>
              </a:rPr>
              <a:t>Có hại so với cái gì?</a:t>
            </a:r>
          </a:p>
          <a:p>
            <a:pPr marL="0" indent="0" algn="ctr">
              <a:lnSpc>
                <a:spcPct val="104000"/>
              </a:lnSpc>
              <a:spcBef>
                <a:spcPts val="400"/>
              </a:spcBef>
              <a:buNone/>
            </a:pPr>
            <a:r>
              <a:rPr lang="en-US" sz="1950" dirty="0">
                <a:solidFill>
                  <a:srgbClr val="000000"/>
                </a:solidFill>
                <a:latin typeface="Arial"/>
                <a:cs typeface="Arial"/>
              </a:rPr>
              <a:t>Hại thế nào? Khi nào?</a:t>
            </a:r>
          </a:p>
        </p:txBody>
      </p:sp>
      <p:sp>
        <p:nvSpPr>
          <p:cNvPr id="72" name="CardHead"/>
          <p:cNvSpPr/>
          <p:nvPr/>
        </p:nvSpPr>
        <p:spPr>
          <a:xfrm>
            <a:off x="6196000" y="1535249"/>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Trả lời được, nhờ PICO</a:t>
            </a:r>
          </a:p>
        </p:txBody>
      </p:sp>
      <p:sp>
        <p:nvSpPr>
          <p:cNvPr id="73" name="CardBody"/>
          <p:cNvSpPr/>
          <p:nvPr/>
        </p:nvSpPr>
        <p:spPr>
          <a:xfrm>
            <a:off x="61960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dirty="0">
                <a:solidFill>
                  <a:srgbClr val="000000"/>
                </a:solidFill>
                <a:latin typeface="Arial"/>
                <a:cs typeface="Arial"/>
              </a:rPr>
              <a:t>P: Ở người lớn bị sốc nhiễm khuẩn tại ICU,</a:t>
            </a:r>
          </a:p>
          <a:p>
            <a:pPr marL="0" indent="0" algn="ctr">
              <a:lnSpc>
                <a:spcPct val="104000"/>
              </a:lnSpc>
              <a:spcBef>
                <a:spcPts val="400"/>
              </a:spcBef>
              <a:buNone/>
            </a:pPr>
            <a:r>
              <a:rPr lang="en-US" sz="1950" dirty="0">
                <a:solidFill>
                  <a:srgbClr val="000000"/>
                </a:solidFill>
                <a:latin typeface="Arial"/>
                <a:cs typeface="Arial"/>
              </a:rPr>
              <a:t>I: chiến lược hạn chế dịch,</a:t>
            </a:r>
          </a:p>
          <a:p>
            <a:pPr marL="0" indent="0" algn="ctr">
              <a:lnSpc>
                <a:spcPct val="104000"/>
              </a:lnSpc>
              <a:spcBef>
                <a:spcPts val="400"/>
              </a:spcBef>
              <a:buNone/>
            </a:pPr>
            <a:r>
              <a:rPr lang="en-US" sz="1950" dirty="0">
                <a:solidFill>
                  <a:srgbClr val="000000"/>
                </a:solidFill>
                <a:latin typeface="Arial"/>
                <a:cs typeface="Arial"/>
              </a:rPr>
              <a:t>C: so với chăm sóc thường quy,</a:t>
            </a:r>
          </a:p>
          <a:p>
            <a:pPr marL="0" indent="0" algn="ctr">
              <a:lnSpc>
                <a:spcPct val="104000"/>
              </a:lnSpc>
              <a:spcBef>
                <a:spcPts val="400"/>
              </a:spcBef>
              <a:buNone/>
            </a:pPr>
            <a:r>
              <a:rPr lang="en-US" sz="1950" dirty="0">
                <a:solidFill>
                  <a:srgbClr val="000000"/>
                </a:solidFill>
                <a:latin typeface="Arial"/>
                <a:cs typeface="Arial"/>
              </a:rPr>
              <a:t>O: có làm giảm tử vong</a:t>
            </a:r>
          </a:p>
          <a:p>
            <a:pPr marL="0" indent="0" algn="ctr">
              <a:lnSpc>
                <a:spcPct val="104000"/>
              </a:lnSpc>
              <a:spcBef>
                <a:spcPts val="400"/>
              </a:spcBef>
              <a:buNone/>
            </a:pPr>
            <a:r>
              <a:rPr lang="en-US" sz="1950" dirty="0">
                <a:solidFill>
                  <a:srgbClr val="000000"/>
                </a:solidFill>
                <a:latin typeface="Arial"/>
                <a:cs typeface="Arial"/>
              </a:rPr>
              <a:t>T: 28 ngày không?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chưa điền đủ các ô PICO, câu hỏi chưa sẵn sàng.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FINER: câu hỏi có đáng hỏi không?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Kiểm tra mọi câu hỏi với năm tiêu chí trước khi bỏ thời gian vào nó.</a:t>
            </a:r>
          </a:p>
        </p:txBody>
      </p:sp>
      <p:sp>
        <p:nvSpPr>
          <p:cNvPr id="70" name="CardHead"/>
          <p:cNvSpPr/>
          <p:nvPr/>
        </p:nvSpPr>
        <p:spPr>
          <a:xfrm>
            <a:off x="457200" y="2080994"/>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F  Khả thi</a:t>
            </a:r>
          </a:p>
        </p:txBody>
      </p:sp>
      <p:sp>
        <p:nvSpPr>
          <p:cNvPr id="71" name="CardBody"/>
          <p:cNvSpPr/>
          <p:nvPr/>
        </p:nvSpPr>
        <p:spPr>
          <a:xfrm>
            <a:off x="457200" y="2720994"/>
            <a:ext cx="2095520" cy="16870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(Feasible)</a:t>
            </a:r>
          </a:p>
          <a:p>
            <a:pPr marL="0" indent="0" algn="ctr">
              <a:lnSpc>
                <a:spcPct val="104000"/>
              </a:lnSpc>
              <a:spcBef>
                <a:spcPts val="400"/>
              </a:spcBef>
              <a:buNone/>
            </a:pPr>
            <a:r>
              <a:rPr lang="en-US" sz="1450" dirty="0">
                <a:solidFill>
                  <a:srgbClr val="000000"/>
                </a:solidFill>
                <a:latin typeface="Arial"/>
                <a:cs typeface="Arial"/>
              </a:rPr>
              <a:t>Đủ người bệnh</a:t>
            </a:r>
          </a:p>
          <a:p>
            <a:pPr marL="0" indent="0" algn="ctr">
              <a:lnSpc>
                <a:spcPct val="104000"/>
              </a:lnSpc>
              <a:spcBef>
                <a:spcPts val="400"/>
              </a:spcBef>
              <a:buNone/>
            </a:pPr>
            <a:r>
              <a:rPr lang="en-US" sz="1450" dirty="0">
                <a:solidFill>
                  <a:srgbClr val="000000"/>
                </a:solidFill>
                <a:latin typeface="Arial"/>
                <a:cs typeface="Arial"/>
              </a:rPr>
              <a:t>Thời gian, kinh phí và kỹ năng</a:t>
            </a:r>
          </a:p>
          <a:p>
            <a:pPr marL="0" indent="0" algn="ctr">
              <a:lnSpc>
                <a:spcPct val="104000"/>
              </a:lnSpc>
              <a:spcBef>
                <a:spcPts val="400"/>
              </a:spcBef>
              <a:buNone/>
            </a:pPr>
            <a:r>
              <a:rPr lang="en-US" sz="1450" dirty="0">
                <a:solidFill>
                  <a:srgbClr val="000000"/>
                </a:solidFill>
                <a:latin typeface="Arial"/>
                <a:cs typeface="Arial"/>
              </a:rPr>
              <a:t>Lấy được dữ liệu</a:t>
            </a:r>
          </a:p>
        </p:txBody>
      </p:sp>
      <p:sp>
        <p:nvSpPr>
          <p:cNvPr id="72" name="CardHead"/>
          <p:cNvSpPr/>
          <p:nvPr/>
        </p:nvSpPr>
        <p:spPr>
          <a:xfrm>
            <a:off x="2752720" y="2080994"/>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  Thú vị</a:t>
            </a:r>
          </a:p>
        </p:txBody>
      </p:sp>
      <p:sp>
        <p:nvSpPr>
          <p:cNvPr id="73" name="CardBody"/>
          <p:cNvSpPr/>
          <p:nvPr/>
        </p:nvSpPr>
        <p:spPr>
          <a:xfrm>
            <a:off x="2752720" y="2720994"/>
            <a:ext cx="2095520" cy="16870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(Interesting)</a:t>
            </a:r>
          </a:p>
          <a:p>
            <a:pPr marL="0" indent="0" algn="ctr">
              <a:lnSpc>
                <a:spcPct val="104000"/>
              </a:lnSpc>
              <a:spcBef>
                <a:spcPts val="400"/>
              </a:spcBef>
              <a:buNone/>
            </a:pPr>
            <a:r>
              <a:rPr lang="en-US" sz="1450" dirty="0">
                <a:solidFill>
                  <a:srgbClr val="000000"/>
                </a:solidFill>
                <a:latin typeface="Arial"/>
                <a:cs typeface="Arial"/>
              </a:rPr>
              <a:t>Với bạn và đồng nghiệp</a:t>
            </a:r>
          </a:p>
          <a:p>
            <a:pPr marL="0" indent="0" algn="ctr">
              <a:lnSpc>
                <a:spcPct val="104000"/>
              </a:lnSpc>
              <a:spcBef>
                <a:spcPts val="400"/>
              </a:spcBef>
              <a:buNone/>
            </a:pPr>
            <a:r>
              <a:rPr lang="en-US" sz="1450" dirty="0">
                <a:solidFill>
                  <a:srgbClr val="000000"/>
                </a:solidFill>
                <a:latin typeface="Arial"/>
                <a:cs typeface="Arial"/>
              </a:rPr>
              <a:t>Với người đọc</a:t>
            </a:r>
          </a:p>
        </p:txBody>
      </p:sp>
      <p:sp>
        <p:nvSpPr>
          <p:cNvPr id="74" name="CardHead"/>
          <p:cNvSpPr/>
          <p:nvPr/>
        </p:nvSpPr>
        <p:spPr>
          <a:xfrm>
            <a:off x="5048240" y="2080994"/>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  Mới</a:t>
            </a:r>
          </a:p>
        </p:txBody>
      </p:sp>
      <p:sp>
        <p:nvSpPr>
          <p:cNvPr id="75" name="CardBody"/>
          <p:cNvSpPr/>
          <p:nvPr/>
        </p:nvSpPr>
        <p:spPr>
          <a:xfrm>
            <a:off x="5048240" y="2720994"/>
            <a:ext cx="2095520" cy="16870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(Novel)</a:t>
            </a:r>
          </a:p>
          <a:p>
            <a:pPr marL="0" indent="0" algn="ctr">
              <a:lnSpc>
                <a:spcPct val="104000"/>
              </a:lnSpc>
              <a:spcBef>
                <a:spcPts val="400"/>
              </a:spcBef>
              <a:buNone/>
            </a:pPr>
            <a:r>
              <a:rPr lang="en-US" sz="1450" dirty="0">
                <a:solidFill>
                  <a:srgbClr val="000000"/>
                </a:solidFill>
                <a:latin typeface="Arial"/>
                <a:cs typeface="Arial"/>
              </a:rPr>
              <a:t>Khẳng định, bác bỏ hoặc mở rộng điều đã biết</a:t>
            </a:r>
          </a:p>
        </p:txBody>
      </p:sp>
      <p:sp>
        <p:nvSpPr>
          <p:cNvPr id="76" name="CardHead"/>
          <p:cNvSpPr/>
          <p:nvPr/>
        </p:nvSpPr>
        <p:spPr>
          <a:xfrm>
            <a:off x="7343760" y="2080994"/>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E  Đạo đức</a:t>
            </a:r>
          </a:p>
        </p:txBody>
      </p:sp>
      <p:sp>
        <p:nvSpPr>
          <p:cNvPr id="77" name="CardBody"/>
          <p:cNvSpPr/>
          <p:nvPr/>
        </p:nvSpPr>
        <p:spPr>
          <a:xfrm>
            <a:off x="7343760" y="2720994"/>
            <a:ext cx="2095520" cy="16870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(Ethical)</a:t>
            </a:r>
          </a:p>
          <a:p>
            <a:pPr marL="0" indent="0" algn="ctr">
              <a:lnSpc>
                <a:spcPct val="104000"/>
              </a:lnSpc>
              <a:spcBef>
                <a:spcPts val="400"/>
              </a:spcBef>
              <a:buNone/>
            </a:pPr>
            <a:r>
              <a:rPr lang="en-US" sz="1450" dirty="0">
                <a:solidFill>
                  <a:srgbClr val="000000"/>
                </a:solidFill>
                <a:latin typeface="Arial"/>
                <a:cs typeface="Arial"/>
              </a:rPr>
              <a:t>Hội đồng đạo đức có thể phê duyệt</a:t>
            </a:r>
          </a:p>
        </p:txBody>
      </p:sp>
      <p:sp>
        <p:nvSpPr>
          <p:cNvPr id="78" name="CardHead"/>
          <p:cNvSpPr/>
          <p:nvPr/>
        </p:nvSpPr>
        <p:spPr>
          <a:xfrm>
            <a:off x="9639280" y="2080994"/>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R  Phù hợp</a:t>
            </a:r>
          </a:p>
        </p:txBody>
      </p:sp>
      <p:sp>
        <p:nvSpPr>
          <p:cNvPr id="79" name="CardBody"/>
          <p:cNvSpPr/>
          <p:nvPr/>
        </p:nvSpPr>
        <p:spPr>
          <a:xfrm>
            <a:off x="9639280" y="2720994"/>
            <a:ext cx="2095520" cy="16870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(Relevant)</a:t>
            </a:r>
          </a:p>
          <a:p>
            <a:pPr marL="0" indent="0" algn="ctr">
              <a:lnSpc>
                <a:spcPct val="104000"/>
              </a:lnSpc>
              <a:spcBef>
                <a:spcPts val="400"/>
              </a:spcBef>
              <a:buNone/>
            </a:pPr>
            <a:r>
              <a:rPr lang="en-US" sz="1450" dirty="0">
                <a:solidFill>
                  <a:srgbClr val="000000"/>
                </a:solidFill>
                <a:latin typeface="Arial"/>
                <a:cs typeface="Arial"/>
              </a:rPr>
              <a:t>Có thể thay đổi thực hành, chính sách hay nghiên cứu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câu hỏi trượt một tiêu chí, hãy viết lại trước khi đi tiếp.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FINER cho ví dụ xuyên suốt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Hạn chế dịch so với thường quy trong sốc nhiễm khuẩn: tử vong 28 ngày, tại chính ICU của bạn.</a:t>
            </a:r>
          </a:p>
        </p:txBody>
      </p:sp>
      <p:sp>
        <p:nvSpPr>
          <p:cNvPr id="70" name="CardHead"/>
          <p:cNvSpPr/>
          <p:nvPr/>
        </p:nvSpPr>
        <p:spPr>
          <a:xfrm>
            <a:off x="457200" y="2097927"/>
            <a:ext cx="209552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F  Khả thi</a:t>
            </a:r>
          </a:p>
        </p:txBody>
      </p:sp>
      <p:sp>
        <p:nvSpPr>
          <p:cNvPr id="71" name="CardBody"/>
          <p:cNvSpPr/>
          <p:nvPr/>
        </p:nvSpPr>
        <p:spPr>
          <a:xfrm>
            <a:off x="45720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B23B2E"/>
                </a:solidFill>
                <a:latin typeface="Arial"/>
                <a:cs typeface="Arial"/>
              </a:rPr>
              <a:t>Đỏ</a:t>
            </a:r>
          </a:p>
          <a:p>
            <a:pPr marL="0" indent="0" algn="ctr">
              <a:lnSpc>
                <a:spcPct val="104000"/>
              </a:lnSpc>
              <a:spcBef>
                <a:spcPts val="400"/>
              </a:spcBef>
              <a:buNone/>
            </a:pPr>
            <a:r>
              <a:rPr lang="en-US" sz="1450" dirty="0">
                <a:solidFill>
                  <a:srgbClr val="000000"/>
                </a:solidFill>
                <a:latin typeface="Arial"/>
                <a:cs typeface="Arial"/>
              </a:rPr>
              <a:t>Tử vong cần hơn 1000 người bệnh</a:t>
            </a:r>
          </a:p>
          <a:p>
            <a:pPr marL="0" indent="0" algn="ctr">
              <a:lnSpc>
                <a:spcPct val="104000"/>
              </a:lnSpc>
              <a:spcBef>
                <a:spcPts val="400"/>
              </a:spcBef>
              <a:buNone/>
            </a:pPr>
            <a:r>
              <a:rPr lang="en-US" sz="1450" dirty="0">
                <a:solidFill>
                  <a:srgbClr val="000000"/>
                </a:solidFill>
                <a:latin typeface="Arial"/>
                <a:cs typeface="Arial"/>
              </a:rPr>
              <a:t>Quá lớn với một ICU</a:t>
            </a:r>
          </a:p>
        </p:txBody>
      </p:sp>
      <p:sp>
        <p:nvSpPr>
          <p:cNvPr id="72" name="CardHead"/>
          <p:cNvSpPr/>
          <p:nvPr/>
        </p:nvSpPr>
        <p:spPr>
          <a:xfrm>
            <a:off x="2752720" y="2097927"/>
            <a:ext cx="209552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  Thú vị</a:t>
            </a:r>
          </a:p>
        </p:txBody>
      </p:sp>
      <p:sp>
        <p:nvSpPr>
          <p:cNvPr id="73" name="CardBody"/>
          <p:cNvSpPr/>
          <p:nvPr/>
        </p:nvSpPr>
        <p:spPr>
          <a:xfrm>
            <a:off x="275272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2E8B57"/>
                </a:solidFill>
                <a:latin typeface="Arial"/>
                <a:cs typeface="Arial"/>
              </a:rPr>
              <a:t>Xanh</a:t>
            </a:r>
          </a:p>
          <a:p>
            <a:pPr marL="0" indent="0" algn="ctr">
              <a:lnSpc>
                <a:spcPct val="104000"/>
              </a:lnSpc>
              <a:spcBef>
                <a:spcPts val="400"/>
              </a:spcBef>
              <a:buNone/>
            </a:pPr>
            <a:r>
              <a:rPr lang="en-US" sz="1450" dirty="0">
                <a:solidFill>
                  <a:srgbClr val="000000"/>
                </a:solidFill>
                <a:latin typeface="Arial"/>
                <a:cs typeface="Arial"/>
              </a:rPr>
              <a:t>Dịch truyền được bàn cãi ở mọi buổi đi buồng</a:t>
            </a:r>
          </a:p>
        </p:txBody>
      </p:sp>
      <p:sp>
        <p:nvSpPr>
          <p:cNvPr id="74" name="CardHead"/>
          <p:cNvSpPr/>
          <p:nvPr/>
        </p:nvSpPr>
        <p:spPr>
          <a:xfrm>
            <a:off x="5048240" y="2097927"/>
            <a:ext cx="2095520" cy="640000"/>
          </a:xfrm>
          <a:prstGeom prst="rect">
            <a:avLst/>
          </a:prstGeom>
          <a:solidFill>
            <a:srgbClr val="D9822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  Mới</a:t>
            </a:r>
          </a:p>
        </p:txBody>
      </p:sp>
      <p:sp>
        <p:nvSpPr>
          <p:cNvPr id="75" name="CardBody"/>
          <p:cNvSpPr/>
          <p:nvPr/>
        </p:nvSpPr>
        <p:spPr>
          <a:xfrm>
            <a:off x="504824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D9822B"/>
                </a:solidFill>
                <a:latin typeface="Arial"/>
                <a:cs typeface="Arial"/>
              </a:rPr>
              <a:t>Vàng</a:t>
            </a:r>
          </a:p>
          <a:p>
            <a:pPr marL="0" indent="0" algn="ctr">
              <a:lnSpc>
                <a:spcPct val="104000"/>
              </a:lnSpc>
              <a:spcBef>
                <a:spcPts val="400"/>
              </a:spcBef>
              <a:buNone/>
            </a:pPr>
            <a:r>
              <a:rPr lang="en-US" sz="1450" dirty="0">
                <a:solidFill>
                  <a:srgbClr val="000000"/>
                </a:solidFill>
                <a:latin typeface="Arial"/>
                <a:cs typeface="Arial"/>
              </a:rPr>
              <a:t>Đã có những thử nghiệm lớn</a:t>
            </a:r>
          </a:p>
        </p:txBody>
      </p:sp>
      <p:sp>
        <p:nvSpPr>
          <p:cNvPr id="76" name="CardHead"/>
          <p:cNvSpPr/>
          <p:nvPr/>
        </p:nvSpPr>
        <p:spPr>
          <a:xfrm>
            <a:off x="7343760" y="2097927"/>
            <a:ext cx="2095520" cy="640000"/>
          </a:xfrm>
          <a:prstGeom prst="rect">
            <a:avLst/>
          </a:prstGeom>
          <a:solidFill>
            <a:srgbClr val="D9822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E  Đạo đức</a:t>
            </a:r>
          </a:p>
        </p:txBody>
      </p:sp>
      <p:sp>
        <p:nvSpPr>
          <p:cNvPr id="77" name="CardBody"/>
          <p:cNvSpPr/>
          <p:nvPr/>
        </p:nvSpPr>
        <p:spPr>
          <a:xfrm>
            <a:off x="734376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D9822B"/>
                </a:solidFill>
                <a:latin typeface="Arial"/>
                <a:cs typeface="Arial"/>
              </a:rPr>
              <a:t>Vàng</a:t>
            </a:r>
          </a:p>
          <a:p>
            <a:pPr marL="0" indent="0" algn="ctr">
              <a:lnSpc>
                <a:spcPct val="104000"/>
              </a:lnSpc>
              <a:spcBef>
                <a:spcPts val="400"/>
              </a:spcBef>
              <a:buNone/>
            </a:pPr>
            <a:r>
              <a:rPr lang="en-US" sz="1450" dirty="0">
                <a:solidFill>
                  <a:srgbClr val="000000"/>
                </a:solidFill>
                <a:latin typeface="Arial"/>
                <a:cs typeface="Arial"/>
              </a:rPr>
              <a:t>Cả hai chiến lược đang được dùng</a:t>
            </a:r>
          </a:p>
          <a:p>
            <a:pPr marL="0" indent="0" algn="ctr">
              <a:lnSpc>
                <a:spcPct val="104000"/>
              </a:lnSpc>
              <a:spcBef>
                <a:spcPts val="400"/>
              </a:spcBef>
              <a:buNone/>
            </a:pPr>
            <a:r>
              <a:rPr lang="en-US" sz="1450" dirty="0">
                <a:solidFill>
                  <a:srgbClr val="000000"/>
                </a:solidFill>
                <a:latin typeface="Arial"/>
                <a:cs typeface="Arial"/>
              </a:rPr>
              <a:t>Xin đồng ý ở ICU cần thận trọng</a:t>
            </a:r>
          </a:p>
        </p:txBody>
      </p:sp>
      <p:sp>
        <p:nvSpPr>
          <p:cNvPr id="78" name="CardHead"/>
          <p:cNvSpPr/>
          <p:nvPr/>
        </p:nvSpPr>
        <p:spPr>
          <a:xfrm>
            <a:off x="9639280" y="2097927"/>
            <a:ext cx="209552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R  Phù hợp</a:t>
            </a:r>
          </a:p>
        </p:txBody>
      </p:sp>
      <p:sp>
        <p:nvSpPr>
          <p:cNvPr id="79" name="CardBody"/>
          <p:cNvSpPr/>
          <p:nvPr/>
        </p:nvSpPr>
        <p:spPr>
          <a:xfrm>
            <a:off x="963928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2E8B57"/>
                </a:solidFill>
                <a:latin typeface="Arial"/>
                <a:cs typeface="Arial"/>
              </a:rPr>
              <a:t>Xanh</a:t>
            </a:r>
          </a:p>
          <a:p>
            <a:pPr marL="0" indent="0" algn="ctr">
              <a:lnSpc>
                <a:spcPct val="104000"/>
              </a:lnSpc>
              <a:spcBef>
                <a:spcPts val="400"/>
              </a:spcBef>
              <a:buNone/>
            </a:pPr>
            <a:r>
              <a:rPr lang="en-US" sz="1450" dirty="0">
                <a:solidFill>
                  <a:srgbClr val="000000"/>
                </a:solidFill>
                <a:latin typeface="Arial"/>
                <a:cs typeface="Arial"/>
              </a:rPr>
              <a:t>Người bệnh sốc nhiễm khuẩn nào cũng được truyền dịch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Quan trọng, nhưng quá lớn với một ICU. Bước tiếp theo: thu nhỏ câu hỏi.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tập cả lớp: cứu ví dụ xuyên suốt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11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Mở Bài tập 1 trong phiếu bài tập Buổi 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Phiếu đưa ra ba phiên bản nhỏ hơn của câu hỏi: A, B và C (bên phải)</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ICU của bạn làm được phiên bản nào trong vòng hai năm?</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Với phiên bản được chọn, người được mời nói P, I hoặc E, C, O và 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Cùng nhau: gọi tên loại câu hỏi và tô màu từng chữ cái FINER</a:t>
            </a:r>
          </a:p>
        </p:txBody>
      </p:sp>
      <p:sp>
        <p:nvSpPr>
          <p:cNvPr id="52" name="Side"/>
          <p:cNvSpPr/>
          <p:nvPr/>
        </p:nvSpPr>
        <p:spPr>
          <a:xfrm>
            <a:off x="7423760" y="1720000"/>
            <a:ext cx="4311040" cy="24061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Ba phiên bản</a:t>
            </a:r>
          </a:p>
          <a:p>
            <a:pPr marL="0" indent="0" algn="ctr">
              <a:lnSpc>
                <a:spcPct val="104000"/>
              </a:lnSpc>
              <a:spcBef>
                <a:spcPts val="300"/>
              </a:spcBef>
              <a:buNone/>
            </a:pPr>
            <a:r>
              <a:rPr lang="en-US" sz="1500" dirty="0">
                <a:solidFill>
                  <a:srgbClr val="000000"/>
                </a:solidFill>
                <a:latin typeface="Arial"/>
                <a:cs typeface="Arial"/>
              </a:rPr>
              <a:t>A: quy trình hạn chế dịch so với thường quy, cân bằng dịch ngày 5 (thử nghiệm thí điểm)</a:t>
            </a:r>
          </a:p>
          <a:p>
            <a:pPr marL="0" indent="0" algn="ctr">
              <a:lnSpc>
                <a:spcPct val="104000"/>
              </a:lnSpc>
              <a:spcBef>
                <a:spcPts val="300"/>
              </a:spcBef>
              <a:buNone/>
            </a:pPr>
            <a:r>
              <a:rPr lang="en-US" sz="1500" dirty="0">
                <a:solidFill>
                  <a:srgbClr val="000000"/>
                </a:solidFill>
                <a:latin typeface="Arial"/>
                <a:cs typeface="Arial"/>
              </a:rPr>
              <a:t>B: có hay không cân bằng dịch dương đến ngày 3, tử vong đến ngày 28 (thuần tập)</a:t>
            </a:r>
          </a:p>
          <a:p>
            <a:pPr marL="0" indent="0" algn="ctr">
              <a:lnSpc>
                <a:spcPct val="104000"/>
              </a:lnSpc>
              <a:spcBef>
                <a:spcPts val="300"/>
              </a:spcBef>
              <a:buNone/>
            </a:pPr>
            <a:r>
              <a:rPr lang="en-US" sz="1500" dirty="0">
                <a:solidFill>
                  <a:srgbClr val="000000"/>
                </a:solidFill>
                <a:latin typeface="Arial"/>
                <a:cs typeface="Arial"/>
              </a:rPr>
              <a:t>C: bao nhiêu người bệnh của bạn có cân bằng dịch dương ở ngày 3? (mô tả)</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Một câu hỏi chung của lớp, có PICO(T) và màu FINER, gõ trên màn hình chia sẻ</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1.3  Mục tiêu và giả thuyết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Câu hỏi cho biết mình muốn biết gì. Mục tiêu cho biết mình sẽ làm gì.</a:t>
            </a:r>
          </a:p>
          <a:p>
            <a:pPr marL="0" indent="0" algn="ctr">
              <a:spcBef>
                <a:spcPts val="1200"/>
              </a:spcBef>
              <a:buNone/>
            </a:pPr>
            <a:r>
              <a:rPr lang="en-US" sz="1900" i="1" dirty="0">
                <a:solidFill>
                  <a:srgbClr val="595959"/>
                </a:solidFill>
                <a:latin typeface="Arial"/>
                <a:cs typeface="Arial"/>
              </a:rPr>
              <a:t>20 phút: mục tiêu tổng quát, mục tiêu cụ thể, giả thuyết và một bài tập nhanh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Mục tiêu: ví dụ xuyên suốt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9140"/>
            <a:ext cx="55388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Mục tiêu tổng quát</a:t>
            </a:r>
          </a:p>
        </p:txBody>
      </p:sp>
      <p:sp>
        <p:nvSpPr>
          <p:cNvPr id="71" name="CardBody"/>
          <p:cNvSpPr/>
          <p:nvPr/>
        </p:nvSpPr>
        <p:spPr>
          <a:xfrm>
            <a:off x="457200" y="2409140"/>
            <a:ext cx="5538800" cy="1742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00" b="1" dirty="0">
                <a:solidFill>
                  <a:srgbClr val="000000"/>
                </a:solidFill>
                <a:latin typeface="Arial"/>
                <a:cs typeface="Arial"/>
              </a:rPr>
              <a:t>Mục đích chung, trong một câu</a:t>
            </a:r>
          </a:p>
          <a:p>
            <a:pPr marL="0" indent="0" algn="ctr">
              <a:lnSpc>
                <a:spcPct val="104000"/>
              </a:lnSpc>
              <a:spcBef>
                <a:spcPts val="400"/>
              </a:spcBef>
              <a:buNone/>
            </a:pPr>
            <a:r>
              <a:rPr lang="en-US" sz="1900" dirty="0">
                <a:solidFill>
                  <a:srgbClr val="000000"/>
                </a:solidFill>
                <a:latin typeface="Arial"/>
                <a:cs typeface="Arial"/>
              </a:rPr>
              <a:t>So sánh chiến lược hạn chế dịch với chăm sóc thường quy ở người lớn bị sốc nhiễm khuẩn tại ICU</a:t>
            </a:r>
          </a:p>
        </p:txBody>
      </p:sp>
      <p:sp>
        <p:nvSpPr>
          <p:cNvPr id="72" name="CardHead"/>
          <p:cNvSpPr/>
          <p:nvPr/>
        </p:nvSpPr>
        <p:spPr>
          <a:xfrm>
            <a:off x="6196000" y="1769140"/>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Mục tiêu cụ thể</a:t>
            </a:r>
          </a:p>
        </p:txBody>
      </p:sp>
      <p:sp>
        <p:nvSpPr>
          <p:cNvPr id="73" name="CardBody"/>
          <p:cNvSpPr/>
          <p:nvPr/>
        </p:nvSpPr>
        <p:spPr>
          <a:xfrm>
            <a:off x="6196000" y="2409140"/>
            <a:ext cx="5538800" cy="1742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00" b="1" dirty="0">
                <a:solidFill>
                  <a:srgbClr val="000000"/>
                </a:solidFill>
                <a:latin typeface="Arial"/>
                <a:cs typeface="Arial"/>
              </a:rPr>
              <a:t>Việc cụ thể, với động từ đo được</a:t>
            </a:r>
          </a:p>
          <a:p>
            <a:pPr marL="0" indent="0" algn="ctr">
              <a:lnSpc>
                <a:spcPct val="104000"/>
              </a:lnSpc>
              <a:spcBef>
                <a:spcPts val="400"/>
              </a:spcBef>
              <a:buNone/>
            </a:pPr>
            <a:r>
              <a:rPr lang="en-US" sz="1900" dirty="0">
                <a:solidFill>
                  <a:srgbClr val="000000"/>
                </a:solidFill>
                <a:latin typeface="Arial"/>
                <a:cs typeface="Arial"/>
              </a:rPr>
              <a:t>Chính: so sánh tử vong 28 ngày</a:t>
            </a:r>
          </a:p>
          <a:p>
            <a:pPr marL="0" indent="0" algn="ctr">
              <a:lnSpc>
                <a:spcPct val="104000"/>
              </a:lnSpc>
              <a:spcBef>
                <a:spcPts val="400"/>
              </a:spcBef>
              <a:buNone/>
            </a:pPr>
            <a:r>
              <a:rPr lang="en-US" sz="1900" dirty="0">
                <a:solidFill>
                  <a:srgbClr val="000000"/>
                </a:solidFill>
                <a:latin typeface="Arial"/>
                <a:cs typeface="Arial"/>
              </a:rPr>
              <a:t>So sánh cân bằng dịch ngày 5</a:t>
            </a:r>
          </a:p>
          <a:p>
            <a:pPr marL="0" indent="0" algn="ctr">
              <a:lnSpc>
                <a:spcPct val="104000"/>
              </a:lnSpc>
              <a:spcBef>
                <a:spcPts val="400"/>
              </a:spcBef>
              <a:buNone/>
            </a:pPr>
            <a:r>
              <a:rPr lang="en-US" sz="1900" dirty="0">
                <a:solidFill>
                  <a:srgbClr val="000000"/>
                </a:solidFill>
                <a:latin typeface="Arial"/>
                <a:cs typeface="Arial"/>
              </a:rPr>
              <a:t>So sánh tổn thương thận cần lọc máu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Một mục tiêu tổng quát, 2-3 mục tiêu cụ thể đo được. Đánh dấu mục tiêu chính.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Mục tiêu cụ thể bắt đầu bằng động từ đo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81840"/>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Động từ mơ hồ</a:t>
            </a:r>
          </a:p>
        </p:txBody>
      </p:sp>
      <p:sp>
        <p:nvSpPr>
          <p:cNvPr id="71" name="CardBody"/>
          <p:cNvSpPr/>
          <p:nvPr/>
        </p:nvSpPr>
        <p:spPr>
          <a:xfrm>
            <a:off x="457200" y="2421840"/>
            <a:ext cx="5538800" cy="1704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2000" dirty="0">
                <a:solidFill>
                  <a:srgbClr val="000000"/>
                </a:solidFill>
                <a:latin typeface="Arial"/>
                <a:cs typeface="Arial"/>
              </a:rPr>
              <a:t>tìm hiểu, biết, nghiên cứu về, khám phá, xem xét</a:t>
            </a:r>
          </a:p>
          <a:p>
            <a:pPr marL="0" indent="0" algn="ctr">
              <a:lnSpc>
                <a:spcPct val="104000"/>
              </a:lnSpc>
              <a:spcBef>
                <a:spcPts val="400"/>
              </a:spcBef>
              <a:buNone/>
            </a:pPr>
            <a:r>
              <a:rPr lang="en-US" sz="2000" i="1" dirty="0">
                <a:solidFill>
                  <a:srgbClr val="000000"/>
                </a:solidFill>
                <a:latin typeface="Arial"/>
                <a:cs typeface="Arial"/>
              </a:rPr>
              <a:t>"Tìm hiểu về quản lý dịch truyền tại ICU"</a:t>
            </a:r>
          </a:p>
        </p:txBody>
      </p:sp>
      <p:sp>
        <p:nvSpPr>
          <p:cNvPr id="72" name="CardHead"/>
          <p:cNvSpPr/>
          <p:nvPr/>
        </p:nvSpPr>
        <p:spPr>
          <a:xfrm>
            <a:off x="6196000" y="1781840"/>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Động từ đo được</a:t>
            </a:r>
          </a:p>
        </p:txBody>
      </p:sp>
      <p:sp>
        <p:nvSpPr>
          <p:cNvPr id="73" name="CardBody"/>
          <p:cNvSpPr/>
          <p:nvPr/>
        </p:nvSpPr>
        <p:spPr>
          <a:xfrm>
            <a:off x="6196000" y="2421840"/>
            <a:ext cx="5538800" cy="1704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2000" dirty="0">
                <a:solidFill>
                  <a:srgbClr val="000000"/>
                </a:solidFill>
                <a:latin typeface="Arial"/>
                <a:cs typeface="Arial"/>
              </a:rPr>
              <a:t>so sánh, ước tính, mô tả, xác định, đo lường</a:t>
            </a:r>
          </a:p>
          <a:p>
            <a:pPr marL="0" indent="0" algn="ctr">
              <a:lnSpc>
                <a:spcPct val="104000"/>
              </a:lnSpc>
              <a:spcBef>
                <a:spcPts val="400"/>
              </a:spcBef>
              <a:buNone/>
            </a:pPr>
            <a:r>
              <a:rPr lang="en-US" sz="2000" i="1" dirty="0">
                <a:solidFill>
                  <a:srgbClr val="000000"/>
                </a:solidFill>
                <a:latin typeface="Arial"/>
                <a:cs typeface="Arial"/>
              </a:rPr>
              <a:t>"So sánh cân bằng dịch tích lũy ngày 5 giữa hai nhóm"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chưa nói được sẽ đo bằng cách nào, đó chưa phải là mục tiêu cụ thể.</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Giả thuyết không và giả thuyết đối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Giả thuyết là câu trả lời dự kiến cho mục tiêu chính: so sánh tử vong 28 ngày.</a:t>
            </a:r>
          </a:p>
        </p:txBody>
      </p:sp>
      <p:sp>
        <p:nvSpPr>
          <p:cNvPr id="100" name="Box"/>
          <p:cNvSpPr/>
          <p:nvPr/>
        </p:nvSpPr>
        <p:spPr>
          <a:xfrm>
            <a:off x="472440" y="1733360"/>
            <a:ext cx="5486400" cy="3383280"/>
          </a:xfrm>
          <a:prstGeom prst="roundRect">
            <a:avLst>
              <a:gd name="adj" fmla="val 5000"/>
            </a:avLst>
          </a:prstGeom>
          <a:noFill/>
          <a:ln w="31750">
            <a:solidFill>
              <a:srgbClr val="8A99A3"/>
            </a:solidFill>
          </a:ln>
        </p:spPr>
        <p:txBody>
          <a:bodyPr wrap="square" lIns="54864" tIns="54864" rIns="54864" bIns="54864" rtlCol="0" anchor="ctr">
            <a:noAutofit/>
          </a:bodyPr>
          <a:lstStyle/>
          <a:p>
            <a:endParaRPr lang="en-US"/>
          </a:p>
        </p:txBody>
      </p:sp>
      <p:sp>
        <p:nvSpPr>
          <p:cNvPr id="101" name="Text"/>
          <p:cNvSpPr/>
          <p:nvPr/>
        </p:nvSpPr>
        <p:spPr>
          <a:xfrm>
            <a:off x="472440" y="1806512"/>
            <a:ext cx="548640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000" b="1" dirty="0">
                <a:solidFill>
                  <a:srgbClr val="595959"/>
                </a:solidFill>
                <a:latin typeface="Arial"/>
                <a:cs typeface="Arial"/>
              </a:rPr>
              <a:t>H0  giả thuyết không</a:t>
            </a:r>
          </a:p>
        </p:txBody>
      </p:sp>
      <p:sp>
        <p:nvSpPr>
          <p:cNvPr id="102" name="Text"/>
          <p:cNvSpPr/>
          <p:nvPr/>
        </p:nvSpPr>
        <p:spPr>
          <a:xfrm>
            <a:off x="472440" y="2236280"/>
            <a:ext cx="54864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Tử vong 28 ngày như nhau</a:t>
            </a:r>
          </a:p>
        </p:txBody>
      </p:sp>
      <p:cxnSp>
        <p:nvCxnSpPr>
          <p:cNvPr id="103" name="Line"/>
          <p:cNvCxnSpPr/>
          <p:nvPr/>
        </p:nvCxnSpPr>
        <p:spPr>
          <a:xfrm>
            <a:off x="838200" y="4476560"/>
            <a:ext cx="4754880" cy="0"/>
          </a:xfrm>
          <a:prstGeom prst="straightConnector1">
            <a:avLst/>
          </a:prstGeom>
          <a:ln w="19050" cap="rnd">
            <a:solidFill>
              <a:srgbClr val="8A99A3"/>
            </a:solidFill>
            <a:round/>
          </a:ln>
        </p:spPr>
      </p:cxnSp>
      <p:sp>
        <p:nvSpPr>
          <p:cNvPr id="104" name="Box"/>
          <p:cNvSpPr/>
          <p:nvPr/>
        </p:nvSpPr>
        <p:spPr>
          <a:xfrm>
            <a:off x="1249680" y="3104960"/>
            <a:ext cx="1280160" cy="1371600"/>
          </a:xfrm>
          <a:prstGeom prst="rect">
            <a:avLst/>
          </a:prstGeom>
          <a:solidFill>
            <a:srgbClr val="0D7377"/>
          </a:solidFill>
          <a:ln>
            <a:noFill/>
          </a:ln>
        </p:spPr>
        <p:txBody>
          <a:bodyPr wrap="square" lIns="54864" tIns="54864" rIns="54864" bIns="54864" rtlCol="0" anchor="ctr">
            <a:noAutofit/>
          </a:bodyPr>
          <a:lstStyle/>
          <a:p>
            <a:endParaRPr lang="en-US"/>
          </a:p>
        </p:txBody>
      </p:sp>
      <p:sp>
        <p:nvSpPr>
          <p:cNvPr id="105" name="Text"/>
          <p:cNvSpPr/>
          <p:nvPr/>
        </p:nvSpPr>
        <p:spPr>
          <a:xfrm>
            <a:off x="1066800" y="272091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D7377"/>
                </a:solidFill>
                <a:latin typeface="Arial"/>
                <a:cs typeface="Arial"/>
              </a:rPr>
              <a:t>?%</a:t>
            </a:r>
          </a:p>
        </p:txBody>
      </p:sp>
      <p:sp>
        <p:nvSpPr>
          <p:cNvPr id="106" name="Text"/>
          <p:cNvSpPr/>
          <p:nvPr/>
        </p:nvSpPr>
        <p:spPr>
          <a:xfrm>
            <a:off x="79248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Hạn chế dịch</a:t>
            </a:r>
          </a:p>
        </p:txBody>
      </p:sp>
      <p:sp>
        <p:nvSpPr>
          <p:cNvPr id="107" name="Box"/>
          <p:cNvSpPr/>
          <p:nvPr/>
        </p:nvSpPr>
        <p:spPr>
          <a:xfrm>
            <a:off x="3901440" y="3104960"/>
            <a:ext cx="1280160" cy="1371600"/>
          </a:xfrm>
          <a:prstGeom prst="rect">
            <a:avLst/>
          </a:prstGeom>
          <a:solidFill>
            <a:srgbClr val="0B376C"/>
          </a:solidFill>
          <a:ln>
            <a:noFill/>
          </a:ln>
        </p:spPr>
        <p:txBody>
          <a:bodyPr wrap="square" lIns="54864" tIns="54864" rIns="54864" bIns="54864" rtlCol="0" anchor="ctr">
            <a:noAutofit/>
          </a:bodyPr>
          <a:lstStyle/>
          <a:p>
            <a:endParaRPr lang="en-US"/>
          </a:p>
        </p:txBody>
      </p:sp>
      <p:sp>
        <p:nvSpPr>
          <p:cNvPr id="108" name="Text"/>
          <p:cNvSpPr/>
          <p:nvPr/>
        </p:nvSpPr>
        <p:spPr>
          <a:xfrm>
            <a:off x="3718560" y="272091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B376C"/>
                </a:solidFill>
                <a:latin typeface="Arial"/>
                <a:cs typeface="Arial"/>
              </a:rPr>
              <a:t>?%</a:t>
            </a:r>
          </a:p>
        </p:txBody>
      </p:sp>
      <p:sp>
        <p:nvSpPr>
          <p:cNvPr id="109" name="Text"/>
          <p:cNvSpPr/>
          <p:nvPr/>
        </p:nvSpPr>
        <p:spPr>
          <a:xfrm>
            <a:off x="344424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Thường quy</a:t>
            </a:r>
          </a:p>
        </p:txBody>
      </p:sp>
      <p:sp>
        <p:nvSpPr>
          <p:cNvPr id="110" name="Text"/>
          <p:cNvSpPr/>
          <p:nvPr/>
        </p:nvSpPr>
        <p:spPr>
          <a:xfrm>
            <a:off x="2667000" y="3379280"/>
            <a:ext cx="109728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3600" b="1" dirty="0">
                <a:solidFill>
                  <a:srgbClr val="595959"/>
                </a:solidFill>
                <a:latin typeface="Arial"/>
                <a:cs typeface="Arial"/>
              </a:rPr>
              <a:t>=</a:t>
            </a:r>
          </a:p>
        </p:txBody>
      </p:sp>
      <p:sp>
        <p:nvSpPr>
          <p:cNvPr id="111" name="Box"/>
          <p:cNvSpPr/>
          <p:nvPr/>
        </p:nvSpPr>
        <p:spPr>
          <a:xfrm>
            <a:off x="6233160" y="1733360"/>
            <a:ext cx="5486400" cy="3383280"/>
          </a:xfrm>
          <a:prstGeom prst="roundRect">
            <a:avLst>
              <a:gd name="adj" fmla="val 5000"/>
            </a:avLst>
          </a:prstGeom>
          <a:noFill/>
          <a:ln w="31750">
            <a:solidFill>
              <a:srgbClr val="0D7377"/>
            </a:solidFill>
          </a:ln>
        </p:spPr>
        <p:txBody>
          <a:bodyPr wrap="square" lIns="54864" tIns="54864" rIns="54864" bIns="54864" rtlCol="0" anchor="ctr">
            <a:noAutofit/>
          </a:bodyPr>
          <a:lstStyle/>
          <a:p>
            <a:endParaRPr lang="en-US"/>
          </a:p>
        </p:txBody>
      </p:sp>
      <p:sp>
        <p:nvSpPr>
          <p:cNvPr id="112" name="Text"/>
          <p:cNvSpPr/>
          <p:nvPr/>
        </p:nvSpPr>
        <p:spPr>
          <a:xfrm>
            <a:off x="6233160" y="1806512"/>
            <a:ext cx="548640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000" b="1" dirty="0">
                <a:solidFill>
                  <a:srgbClr val="0D7377"/>
                </a:solidFill>
                <a:latin typeface="Arial"/>
                <a:cs typeface="Arial"/>
              </a:rPr>
              <a:t>H1  giả thuyết đối</a:t>
            </a:r>
          </a:p>
        </p:txBody>
      </p:sp>
      <p:sp>
        <p:nvSpPr>
          <p:cNvPr id="113" name="Text"/>
          <p:cNvSpPr/>
          <p:nvPr/>
        </p:nvSpPr>
        <p:spPr>
          <a:xfrm>
            <a:off x="6233160" y="2236280"/>
            <a:ext cx="54864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Tử vong 28 ngày khác nhau</a:t>
            </a:r>
          </a:p>
        </p:txBody>
      </p:sp>
      <p:cxnSp>
        <p:nvCxnSpPr>
          <p:cNvPr id="114" name="Line"/>
          <p:cNvCxnSpPr/>
          <p:nvPr/>
        </p:nvCxnSpPr>
        <p:spPr>
          <a:xfrm>
            <a:off x="6598920" y="4476560"/>
            <a:ext cx="4754880" cy="0"/>
          </a:xfrm>
          <a:prstGeom prst="straightConnector1">
            <a:avLst/>
          </a:prstGeom>
          <a:ln w="19050" cap="rnd">
            <a:solidFill>
              <a:srgbClr val="8A99A3"/>
            </a:solidFill>
            <a:round/>
          </a:ln>
        </p:spPr>
      </p:cxnSp>
      <p:sp>
        <p:nvSpPr>
          <p:cNvPr id="115" name="Box"/>
          <p:cNvSpPr/>
          <p:nvPr/>
        </p:nvSpPr>
        <p:spPr>
          <a:xfrm>
            <a:off x="7010400" y="3470720"/>
            <a:ext cx="1280160" cy="1005840"/>
          </a:xfrm>
          <a:prstGeom prst="rect">
            <a:avLst/>
          </a:prstGeom>
          <a:solidFill>
            <a:srgbClr val="0D7377"/>
          </a:solidFill>
          <a:ln>
            <a:noFill/>
          </a:ln>
        </p:spPr>
        <p:txBody>
          <a:bodyPr wrap="square" lIns="54864" tIns="54864" rIns="54864" bIns="54864" rtlCol="0" anchor="ctr">
            <a:noAutofit/>
          </a:bodyPr>
          <a:lstStyle/>
          <a:p>
            <a:endParaRPr lang="en-US"/>
          </a:p>
        </p:txBody>
      </p:sp>
      <p:sp>
        <p:nvSpPr>
          <p:cNvPr id="116" name="Text"/>
          <p:cNvSpPr/>
          <p:nvPr/>
        </p:nvSpPr>
        <p:spPr>
          <a:xfrm>
            <a:off x="6827520" y="308667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D7377"/>
                </a:solidFill>
                <a:latin typeface="Arial"/>
                <a:cs typeface="Arial"/>
              </a:rPr>
              <a:t>?%</a:t>
            </a:r>
          </a:p>
        </p:txBody>
      </p:sp>
      <p:sp>
        <p:nvSpPr>
          <p:cNvPr id="117" name="Text"/>
          <p:cNvSpPr/>
          <p:nvPr/>
        </p:nvSpPr>
        <p:spPr>
          <a:xfrm>
            <a:off x="655320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Hạn chế dịch</a:t>
            </a:r>
          </a:p>
        </p:txBody>
      </p:sp>
      <p:sp>
        <p:nvSpPr>
          <p:cNvPr id="118" name="Box"/>
          <p:cNvSpPr/>
          <p:nvPr/>
        </p:nvSpPr>
        <p:spPr>
          <a:xfrm>
            <a:off x="9662160" y="2967800"/>
            <a:ext cx="1280160" cy="1508760"/>
          </a:xfrm>
          <a:prstGeom prst="rect">
            <a:avLst/>
          </a:prstGeom>
          <a:solidFill>
            <a:srgbClr val="0B376C"/>
          </a:solidFill>
          <a:ln>
            <a:noFill/>
          </a:ln>
        </p:spPr>
        <p:txBody>
          <a:bodyPr wrap="square" lIns="54864" tIns="54864" rIns="54864" bIns="54864" rtlCol="0" anchor="ctr">
            <a:noAutofit/>
          </a:bodyPr>
          <a:lstStyle/>
          <a:p>
            <a:endParaRPr lang="en-US"/>
          </a:p>
        </p:txBody>
      </p:sp>
      <p:sp>
        <p:nvSpPr>
          <p:cNvPr id="119" name="Text"/>
          <p:cNvSpPr/>
          <p:nvPr/>
        </p:nvSpPr>
        <p:spPr>
          <a:xfrm>
            <a:off x="9479280" y="258375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B376C"/>
                </a:solidFill>
                <a:latin typeface="Arial"/>
                <a:cs typeface="Arial"/>
              </a:rPr>
              <a:t>?%</a:t>
            </a:r>
          </a:p>
        </p:txBody>
      </p:sp>
      <p:sp>
        <p:nvSpPr>
          <p:cNvPr id="120" name="Text"/>
          <p:cNvSpPr/>
          <p:nvPr/>
        </p:nvSpPr>
        <p:spPr>
          <a:xfrm>
            <a:off x="920496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Thường quy</a:t>
            </a:r>
          </a:p>
        </p:txBody>
      </p:sp>
      <p:sp>
        <p:nvSpPr>
          <p:cNvPr id="121" name="Text"/>
          <p:cNvSpPr/>
          <p:nvPr/>
        </p:nvSpPr>
        <p:spPr>
          <a:xfrm>
            <a:off x="8427720" y="3379280"/>
            <a:ext cx="109728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3600" b="1" dirty="0">
                <a:solidFill>
                  <a:srgbClr val="0D7377"/>
                </a:solidFill>
                <a:latin typeface="Arial"/>
                <a:cs typeface="Arial"/>
              </a:rPr>
              <a: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Kiểm định H0: dữ liệu có thể bác bỏ H0, nhưng không bao giờ chứng minh được H0.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Bài tập nhanh: mục tiêu và giả thuyết cho nghiên cứu thí điểm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Câu hỏi thí điểm (phiên bản A): ở người lớn bị sốc nhiễm khuẩn, quy trình hạn chế dịch, so với chăm sóc thường quy, có làm giảm cân bằng dịch tích lũy ngày 5 không?</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một mục tiêu tổng quát: 'So sánh...'</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hai mục tiêu cụ thể với động từ đo được. Đánh dấu mục tiêu chính</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H0 và H1 cho mục tiêu chính</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Động từ dùng được</a:t>
            </a:r>
          </a:p>
          <a:p>
            <a:pPr marL="0" indent="0" algn="ctr">
              <a:lnSpc>
                <a:spcPct val="104000"/>
              </a:lnSpc>
              <a:spcBef>
                <a:spcPts val="300"/>
              </a:spcBef>
              <a:buNone/>
            </a:pPr>
            <a:r>
              <a:rPr lang="en-US" sz="1500" dirty="0">
                <a:solidFill>
                  <a:srgbClr val="000000"/>
                </a:solidFill>
                <a:latin typeface="Arial"/>
                <a:cs typeface="Arial"/>
              </a:rPr>
              <a:t>so sánh</a:t>
            </a:r>
          </a:p>
          <a:p>
            <a:pPr marL="0" indent="0" algn="ctr">
              <a:lnSpc>
                <a:spcPct val="104000"/>
              </a:lnSpc>
              <a:spcBef>
                <a:spcPts val="300"/>
              </a:spcBef>
              <a:buNone/>
            </a:pPr>
            <a:r>
              <a:rPr lang="en-US" sz="1500" dirty="0">
                <a:solidFill>
                  <a:srgbClr val="000000"/>
                </a:solidFill>
                <a:latin typeface="Arial"/>
                <a:cs typeface="Arial"/>
              </a:rPr>
              <a:t>ước tính</a:t>
            </a:r>
          </a:p>
          <a:p>
            <a:pPr marL="0" indent="0" algn="ctr">
              <a:lnSpc>
                <a:spcPct val="104000"/>
              </a:lnSpc>
              <a:spcBef>
                <a:spcPts val="300"/>
              </a:spcBef>
              <a:buNone/>
            </a:pPr>
            <a:r>
              <a:rPr lang="en-US" sz="1500" dirty="0">
                <a:solidFill>
                  <a:srgbClr val="000000"/>
                </a:solidFill>
                <a:latin typeface="Arial"/>
                <a:cs typeface="Arial"/>
              </a:rPr>
              <a:t>mô tả</a:t>
            </a:r>
          </a:p>
          <a:p>
            <a:pPr marL="0" indent="0" algn="ctr">
              <a:lnSpc>
                <a:spcPct val="104000"/>
              </a:lnSpc>
              <a:spcBef>
                <a:spcPts val="300"/>
              </a:spcBef>
              <a:buNone/>
            </a:pPr>
            <a:r>
              <a:rPr lang="en-US" sz="1500" dirty="0">
                <a:solidFill>
                  <a:srgbClr val="000000"/>
                </a:solidFill>
                <a:latin typeface="Arial"/>
                <a:cs typeface="Arial"/>
              </a:rPr>
              <a:t>xác định</a:t>
            </a:r>
          </a:p>
          <a:p>
            <a:pPr marL="0" indent="0" algn="ctr">
              <a:lnSpc>
                <a:spcPct val="104000"/>
              </a:lnSpc>
              <a:spcBef>
                <a:spcPts val="300"/>
              </a:spcBef>
              <a:buNone/>
            </a:pPr>
            <a:r>
              <a:rPr lang="en-US" sz="1500" dirty="0">
                <a:solidFill>
                  <a:srgbClr val="000000"/>
                </a:solidFill>
                <a:latin typeface="Arial"/>
                <a:cs typeface="Arial"/>
              </a:rPr>
              <a:t>đo lường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Bài tập 2 trong phiếu bài tập. Hai ba người đọc to bài của mình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Đáp án mẫu: câu hỏi thí điểm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421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Mục tiêu tổng quát</a:t>
            </a:r>
          </a:p>
        </p:txBody>
      </p:sp>
      <p:sp>
        <p:nvSpPr>
          <p:cNvPr id="71" name="CardBody"/>
          <p:cNvSpPr/>
          <p:nvPr/>
        </p:nvSpPr>
        <p:spPr>
          <a:xfrm>
            <a:off x="457200"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So sánh quy trình hạn chế dịch với chăm sóc thường quy ở người lớn bị sốc nhiễm khuẩn tại ICU của bạn</a:t>
            </a:r>
          </a:p>
        </p:txBody>
      </p:sp>
      <p:sp>
        <p:nvSpPr>
          <p:cNvPr id="72" name="CardHead"/>
          <p:cNvSpPr/>
          <p:nvPr/>
        </p:nvSpPr>
        <p:spPr>
          <a:xfrm>
            <a:off x="4283066" y="17421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Mục tiêu cụ thể</a:t>
            </a:r>
          </a:p>
        </p:txBody>
      </p:sp>
      <p:sp>
        <p:nvSpPr>
          <p:cNvPr id="73" name="CardBody"/>
          <p:cNvSpPr/>
          <p:nvPr/>
        </p:nvSpPr>
        <p:spPr>
          <a:xfrm>
            <a:off x="4283066"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Chính: so sánh cân bằng dịch tích lũy ngày 5 giữa hai nhóm</a:t>
            </a:r>
          </a:p>
          <a:p>
            <a:pPr marL="0" indent="0" algn="ctr">
              <a:lnSpc>
                <a:spcPct val="104000"/>
              </a:lnSpc>
              <a:spcBef>
                <a:spcPts val="400"/>
              </a:spcBef>
              <a:buNone/>
            </a:pPr>
            <a:r>
              <a:rPr lang="en-US" sz="1750" dirty="0">
                <a:solidFill>
                  <a:srgbClr val="000000"/>
                </a:solidFill>
                <a:latin typeface="Arial"/>
                <a:cs typeface="Arial"/>
              </a:rPr>
              <a:t>Phụ: ước tính tốc độ tuyển người bệnh và mức tuân thủ quy trình</a:t>
            </a:r>
          </a:p>
        </p:txBody>
      </p:sp>
      <p:sp>
        <p:nvSpPr>
          <p:cNvPr id="74" name="CardHead"/>
          <p:cNvSpPr/>
          <p:nvPr/>
        </p:nvSpPr>
        <p:spPr>
          <a:xfrm>
            <a:off x="8108932" y="17421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Giả thuyết</a:t>
            </a:r>
          </a:p>
        </p:txBody>
      </p:sp>
      <p:sp>
        <p:nvSpPr>
          <p:cNvPr id="75" name="CardBody"/>
          <p:cNvSpPr/>
          <p:nvPr/>
        </p:nvSpPr>
        <p:spPr>
          <a:xfrm>
            <a:off x="8108932"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H0: cân bằng dịch ngày 5 như nhau ở hai nhóm</a:t>
            </a:r>
          </a:p>
          <a:p>
            <a:pPr marL="0" indent="0" algn="ctr">
              <a:lnSpc>
                <a:spcPct val="104000"/>
              </a:lnSpc>
              <a:spcBef>
                <a:spcPts val="400"/>
              </a:spcBef>
              <a:buNone/>
            </a:pPr>
            <a:r>
              <a:rPr lang="en-US" sz="1750" dirty="0">
                <a:solidFill>
                  <a:srgbClr val="000000"/>
                </a:solidFill>
                <a:latin typeface="Arial"/>
                <a:cs typeface="Arial"/>
              </a:rPr>
              <a:t>H1: cân bằng dịch ngày 5 khác nhau giữa hai nhóm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Mục tiêu tổng quát, mục tiêu chính và giả thuyết cùng nêu một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Giờ hãy bắt đầu đề cương của riêng bạn: một câu hỏi, một mục tiêu tổng quát.</a:t>
            </a:r>
          </a:p>
          <a:p>
            <a:pPr marL="0" indent="0" algn="ctr">
              <a:spcBef>
                <a:spcPts val="1200"/>
              </a:spcBef>
              <a:buNone/>
            </a:pPr>
            <a:r>
              <a:rPr lang="en-US" sz="1900" i="1" dirty="0">
                <a:solidFill>
                  <a:srgbClr val="595959"/>
                </a:solidFill>
                <a:latin typeface="Arial"/>
                <a:cs typeface="Arial"/>
              </a:rPr>
              <a:t>30 phút: giảng viên làm mẫu Phần 1 trên ví dụ xuyên suốt, rồi bạn viết phần của mình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1: câu hỏi của riêng bạn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Xem giảng viên điền Phần 1 của mẫu đề cương cho ví dụ xuyên suốt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Mở bản mẫu đề cương của bạn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Chọn một vấn đề từ chính khoa của bạn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Viết câu hỏi PICO(T) và kiểm tra bằng FINER</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Thêm một mục tiêu tổng quát, 2-3 mục tiêu cụ thể (đánh dấu mục tiêu chính) và H0/H1</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Hai bạn tình nguyện đọc to câu hỏi</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Thời gian</a:t>
            </a:r>
          </a:p>
          <a:p>
            <a:pPr marL="0" indent="0" algn="ctr">
              <a:lnSpc>
                <a:spcPct val="104000"/>
              </a:lnSpc>
              <a:spcBef>
                <a:spcPts val="300"/>
              </a:spcBef>
              <a:buNone/>
            </a:pPr>
            <a:r>
              <a:rPr lang="en-US" sz="1500" dirty="0">
                <a:solidFill>
                  <a:srgbClr val="000000"/>
                </a:solidFill>
                <a:latin typeface="Arial"/>
                <a:cs typeface="Arial"/>
              </a:rPr>
              <a:t>0-8 phút: giảng viên làm mẫu Phần 1</a:t>
            </a:r>
          </a:p>
          <a:p>
            <a:pPr marL="0" indent="0" algn="ctr">
              <a:lnSpc>
                <a:spcPct val="104000"/>
              </a:lnSpc>
              <a:spcBef>
                <a:spcPts val="300"/>
              </a:spcBef>
              <a:buNone/>
            </a:pPr>
            <a:r>
              <a:rPr lang="en-US" sz="1500" dirty="0">
                <a:solidFill>
                  <a:srgbClr val="000000"/>
                </a:solidFill>
                <a:latin typeface="Arial"/>
                <a:cs typeface="Arial"/>
              </a:rPr>
              <a:t>8-25 phút: bạn tự viết</a:t>
            </a:r>
          </a:p>
          <a:p>
            <a:pPr marL="0" indent="0" algn="ctr">
              <a:lnSpc>
                <a:spcPct val="104000"/>
              </a:lnSpc>
              <a:spcBef>
                <a:spcPts val="300"/>
              </a:spcBef>
              <a:buNone/>
            </a:pPr>
            <a:r>
              <a:rPr lang="en-US" sz="1500" dirty="0">
                <a:solidFill>
                  <a:srgbClr val="000000"/>
                </a:solidFill>
                <a:latin typeface="Arial"/>
                <a:cs typeface="Arial"/>
              </a:rPr>
              <a:t>25-30 phút: hai bạn chia sẻ</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SẢN PHẨM   </a:t>
            </a:r>
            <a:r>
              <a:rPr lang="en-US" sz="1500" dirty="0">
                <a:solidFill>
                  <a:srgbClr val="000000"/>
                </a:solidFill>
                <a:latin typeface="Arial"/>
                <a:cs typeface="Arial"/>
              </a:rPr>
              <a:t>Bắt đầu Đề cương Phần 1: câu hỏi, FINER, mục tiêu, giả thuyết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86053"/>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Từ khóa</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Trong một câu</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Tháp bằng chứng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Xếp hạng thiết kế theo mức chống sai lệch</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PICO(T)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Đối tượng, Can thiệp, So sánh, Kết cục, Thời gian</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PECO</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Như PICO, với E = Phơi nhiễm, cho yếu tố không do mình chỉ định</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FINER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Khả thi, Thú vị, Mới, Đạo đức, Phù hợp</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Mục tiêu tổng quát / cụ thể</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Mục đích chung / việc cụ thể, đo được</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H0 / H1</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Không khác biệt / có khác biệt (kiểm định H0)</a:t>
                      </a:r>
                    </a:p>
                  </a:txBody>
                  <a:tcPr marL="73152" marR="73152" marT="45720" marB="45720" anchor="ctr">
                    <a:solidFill>
                      <a:srgbClr val="F5F9FA"/>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Buổi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Vì sao nghiên cứu</a:t>
            </a:r>
          </a:p>
        </p:txBody>
      </p:sp>
      <p:sp>
        <p:nvSpPr>
          <p:cNvPr id="71" name="CardBody"/>
          <p:cNvSpPr/>
          <p:nvPr/>
        </p:nvSpPr>
        <p:spPr>
          <a:xfrm>
            <a:off x="457200"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Kinh nghiệm gợi ra câu hỏi</a:t>
            </a:r>
          </a:p>
          <a:p>
            <a:pPr marL="0" indent="0" algn="ctr">
              <a:lnSpc>
                <a:spcPct val="104000"/>
              </a:lnSpc>
              <a:spcBef>
                <a:spcPts val="400"/>
              </a:spcBef>
              <a:buNone/>
            </a:pPr>
            <a:r>
              <a:rPr lang="en-US" sz="1750" dirty="0">
                <a:solidFill>
                  <a:srgbClr val="000000"/>
                </a:solidFill>
                <a:latin typeface="Arial"/>
                <a:cs typeface="Arial"/>
              </a:rPr>
              <a:t>So sánh công bằng trên đủ người bệnh trả lời câu hỏi</a:t>
            </a:r>
          </a:p>
        </p:txBody>
      </p:sp>
      <p:sp>
        <p:nvSpPr>
          <p:cNvPr id="72" name="CardHead"/>
          <p:cNvSpPr/>
          <p:nvPr/>
        </p:nvSpPr>
        <p:spPr>
          <a:xfrm>
            <a:off x="4283066" y="181782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Hỏi chính xác</a:t>
            </a:r>
          </a:p>
        </p:txBody>
      </p:sp>
      <p:sp>
        <p:nvSpPr>
          <p:cNvPr id="73" name="CardBody"/>
          <p:cNvSpPr/>
          <p:nvPr/>
        </p:nvSpPr>
        <p:spPr>
          <a:xfrm>
            <a:off x="4283066"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Một câu hỏi PICO(T)</a:t>
            </a:r>
          </a:p>
          <a:p>
            <a:pPr marL="0" indent="0" algn="ctr">
              <a:lnSpc>
                <a:spcPct val="104000"/>
              </a:lnSpc>
              <a:spcBef>
                <a:spcPts val="400"/>
              </a:spcBef>
              <a:buNone/>
            </a:pPr>
            <a:r>
              <a:rPr lang="en-US" sz="1750" dirty="0">
                <a:solidFill>
                  <a:srgbClr val="000000"/>
                </a:solidFill>
                <a:latin typeface="Arial"/>
                <a:cs typeface="Arial"/>
              </a:rPr>
              <a:t>Một kết cục chính</a:t>
            </a:r>
          </a:p>
          <a:p>
            <a:pPr marL="0" indent="0" algn="ctr">
              <a:lnSpc>
                <a:spcPct val="104000"/>
              </a:lnSpc>
              <a:spcBef>
                <a:spcPts val="400"/>
              </a:spcBef>
              <a:buNone/>
            </a:pPr>
            <a:r>
              <a:rPr lang="en-US" sz="1750" dirty="0">
                <a:solidFill>
                  <a:srgbClr val="000000"/>
                </a:solidFill>
                <a:latin typeface="Arial"/>
                <a:cs typeface="Arial"/>
              </a:rPr>
              <a:t>Kiểm tra FINER trước khi bắt đầu</a:t>
            </a:r>
          </a:p>
        </p:txBody>
      </p:sp>
      <p:sp>
        <p:nvSpPr>
          <p:cNvPr id="74" name="CardHead"/>
          <p:cNvSpPr/>
          <p:nvPr/>
        </p:nvSpPr>
        <p:spPr>
          <a:xfrm>
            <a:off x="8108932" y="181782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Lập kế hoạch</a:t>
            </a:r>
          </a:p>
        </p:txBody>
      </p:sp>
      <p:sp>
        <p:nvSpPr>
          <p:cNvPr id="75" name="CardBody"/>
          <p:cNvSpPr/>
          <p:nvPr/>
        </p:nvSpPr>
        <p:spPr>
          <a:xfrm>
            <a:off x="8108932"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Một mục tiêu tổng quát</a:t>
            </a:r>
          </a:p>
          <a:p>
            <a:pPr marL="0" indent="0" algn="ctr">
              <a:lnSpc>
                <a:spcPct val="104000"/>
              </a:lnSpc>
              <a:spcBef>
                <a:spcPts val="400"/>
              </a:spcBef>
              <a:buNone/>
            </a:pPr>
            <a:r>
              <a:rPr lang="en-US" sz="1750" dirty="0">
                <a:solidFill>
                  <a:srgbClr val="000000"/>
                </a:solidFill>
                <a:latin typeface="Arial"/>
                <a:cs typeface="Arial"/>
              </a:rPr>
              <a:t>2-3 mục tiêu cụ thể đo được</a:t>
            </a:r>
          </a:p>
          <a:p>
            <a:pPr marL="0" indent="0" algn="ctr">
              <a:lnSpc>
                <a:spcPct val="104000"/>
              </a:lnSpc>
              <a:spcBef>
                <a:spcPts val="400"/>
              </a:spcBef>
              <a:buNone/>
            </a:pPr>
            <a:r>
              <a:rPr lang="en-US" sz="1750" dirty="0">
                <a:solidFill>
                  <a:srgbClr val="000000"/>
                </a:solidFill>
                <a:latin typeface="Arial"/>
                <a:cs typeface="Arial"/>
              </a:rPr>
              <a:t>H0 và H1 kiểm định được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Thứ Bảy tuần sau: tìm và đọc những gì đã biết về câu hỏi của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cuối buổi (trong chat)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Trả lời trong chat trước khi rời lớp</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1: ví dụ xuyên suốt trượt tiêu chí FINER nào, và vì sao?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2: viết lại thành mục tiêu cụ thể: 'Tìm hiểu về cân bằng dịch tại ICU của mình'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người một câu trả lời ngắn trong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về nhà cho thứ Bảy tuần sau (Buổi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Hoàn thành bản nháp Đề cương Phần 1: câu hỏi, FINER, mục tiêu, H0/H1</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Bài tập 4 trong phiếu bài tập: 2-3 từ đồng nghĩa tiếng Anh cho mỗi từ PICO</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Cài Zotero (miễn phí, zotero.org) và plug-in cho Word</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Chuẩn bị cho thứ Bảy tuần sau</a:t>
            </a:r>
          </a:p>
          <a:p>
            <a:pPr marL="0" indent="0" algn="ctr">
              <a:lnSpc>
                <a:spcPct val="104000"/>
              </a:lnSpc>
              <a:spcBef>
                <a:spcPts val="300"/>
              </a:spcBef>
              <a:buNone/>
            </a:pPr>
            <a:r>
              <a:rPr lang="en-US" sz="1500" dirty="0">
                <a:solidFill>
                  <a:srgbClr val="000000"/>
                </a:solidFill>
                <a:latin typeface="Arial"/>
                <a:cs typeface="Arial"/>
              </a:rPr>
              <a:t>Câu hỏi PICO của bạn</a:t>
            </a:r>
          </a:p>
          <a:p>
            <a:pPr marL="0" indent="0" algn="ctr">
              <a:lnSpc>
                <a:spcPct val="104000"/>
              </a:lnSpc>
              <a:spcBef>
                <a:spcPts val="300"/>
              </a:spcBef>
              <a:buNone/>
            </a:pPr>
            <a:r>
              <a:rPr lang="en-US" sz="1500" dirty="0">
                <a:solidFill>
                  <a:srgbClr val="000000"/>
                </a:solidFill>
                <a:latin typeface="Arial"/>
                <a:cs typeface="Arial"/>
              </a:rPr>
              <a:t>Danh sách từ đồng nghĩa</a:t>
            </a:r>
          </a:p>
          <a:p>
            <a:pPr marL="0" indent="0" algn="ctr">
              <a:lnSpc>
                <a:spcPct val="104000"/>
              </a:lnSpc>
              <a:spcBef>
                <a:spcPts val="300"/>
              </a:spcBef>
              <a:buNone/>
            </a:pPr>
            <a:r>
              <a:rPr lang="en-US" sz="1500" dirty="0">
                <a:solidFill>
                  <a:srgbClr val="000000"/>
                </a:solidFill>
                <a:latin typeface="Arial"/>
                <a:cs typeface="Arial"/>
              </a:rPr>
              <a:t>Máy tính đã cài Zotero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Câu hỏi, danh sách từ đồng nghĩa và Zotero sẵn sàng cho buổi tìm kiếm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Slide bổ sung: Buổi 1</a:t>
            </a:r>
          </a:p>
          <a:p>
            <a:pPr marL="0" indent="0" algn="ctr">
              <a:spcBef>
                <a:spcPts val="1200"/>
              </a:spcBef>
              <a:buNone/>
            </a:pPr>
            <a:r>
              <a:rPr lang="en-US" sz="1900" i="1" dirty="0">
                <a:solidFill>
                  <a:srgbClr val="595959"/>
                </a:solidFill>
                <a:latin typeface="Arial"/>
                <a:cs typeface="Arial"/>
              </a:rPr>
              <a:t>Dùng nếu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Nghiên cứu, audit hay cải tiến chất lượng?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31744"/>
          <a:ext cx="11277600" cy="2898392"/>
        </p:xfrm>
        <a:graphic>
          <a:graphicData uri="http://schemas.openxmlformats.org/drawingml/2006/table">
            <a:tbl>
              <a:tblPr firstRow="1" bandRow="1">
                <a:tableStyleId>{5C22544A-7EE6-4342-B048-85BDC9FD1C3A}</a:tableStyleId>
              </a:tblPr>
              <a:tblGrid>
                <a:gridCol w="2200507"/>
                <a:gridCol w="3025697"/>
                <a:gridCol w="3025697"/>
                <a:gridCol w="3025699"/>
              </a:tblGrid>
              <a:tr h="380000">
                <a:tc>
                  <a:txBody>
                    <a:bodyPr/>
                    <a:lstStyle/>
                    <a:p>
                      <a:pPr algn="l"/>
                      <a:r>
                        <a:rPr lang="en-US" sz="17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700" b="1" dirty="0">
                          <a:solidFill>
                            <a:srgbClr val="FFFFFF"/>
                          </a:solidFill>
                          <a:latin typeface="Arial"/>
                          <a:cs typeface="Arial"/>
                        </a:rPr>
                        <a:t>Nghiên cứu</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Audit lâm sàng</a:t>
                      </a:r>
                    </a:p>
                  </a:txBody>
                  <a:tcPr marL="73152" marR="73152" marT="45720" marB="45720" anchor="ctr">
                    <a:solidFill>
                      <a:srgbClr val="0B376C"/>
                    </a:solidFill>
                  </a:tcPr>
                </a:tc>
                <a:tc>
                  <a:txBody>
                    <a:bodyPr/>
                    <a:lstStyle/>
                    <a:p>
                      <a:pPr algn="l"/>
                      <a:r>
                        <a:rPr lang="en-US" sz="1700" b="1" dirty="0">
                          <a:solidFill>
                            <a:srgbClr val="FFFFFF"/>
                          </a:solidFill>
                          <a:latin typeface="Arial"/>
                          <a:cs typeface="Arial"/>
                        </a:rPr>
                        <a:t>Cải tiến chất lượng (QI)</a:t>
                      </a:r>
                    </a:p>
                  </a:txBody>
                  <a:tcPr marL="73152" marR="73152" marT="45720" marB="45720" anchor="ctr">
                    <a:solidFill>
                      <a:srgbClr val="5FA39B"/>
                    </a:solidFill>
                  </a:tcPr>
                </a:tc>
              </a:tr>
              <a:tr h="629598">
                <a:tc>
                  <a:txBody>
                    <a:bodyPr/>
                    <a:lstStyle/>
                    <a:p>
                      <a:pPr algn="l"/>
                      <a:r>
                        <a:rPr lang="en-US" sz="1700" b="1" dirty="0">
                          <a:solidFill>
                            <a:srgbClr val="000000"/>
                          </a:solidFill>
                          <a:latin typeface="Arial"/>
                          <a:cs typeface="Arial"/>
                        </a:rPr>
                        <a:t>Câu hỏi</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Cách làm nào tốt nhất?</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Khoa có đạt tiêu chuẩn không?</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Làm sao tốt hơn, từng bước?</a:t>
                      </a:r>
                    </a:p>
                  </a:txBody>
                  <a:tcPr marL="73152" marR="73152" marT="45720" marB="45720" anchor="ctr">
                    <a:solidFill>
                      <a:srgbClr val="FFFFFF"/>
                    </a:solidFill>
                  </a:tcPr>
                </a:tc>
              </a:tr>
              <a:tr h="629598">
                <a:tc>
                  <a:txBody>
                    <a:bodyPr/>
                    <a:lstStyle/>
                    <a:p>
                      <a:pPr algn="l"/>
                      <a:r>
                        <a:rPr lang="en-US" sz="1700" b="1" dirty="0">
                          <a:solidFill>
                            <a:srgbClr val="000000"/>
                          </a:solidFill>
                          <a:latin typeface="Arial"/>
                          <a:cs typeface="Arial"/>
                        </a:rPr>
                        <a:t>Ví dụ dịch truyền</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Hạn chế hay thường quy: cách nào tốt hơn?</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Cân bằng dịch có được ghi hằng ngày?</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Bảng kiểm hằng ngày, thử qua từng vòng nhỏ</a:t>
                      </a:r>
                    </a:p>
                  </a:txBody>
                  <a:tcPr marL="73152" marR="73152" marT="45720" marB="45720" anchor="ctr">
                    <a:solidFill>
                      <a:srgbClr val="F5F9FA"/>
                    </a:solidFill>
                  </a:tcPr>
                </a:tc>
              </a:tr>
              <a:tr h="629598">
                <a:tc>
                  <a:txBody>
                    <a:bodyPr/>
                    <a:lstStyle/>
                    <a:p>
                      <a:pPr algn="l"/>
                      <a:r>
                        <a:rPr lang="en-US" sz="1700" b="1" dirty="0">
                          <a:solidFill>
                            <a:srgbClr val="000000"/>
                          </a:solidFill>
                          <a:latin typeface="Arial"/>
                          <a:cs typeface="Arial"/>
                        </a:rPr>
                        <a:t>Kết quả dùng cho</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Người bệnh ở nơi khác</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Khoa mình</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Khoa mình</a:t>
                      </a:r>
                    </a:p>
                  </a:txBody>
                  <a:tcPr marL="73152" marR="73152" marT="45720" marB="45720" anchor="ctr">
                    <a:solidFill>
                      <a:srgbClr val="FFFFFF"/>
                    </a:solidFill>
                  </a:tcPr>
                </a:tc>
              </a:tr>
              <a:tr h="629598">
                <a:tc>
                  <a:txBody>
                    <a:bodyPr/>
                    <a:lstStyle/>
                    <a:p>
                      <a:pPr algn="l"/>
                      <a:r>
                        <a:rPr lang="en-US" sz="1700" b="1" dirty="0">
                          <a:solidFill>
                            <a:srgbClr val="000000"/>
                          </a:solidFill>
                          <a:latin typeface="Arial"/>
                          <a:cs typeface="Arial"/>
                        </a:rPr>
                        <a:t>Đạo đức</a:t>
                      </a:r>
                    </a:p>
                  </a:txBody>
                  <a:tcPr marL="73152" marR="73152" marT="45720" marB="45720" anchor="ctr">
                    <a:solidFill>
                      <a:srgbClr val="EAF2F5"/>
                    </a:solidFill>
                  </a:tcPr>
                </a:tc>
                <a:tc>
                  <a:txBody>
                    <a:bodyPr/>
                    <a:lstStyle/>
                    <a:p>
                      <a:pPr algn="l"/>
                      <a:r>
                        <a:rPr lang="en-US" sz="1700" b="1" dirty="0">
                          <a:solidFill>
                            <a:srgbClr val="B23B2E"/>
                          </a:solidFill>
                          <a:latin typeface="Arial"/>
                          <a:cs typeface="Arial"/>
                        </a:rPr>
                        <a:t>Luôn cần hội đồng đạo đức phê duyệt</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Phê duyệt nội bộ, thường không cần hội đồng</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Phê duyệt nội bộ, xét đạo đức nếu có rủi ro mới</a:t>
                      </a:r>
                    </a:p>
                  </a:txBody>
                  <a:tcPr marL="73152" marR="73152" marT="45720" marB="45720" anchor="ctr">
                    <a:solidFill>
                      <a:srgbClr val="F5F9FA"/>
                    </a:solidFill>
                  </a:tcPr>
                </a:tc>
              </a:tr>
            </a:tbl>
          </a:graphicData>
        </a:graphic>
      </p:graphicFrame>
      <p:sp>
        <p:nvSpPr>
          <p:cNvPr id="31" name="Caption"/>
          <p:cNvSpPr txBox="1"/>
          <p:nvPr/>
        </p:nvSpPr>
        <p:spPr>
          <a:xfrm>
            <a:off x="457200" y="4420136"/>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Không chắc là loại nào? Hãy hỏi hội đồng đạo đức trước khi bắt đầu.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Nghiên cứu hỏi cách nào tốt nhất. Audit hỏi mình có làm đúng không. QI giúp làm tốt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ba ví dụ viết thành câu hỏi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Slide dự phòng cho 'Ba ví dụ khác': viết câu hỏi cho từng dòng, rồi so sánh.</a:t>
            </a:r>
          </a:p>
        </p:txBody>
      </p:sp>
      <p:sp>
        <p:nvSpPr>
          <p:cNvPr id="70" name="CardHead"/>
          <p:cNvSpPr/>
          <p:nvPr/>
        </p:nvSpPr>
        <p:spPr>
          <a:xfrm>
            <a:off x="457200" y="19598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Điều trị (PICO)</a:t>
            </a:r>
          </a:p>
        </p:txBody>
      </p:sp>
      <p:sp>
        <p:nvSpPr>
          <p:cNvPr id="71" name="CardBody"/>
          <p:cNvSpPr/>
          <p:nvPr/>
        </p:nvSpPr>
        <p:spPr>
          <a:xfrm>
            <a:off x="457200" y="2599815"/>
            <a:ext cx="3625866" cy="20505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Ở người lớn thở máy tại ICU, bảng kiểm đầu giường 2 lần/ngày, so với chăm sóc thường quy, có làm giảm viêm phổi liên quan thở máy đến ngày 28 tại ICU không?</a:t>
            </a:r>
          </a:p>
        </p:txBody>
      </p:sp>
      <p:sp>
        <p:nvSpPr>
          <p:cNvPr id="72" name="CardHead"/>
          <p:cNvSpPr/>
          <p:nvPr/>
        </p:nvSpPr>
        <p:spPr>
          <a:xfrm>
            <a:off x="4283066" y="19598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Yếu tố nguy cơ (PECO)</a:t>
            </a:r>
          </a:p>
        </p:txBody>
      </p:sp>
      <p:sp>
        <p:nvSpPr>
          <p:cNvPr id="73" name="CardBody"/>
          <p:cNvSpPr/>
          <p:nvPr/>
        </p:nvSpPr>
        <p:spPr>
          <a:xfrm>
            <a:off x="4283066" y="2599815"/>
            <a:ext cx="3625866" cy="20505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Ở người lớn nằm khoa nội, béo phì (BMI từ 30 trở lên), so với BMI dưới 30, có liên quan với tổn thương do tì đè mới trong thời gian nằm viện không?</a:t>
            </a:r>
          </a:p>
        </p:txBody>
      </p:sp>
      <p:sp>
        <p:nvSpPr>
          <p:cNvPr id="74" name="CardHead"/>
          <p:cNvSpPr/>
          <p:nvPr/>
        </p:nvSpPr>
        <p:spPr>
          <a:xfrm>
            <a:off x="8108932" y="19598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Bao nhiêu? (P + O)</a:t>
            </a:r>
          </a:p>
        </p:txBody>
      </p:sp>
      <p:sp>
        <p:nvSpPr>
          <p:cNvPr id="75" name="CardBody"/>
          <p:cNvSpPr/>
          <p:nvPr/>
        </p:nvSpPr>
        <p:spPr>
          <a:xfrm>
            <a:off x="8108932" y="2599815"/>
            <a:ext cx="3625866" cy="20505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Ở người từ 65 tuổi trở lên sau mổ gãy cổ xương đùi, mê sảng xảy ra ở bao nhiêu người trong 7 ngày đầu?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câu hỏi nêu rõ người bệnh, phép so sánh (nếu có), kết cục và thời gian.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PICO cho các loại câu hỏi khác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6170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Chẩn đoán</a:t>
            </a:r>
          </a:p>
        </p:txBody>
      </p:sp>
      <p:sp>
        <p:nvSpPr>
          <p:cNvPr id="71" name="CardBody"/>
          <p:cNvSpPr/>
          <p:nvPr/>
        </p:nvSpPr>
        <p:spPr>
          <a:xfrm>
            <a:off x="457200" y="2201706"/>
            <a:ext cx="3625866" cy="23648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P: người được xét nghiệm</a:t>
            </a:r>
          </a:p>
          <a:p>
            <a:pPr marL="0" indent="0" algn="ctr">
              <a:lnSpc>
                <a:spcPct val="104000"/>
              </a:lnSpc>
              <a:spcBef>
                <a:spcPts val="400"/>
              </a:spcBef>
              <a:buNone/>
            </a:pPr>
            <a:r>
              <a:rPr lang="en-US" sz="1400" dirty="0">
                <a:solidFill>
                  <a:srgbClr val="000000"/>
                </a:solidFill>
                <a:latin typeface="Arial"/>
                <a:cs typeface="Arial"/>
              </a:rPr>
              <a:t>I: xét nghiệm mới</a:t>
            </a:r>
          </a:p>
          <a:p>
            <a:pPr marL="0" indent="0" algn="ctr">
              <a:lnSpc>
                <a:spcPct val="104000"/>
              </a:lnSpc>
              <a:spcBef>
                <a:spcPts val="400"/>
              </a:spcBef>
              <a:buNone/>
            </a:pPr>
            <a:r>
              <a:rPr lang="en-US" sz="1400" dirty="0">
                <a:solidFill>
                  <a:srgbClr val="000000"/>
                </a:solidFill>
                <a:latin typeface="Arial"/>
                <a:cs typeface="Arial"/>
              </a:rPr>
              <a:t>C: tiêu chuẩn tham chiếu</a:t>
            </a:r>
          </a:p>
          <a:p>
            <a:pPr marL="0" indent="0" algn="ctr">
              <a:lnSpc>
                <a:spcPct val="104000"/>
              </a:lnSpc>
              <a:spcBef>
                <a:spcPts val="400"/>
              </a:spcBef>
              <a:buNone/>
            </a:pPr>
            <a:r>
              <a:rPr lang="en-US" sz="1400" dirty="0">
                <a:solidFill>
                  <a:srgbClr val="000000"/>
                </a:solidFill>
                <a:latin typeface="Arial"/>
                <a:cs typeface="Arial"/>
              </a:rPr>
              <a:t>O: độ chính xác</a:t>
            </a:r>
          </a:p>
          <a:p>
            <a:pPr marL="0" indent="0" algn="ctr">
              <a:lnSpc>
                <a:spcPct val="104000"/>
              </a:lnSpc>
              <a:spcBef>
                <a:spcPts val="400"/>
              </a:spcBef>
              <a:buNone/>
            </a:pPr>
            <a:r>
              <a:rPr lang="en-US" sz="1400" i="1" dirty="0">
                <a:solidFill>
                  <a:srgbClr val="000000"/>
                </a:solidFill>
                <a:latin typeface="Arial"/>
                <a:cs typeface="Arial"/>
              </a:rPr>
              <a:t>Ví dụ: ở người nghi nhiễm khuẩn huyết tại khoa cấp cứu, qSOFA chính xác đến đâu so với Sepsis-3?</a:t>
            </a:r>
          </a:p>
        </p:txBody>
      </p:sp>
      <p:sp>
        <p:nvSpPr>
          <p:cNvPr id="72" name="CardHead"/>
          <p:cNvSpPr/>
          <p:nvPr/>
        </p:nvSpPr>
        <p:spPr>
          <a:xfrm>
            <a:off x="4283066" y="156170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Tiên lượng</a:t>
            </a:r>
          </a:p>
        </p:txBody>
      </p:sp>
      <p:sp>
        <p:nvSpPr>
          <p:cNvPr id="73" name="CardBody"/>
          <p:cNvSpPr/>
          <p:nvPr/>
        </p:nvSpPr>
        <p:spPr>
          <a:xfrm>
            <a:off x="4283066" y="2201706"/>
            <a:ext cx="3625866" cy="23648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P: người bệnh mắc một tình trạng</a:t>
            </a:r>
          </a:p>
          <a:p>
            <a:pPr marL="0" indent="0" algn="ctr">
              <a:lnSpc>
                <a:spcPct val="104000"/>
              </a:lnSpc>
              <a:spcBef>
                <a:spcPts val="400"/>
              </a:spcBef>
              <a:buNone/>
            </a:pPr>
            <a:r>
              <a:rPr lang="en-US" sz="1400" dirty="0">
                <a:solidFill>
                  <a:srgbClr val="000000"/>
                </a:solidFill>
                <a:latin typeface="Arial"/>
                <a:cs typeface="Arial"/>
              </a:rPr>
              <a:t>E: yếu tố nguy cơ</a:t>
            </a:r>
          </a:p>
          <a:p>
            <a:pPr marL="0" indent="0" algn="ctr">
              <a:lnSpc>
                <a:spcPct val="104000"/>
              </a:lnSpc>
              <a:spcBef>
                <a:spcPts val="400"/>
              </a:spcBef>
              <a:buNone/>
            </a:pPr>
            <a:r>
              <a:rPr lang="en-US" sz="1400" dirty="0">
                <a:solidFill>
                  <a:srgbClr val="000000"/>
                </a:solidFill>
                <a:latin typeface="Arial"/>
                <a:cs typeface="Arial"/>
              </a:rPr>
              <a:t>O: điều xảy ra</a:t>
            </a:r>
          </a:p>
          <a:p>
            <a:pPr marL="0" indent="0" algn="ctr">
              <a:lnSpc>
                <a:spcPct val="104000"/>
              </a:lnSpc>
              <a:spcBef>
                <a:spcPts val="400"/>
              </a:spcBef>
              <a:buNone/>
            </a:pPr>
            <a:r>
              <a:rPr lang="en-US" sz="1400" dirty="0">
                <a:solidFill>
                  <a:srgbClr val="000000"/>
                </a:solidFill>
                <a:latin typeface="Arial"/>
                <a:cs typeface="Arial"/>
              </a:rPr>
              <a:t>T: đến khi nào</a:t>
            </a:r>
          </a:p>
          <a:p>
            <a:pPr marL="0" indent="0" algn="ctr">
              <a:lnSpc>
                <a:spcPct val="104000"/>
              </a:lnSpc>
              <a:spcBef>
                <a:spcPts val="400"/>
              </a:spcBef>
              <a:buNone/>
            </a:pPr>
            <a:r>
              <a:rPr lang="en-US" sz="1400" i="1" dirty="0">
                <a:solidFill>
                  <a:srgbClr val="000000"/>
                </a:solidFill>
                <a:latin typeface="Arial"/>
                <a:cs typeface="Arial"/>
              </a:rPr>
              <a:t>Ví dụ: trong sốc nhiễm khuẩn, lactate trên 4 mmol/L lúc nhập viện có liên quan với tử vong đến ngày 28 không?</a:t>
            </a:r>
          </a:p>
        </p:txBody>
      </p:sp>
      <p:sp>
        <p:nvSpPr>
          <p:cNvPr id="74" name="CardHead"/>
          <p:cNvSpPr/>
          <p:nvPr/>
        </p:nvSpPr>
        <p:spPr>
          <a:xfrm>
            <a:off x="8108932" y="1561706"/>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Định tính (SPIDER)</a:t>
            </a:r>
          </a:p>
        </p:txBody>
      </p:sp>
      <p:sp>
        <p:nvSpPr>
          <p:cNvPr id="75" name="CardBody"/>
          <p:cNvSpPr/>
          <p:nvPr/>
        </p:nvSpPr>
        <p:spPr>
          <a:xfrm>
            <a:off x="8108932" y="2201706"/>
            <a:ext cx="3625866" cy="23648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S: Mẫu (Sample)</a:t>
            </a:r>
          </a:p>
          <a:p>
            <a:pPr marL="0" indent="0" algn="ctr">
              <a:lnSpc>
                <a:spcPct val="104000"/>
              </a:lnSpc>
              <a:spcBef>
                <a:spcPts val="400"/>
              </a:spcBef>
              <a:buNone/>
            </a:pPr>
            <a:r>
              <a:rPr lang="en-US" sz="1400" dirty="0">
                <a:solidFill>
                  <a:srgbClr val="000000"/>
                </a:solidFill>
                <a:latin typeface="Arial"/>
                <a:cs typeface="Arial"/>
              </a:rPr>
              <a:t>PI: Hiện tượng quan tâm</a:t>
            </a:r>
          </a:p>
          <a:p>
            <a:pPr marL="0" indent="0" algn="ctr">
              <a:lnSpc>
                <a:spcPct val="104000"/>
              </a:lnSpc>
              <a:spcBef>
                <a:spcPts val="400"/>
              </a:spcBef>
              <a:buNone/>
            </a:pPr>
            <a:r>
              <a:rPr lang="en-US" sz="1400" dirty="0">
                <a:solidFill>
                  <a:srgbClr val="000000"/>
                </a:solidFill>
                <a:latin typeface="Arial"/>
                <a:cs typeface="Arial"/>
              </a:rPr>
              <a:t>D: Thiết kế (Design)</a:t>
            </a:r>
          </a:p>
          <a:p>
            <a:pPr marL="0" indent="0" algn="ctr">
              <a:lnSpc>
                <a:spcPct val="104000"/>
              </a:lnSpc>
              <a:spcBef>
                <a:spcPts val="400"/>
              </a:spcBef>
              <a:buNone/>
            </a:pPr>
            <a:r>
              <a:rPr lang="en-US" sz="1400" dirty="0">
                <a:solidFill>
                  <a:srgbClr val="000000"/>
                </a:solidFill>
                <a:latin typeface="Arial"/>
                <a:cs typeface="Arial"/>
              </a:rPr>
              <a:t>E: Đánh giá, R: Loại nghiên cứu</a:t>
            </a:r>
          </a:p>
          <a:p>
            <a:pPr marL="0" indent="0" algn="ctr">
              <a:lnSpc>
                <a:spcPct val="104000"/>
              </a:lnSpc>
              <a:spcBef>
                <a:spcPts val="400"/>
              </a:spcBef>
              <a:buNone/>
            </a:pPr>
            <a:r>
              <a:rPr lang="en-US" sz="1400" i="1" dirty="0">
                <a:solidFill>
                  <a:srgbClr val="000000"/>
                </a:solidFill>
                <a:latin typeface="Arial"/>
                <a:cs typeface="Arial"/>
              </a:rPr>
              <a:t>Ví dụ: điều dưỡng ICU trải nghiệm việc ngừng dịch truyền như thế nào, qua phỏng vấn?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Chữ cái thay đổi, nhưng nguyên tắc giữ nguyên: nói rõ ràng.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Luyện thêm: trượt tiêu chí FINER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4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Mọi người lớn nằm viện trong cả nước: vitamin D có giảm tử vong trong 10 năm?</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Sốc nhiễm khuẩn: hoãn kháng sinh 24 giờ có giảm kháng thuốc?</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Điều dưỡng ICU có rửa tay không? (đã audit hằng tháng suốt 5 năm)</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Viêm phổi: màu của tờ y lệnh có ảnh hưởng tử vong 28 ngày?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câu một chữ cái, trong bình chọn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Mơ hồ và trả lời được: thêm một ví dụ tại khoa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35249"/>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Mơ hồ</a:t>
            </a:r>
          </a:p>
        </p:txBody>
      </p:sp>
      <p:sp>
        <p:nvSpPr>
          <p:cNvPr id="71" name="CardBody"/>
          <p:cNvSpPr/>
          <p:nvPr/>
        </p:nvSpPr>
        <p:spPr>
          <a:xfrm>
            <a:off x="4572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b="1" dirty="0">
                <a:solidFill>
                  <a:srgbClr val="000000"/>
                </a:solidFill>
                <a:latin typeface="Arial"/>
                <a:cs typeface="Arial"/>
              </a:rPr>
              <a:t>"Ca đêm có gây sai sót thuốc không?"</a:t>
            </a:r>
          </a:p>
          <a:p>
            <a:pPr marL="0" indent="0" algn="ctr">
              <a:lnSpc>
                <a:spcPct val="104000"/>
              </a:lnSpc>
              <a:spcBef>
                <a:spcPts val="400"/>
              </a:spcBef>
              <a:buNone/>
            </a:pPr>
            <a:r>
              <a:rPr lang="en-US" sz="1950" dirty="0">
                <a:solidFill>
                  <a:srgbClr val="000000"/>
                </a:solidFill>
                <a:latin typeface="Arial"/>
                <a:cs typeface="Arial"/>
              </a:rPr>
              <a:t>Nhân viên nào?</a:t>
            </a:r>
          </a:p>
          <a:p>
            <a:pPr marL="0" indent="0" algn="ctr">
              <a:lnSpc>
                <a:spcPct val="104000"/>
              </a:lnSpc>
              <a:spcBef>
                <a:spcPts val="400"/>
              </a:spcBef>
              <a:buNone/>
            </a:pPr>
            <a:r>
              <a:rPr lang="en-US" sz="1950" dirty="0">
                <a:solidFill>
                  <a:srgbClr val="000000"/>
                </a:solidFill>
                <a:latin typeface="Arial"/>
                <a:cs typeface="Arial"/>
              </a:rPr>
              <a:t>So với cái gì?</a:t>
            </a:r>
          </a:p>
          <a:p>
            <a:pPr marL="0" indent="0" algn="ctr">
              <a:lnSpc>
                <a:spcPct val="104000"/>
              </a:lnSpc>
              <a:spcBef>
                <a:spcPts val="400"/>
              </a:spcBef>
              <a:buNone/>
            </a:pPr>
            <a:r>
              <a:rPr lang="en-US" sz="1950" dirty="0">
                <a:solidFill>
                  <a:srgbClr val="000000"/>
                </a:solidFill>
                <a:latin typeface="Arial"/>
                <a:cs typeface="Arial"/>
              </a:rPr>
              <a:t>Sai sót nào, đếm thế nào?</a:t>
            </a:r>
          </a:p>
          <a:p>
            <a:pPr marL="0" indent="0" algn="ctr">
              <a:lnSpc>
                <a:spcPct val="104000"/>
              </a:lnSpc>
              <a:spcBef>
                <a:spcPts val="400"/>
              </a:spcBef>
              <a:buNone/>
            </a:pPr>
            <a:r>
              <a:rPr lang="en-US" sz="1950" dirty="0">
                <a:solidFill>
                  <a:srgbClr val="000000"/>
                </a:solidFill>
                <a:latin typeface="Arial"/>
                <a:cs typeface="Arial"/>
              </a:rPr>
              <a:t>Trong bao lâu?</a:t>
            </a:r>
          </a:p>
        </p:txBody>
      </p:sp>
      <p:sp>
        <p:nvSpPr>
          <p:cNvPr id="72" name="CardHead"/>
          <p:cNvSpPr/>
          <p:nvPr/>
        </p:nvSpPr>
        <p:spPr>
          <a:xfrm>
            <a:off x="6196000" y="1535249"/>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Trả lời được, nhờ PECO</a:t>
            </a:r>
          </a:p>
        </p:txBody>
      </p:sp>
      <p:sp>
        <p:nvSpPr>
          <p:cNvPr id="73" name="CardBody"/>
          <p:cNvSpPr/>
          <p:nvPr/>
        </p:nvSpPr>
        <p:spPr>
          <a:xfrm>
            <a:off x="61960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dirty="0">
                <a:solidFill>
                  <a:srgbClr val="000000"/>
                </a:solidFill>
                <a:latin typeface="Arial"/>
                <a:cs typeface="Arial"/>
              </a:rPr>
              <a:t>P: Ở điều dưỡng khoa phòng,</a:t>
            </a:r>
          </a:p>
          <a:p>
            <a:pPr marL="0" indent="0" algn="ctr">
              <a:lnSpc>
                <a:spcPct val="104000"/>
              </a:lnSpc>
              <a:spcBef>
                <a:spcPts val="400"/>
              </a:spcBef>
              <a:buNone/>
            </a:pPr>
            <a:r>
              <a:rPr lang="en-US" sz="1950" dirty="0">
                <a:solidFill>
                  <a:srgbClr val="000000"/>
                </a:solidFill>
                <a:latin typeface="Arial"/>
                <a:cs typeface="Arial"/>
              </a:rPr>
              <a:t>E: làm ca đêm,</a:t>
            </a:r>
          </a:p>
          <a:p>
            <a:pPr marL="0" indent="0" algn="ctr">
              <a:lnSpc>
                <a:spcPct val="104000"/>
              </a:lnSpc>
              <a:spcBef>
                <a:spcPts val="400"/>
              </a:spcBef>
              <a:buNone/>
            </a:pPr>
            <a:r>
              <a:rPr lang="en-US" sz="1950" dirty="0">
                <a:solidFill>
                  <a:srgbClr val="000000"/>
                </a:solidFill>
                <a:latin typeface="Arial"/>
                <a:cs typeface="Arial"/>
              </a:rPr>
              <a:t>C: so với ca ngày,</a:t>
            </a:r>
          </a:p>
          <a:p>
            <a:pPr marL="0" indent="0" algn="ctr">
              <a:lnSpc>
                <a:spcPct val="104000"/>
              </a:lnSpc>
              <a:spcBef>
                <a:spcPts val="400"/>
              </a:spcBef>
              <a:buNone/>
            </a:pPr>
            <a:r>
              <a:rPr lang="en-US" sz="1950" dirty="0">
                <a:solidFill>
                  <a:srgbClr val="000000"/>
                </a:solidFill>
                <a:latin typeface="Arial"/>
                <a:cs typeface="Arial"/>
              </a:rPr>
              <a:t>O: có liên quan với nhiều sai sót hơn trên 1000 liều thuốc</a:t>
            </a:r>
          </a:p>
          <a:p>
            <a:pPr marL="0" indent="0" algn="ctr">
              <a:lnSpc>
                <a:spcPct val="104000"/>
              </a:lnSpc>
              <a:spcBef>
                <a:spcPts val="400"/>
              </a:spcBef>
              <a:buNone/>
            </a:pPr>
            <a:r>
              <a:rPr lang="en-US" sz="1950" dirty="0">
                <a:solidFill>
                  <a:srgbClr val="000000"/>
                </a:solidFill>
                <a:latin typeface="Arial"/>
                <a:cs typeface="Arial"/>
              </a:rPr>
              <a:t>T: trong 6 tháng không?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Luyện tại khoa của bạn: lấy một câu hỏi hành lang và điền vào các ô.</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