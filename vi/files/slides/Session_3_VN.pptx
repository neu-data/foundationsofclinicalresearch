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(0:00). Chào mừng đến Tuần 3. Ở Buổi 1 và 2 chúng ta đặt câu hỏi và tìm bằng chứng. Hôm nay chọn CÁCH một nghiên cứu trả lời câu hỏi; thứ Bảy tuần sau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Nhịp độ: buổi này cố ý đi chậm. Mỗi thiết kế được trình bày bằng hình trên trục thời gian, rồi một ví dụ từng bước, rồi một câu hỏi kiểm tra nhanh.</a:t>
            </a:r>
          </a:p>
          <a:p>
            <a:r>
              <a:rPr lang="en-US" sz="1400" b="0" dirty="0"/>
              <a:t>Ví dụ xuyên suốt: câu hỏi về dịch truyền được trả lời hai lần: bằng một thử nghiệm ngẫu nhiên nhỏ (Boulet 2024) và một nghiên cứu thuần tập lớn (Hyun 2023).</a:t>
            </a:r>
          </a:p>
          <a:p>
            <a:r>
              <a:rPr lang="en-US" sz="1400" b="0" dirty="0"/>
              <a:t>Hỏi cả lớp: ai đã từng tham gia thu thập dữ liệu cho một nghiên cứu? Dự kiến: vài người. Dùng họ làm ví dụ sau.</a:t>
            </a:r>
          </a:p>
          <a:p>
            <a:r>
              <a:rPr lang="en-US" sz="1400" b="0" dirty="0"/>
              <a:t>Thời gian: 1 phút. Lịch: ôn tập 10, 3.1 45, bài tập 15, giải lao 15, 3.2 35, bài tập 20, đề cương 35,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của từng nhóm trở lại bàn. Phần xây dựng đề cương hôm nay chọn thiết kế cho câu hỏi đó.</a:t>
            </a:r>
          </a:p>
          <a:p>
            <a:r>
              <a:rPr lang="en-US" sz="1400" b="0" dirty="0"/>
              <a:t>Đáp án. C1: AND với một khái niệm khác thu hẹp tìm kiếm; OR mở rộng. C2: hình và bảng (thứ tự đọc: tiêu đề, tóm tắt, hình và bảng, rồi phương pháp). C3: tô vẽ (spin), tức là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nên viết lại câu đó thế nào? Dự kiến: 'tử vong không khác biệt rõ giữa hai nhóm (p = 0,42)'.</a:t>
            </a:r>
          </a:p>
          <a:p>
            <a:r>
              <a:rPr lang="en-US" sz="1400" b="0" dirty="0"/>
              <a:t>Thời gian: khoảng 6 phút cho ba câu, 3 phút để nhóm đọc lại câu hỏi. Ghi lại nhóm nào đổi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đọc bốn tiêu đề; chi tiết đến dần theo từng slide. Nói với cả lớp slide này có in trong tài liệu như một bảng thuật ngữ.</a:t>
            </a:r>
          </a:p>
          <a:p>
            <a:r>
              <a:rPr lang="en-US" sz="1400" b="0" dirty="0"/>
              <a:t>Ý chính: gần như mọi câu hỏi về thiết kế trở nên dễ khi gọi tên được PHƠI NHIỄM và KẾT CỤC. Ta luyện điều đó trước.</a:t>
            </a:r>
          </a:p>
          <a:p>
            <a:r>
              <a:rPr lang="en-US" sz="1400" b="0" dirty="0"/>
              <a:t>Quan niệm sai: 'phải học thuộc tên thiết kế'. Không. Có thể suy ra từ hai câu hỏi ở thông điệp chính.</a:t>
            </a:r>
          </a:p>
          <a:p>
            <a:r>
              <a:rPr lang="en-US" sz="1400" b="0" dirty="0"/>
              <a:t>Hỏi cả lớp: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sợi chỉ xuyên suốt cả buổi. Đọc to câu hỏi: đó là PICO cả lớp đã xây dựng ở Buổi 1.</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Hyun xét tử vong ngày 28 (đúng câu hỏi của chúng ta) nhưng không chỉ định được gì.</a:t>
            </a:r>
          </a:p>
          <a:p>
            <a:r>
              <a:rPr lang="en-US" sz="1400" b="0" dirty="0"/>
              <a:t>Quan niệm sai: 'nghiên cứu lớn hơn luôn tốt hơn'. Cỡ mẫu làm giảm sai số ngẫu nhiên, không loại bỏ sai lệch. Ta quay lại ở Buổi 4.</a:t>
            </a:r>
          </a:p>
          <a:p>
            <a:r>
              <a:rPr lang="en-US" sz="1400" b="0" dirty="0"/>
              <a:t>Hỏi cả lớp: nghiên cứu nào đáng tin hơn để biết hạn chế dịch có CỨU SỐNG bệnh nhân không? Dự kiến: ý kiến khác nhau, và đó chính là vấn đề. Không nghiên cứu nào trả lời trọn vẹn. Giữ sự băn khoăn này đến cuối phần 3.1.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gồm hai lần kiểm tra ngắn).</a:t>
            </a:r>
          </a:p>
          <a:p>
            <a:r>
              <a:rPr lang="en-US" sz="1400" b="0" dirty="0"/>
              <a:t>Ý chính: học thiết kế như những hình vẽ trên trục thời gian, không phải định nghĩa. Với mỗi thiết kế hỏi: ai quyết định phơi nhiễm, và thời gian chạy chiều nào? Sau mỗi hình là một ví dụ từng bước.</a:t>
            </a:r>
          </a:p>
          <a:p>
            <a:r>
              <a:rPr lang="en-US" sz="1400" b="0" dirty="0"/>
              <a:t>Nói với cả lớp: không cần thuộc tên. Cuối phần này họ sẽ tự vẽ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trên xuống. Nghiên cứu mô tả mô tả điều đang có, không so sánh. Nghiên cứu phân tích so sánh các nhóm để kiểm định một mối liên quan.</a:t>
            </a:r>
          </a:p>
          <a:p>
            <a:r>
              <a:rPr lang="en-US" sz="1400" b="0" dirty="0"/>
              <a:t>Nghiên cứu phân tích lại chia hai: quan sát (nhà nghiên cứu theo dõi điều xảy ra trong chăm sóc thường ngày) và thực nghiệm (nhà nghiên cứu quyết định ai nhận gì).</a:t>
            </a:r>
          </a:p>
          <a:p>
            <a:r>
              <a:rPr lang="en-US" sz="1400" b="0" dirty="0"/>
              <a:t>Tổng quan hệ thống nằm ngoài cây: đó là nghiên cứu về các nghiên cứu, tổng hợp nhiều thiết kế bên dưới.</a:t>
            </a:r>
          </a:p>
          <a:p>
            <a:r>
              <a:rPr lang="en-US" sz="1400" b="0" dirty="0"/>
              <a:t>Quan niệm sai: 'quan sát nghĩa là kém'. Không. Nhiều câu hỏi quan trọng (tác hại, tiên lượng, bệnh hiếm) chỉ trả lời được bằng nghiên cứu quan sát. Vấn đề là sự phù hợp, không phải thứ hạng.</a:t>
            </a:r>
          </a:p>
          <a:p>
            <a:r>
              <a:rPr lang="en-US" sz="1400" b="0" dirty="0"/>
              <a:t>Hỏi cả lớp: Boulet nằm ở đâu?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(một điều trị, chiến lược, yếu tố nguy cơ, hành vi). Kết cục: điều đếm sau đó (tử vong, nhiễm khuẩn, tổn thương, một chỉ số xét nghiệm). Nhóm so sánh là những người không có phơi nhiễm, hoặc được chăm sóc thường quy.</a:t>
            </a:r>
          </a:p>
          <a:p>
            <a:r>
              <a:rPr lang="en-US" sz="1400" b="0" dirty="0"/>
              <a:t>Đi qua bốn ví dụ. Cùng một biến có thể đóng vai trò khác nhau: cân bằng dịch là KẾT CỤC trong Boulet (cân bằng dịch ngày 5) nhưng là PHƠI NHIỄM trong Hyun (cân bằng đến ngày 3, kết cục tử vong).</a:t>
            </a:r>
          </a:p>
          <a:p>
            <a:r>
              <a:rPr lang="en-US" sz="1400" b="0" dirty="0"/>
              <a:t>Quan niệm sai: 'phơi nhiễm phải có hại'. Không. Một điều trị cũng là phơi nhiễm.</a:t>
            </a:r>
          </a:p>
          <a:p>
            <a:r>
              <a:rPr lang="en-US" sz="1400" b="0" dirty="0"/>
              <a:t>Hỏi cả lớp: trong 'Vận động sớm có giảm mê sảng ở ICU không?', đâu là phơi nhiễm, kết cục và so sánh? Dự kiến: vận động sớm; mê sảng; vận động thường quy (muộn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bệnh nhân đặc biệt được mô tả chi tiết. Có vai trò lịch sử quan trọng (những báo cáo đầu tiên về AIDS, tác hại của thalidomide) vì chúng báo động và gợi giả thuyết.</a:t>
            </a:r>
          </a:p>
          <a:p>
            <a:r>
              <a:rPr lang="en-US" sz="1400" b="0" dirty="0"/>
              <a:t>Nghiên cứu cắt ngang: một bức ảnh chụp quần thể tại một thời điểm, ví dụ khảo sát loét do tì đè ở mọi khoa trong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cho một ví dụ nghiên cứu cắt ngang có thể làm ở khoa mình tuần tới. Dự kiến: khảo sát hiện mắc một thời điểm (dùng ống thông,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để 'cắt ngang' trở nên cụ thể. Số liệu giả định.</a:t>
            </a:r>
          </a:p>
          <a:p>
            <a:r>
              <a:rPr lang="en-US" sz="1400" b="0" dirty="0"/>
              <a:t>Bước 1-2: mọi người có mặt trong một ngày, được khám cùng một cách (giúp tránh sai lệch thông tin, sẽ học ở Buổi 4). Bước 3: phơi nhiễm (đệm) và kết cục (loét) được ghi cùng lúc. Bước 4: kết quả là tỷ lệ hiện mắc: 37/412 bệnh nhân, 9%.</a:t>
            </a:r>
          </a:p>
          <a:p>
            <a:r>
              <a:rPr lang="en-US" sz="1400" b="0" dirty="0"/>
              <a:t>Ý chính: có thể so sánh các nhóm (loét ở đệm thường và đệm khí), nhưng không biết đệm có trước hay bệnh nhân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vấn đề nào khác ở khoa có thể đo trong một ngày? Dự kiến: ống thông tiểu đang đặt,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tay vẽ mũi tên từ phải sang trái. Ta bắt đầu HÔM NAY với những người đã có kết cục (nhóm bệnh) và những người tương tự không có (nhóm chứng). Rồi nhìn ngược lại tìm phơi nhiễm.</a:t>
            </a:r>
          </a:p>
          <a:p>
            <a:r>
              <a:rPr lang="en-US" sz="1400" b="0" dirty="0"/>
              <a:t>Ví dụ: bệnh nhân ICU bị nhiễm nấm Candida máu (nhóm bệnh) so với bệnh nhân ICU không bị (nhóm chứng); tra hồ sơ xem có nuôi ăn tĩnh mạch không.</a:t>
            </a:r>
          </a:p>
          <a:p>
            <a:r>
              <a:rPr lang="en-US" sz="1400" b="0" dirty="0"/>
              <a:t>Điểm mạnh: hiệu quả với kết cục HIẾM hoặc thời gian ủ bệnh dài, vì không cần theo dõi hàng nghìn người. Điểm yếu: sai lệch nhớ lại, khó chọn nhóm chứng tốt, và chỉ tính được tỷ số chênh (OR), không tính được nguy cơ.</a:t>
            </a:r>
          </a:p>
          <a:p>
            <a:r>
              <a:rPr lang="en-US" sz="1400" b="0" dirty="0"/>
              <a:t>Quan niệm sai: 'bệnh - chứng giống thuần tập hồi cứu vì cùng dùng hồ sơ cũ'. Khác biệt nằm ở cách chọn người: theo KẾT CỤC trong bệnh - chứng, theo PHƠI NHIỄM trong thuần tập.</a:t>
            </a:r>
          </a:p>
          <a:p>
            <a:r>
              <a:rPr lang="en-US" sz="1400" b="0" dirty="0"/>
              <a:t>Hỏi cả lớp: vì sao không tính được nguy cơ nhiễm Candida máu từ nghiên cứu bệnh - 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này xuất hiện lại trong bài tính toán ở Buổi 4, nên hãy đi chậm.</a:t>
            </a:r>
          </a:p>
          <a:p>
            <a:r>
              <a:rPr lang="en-US" sz="1400" b="0" dirty="0"/>
              <a:t>Bước 1: ca bệnh là người CÓ kết cục. Bước 2: ca chứng là những người tương tự KHÔNG có kết cục, từ cùng nguồn (cùng ICU, cùng thời gian). Chọn ca chứng tốt là phần khó nhất. Bước 3: nhìn lại phơi nhiễm, cùng một cách cho cả hai nhóm. Bước 4: 60% ca bệnh so với 20% ca chứng có phơi nhiễm. Bước 5: kết quả là tỷ số chênh (OR = 6,0, sẽ tính thứ Bảy tuần sau).</a:t>
            </a:r>
          </a:p>
          <a:p>
            <a:r>
              <a:rPr lang="en-US" sz="1400" b="0" dirty="0"/>
              <a:t>Quan niệm sai: 'ca chứng nên là người tình nguyện khỏe mạnh'. Không. Ca chứng phải đến từ quần thể đã sinh ra ca bệnh, nếu không phép so sánh không công bằng.</a:t>
            </a:r>
          </a:p>
          <a:p>
            <a:r>
              <a:rPr lang="en-US" sz="1400" b="0" dirty="0"/>
              <a:t>Hỏi cả lớp: vì sao không báo cáo được nguy cơ nhiễm Candida máu từ nghiên cứu này? Dự kiến: ta tự chọn số ca bệnh và ca chứng (1:2), nên tỷ lệ mắc do ta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vì nhà nghiên cứu không chọn ai được truyền nhiều dịch hơn.</a:t>
            </a:r>
          </a:p>
          <a:p>
            <a:r>
              <a:rPr lang="en-US" sz="1400" b="0" dirty="0"/>
              <a:t>Quan niệm sai: 'hồi cứu nghĩa là chất lượng kém'. Không hẳn. Chất lượng phụ thuộc vào việc ghi chép dữ liệu tốt đến đâu.</a:t>
            </a:r>
          </a:p>
          <a:p>
            <a:r>
              <a:rPr lang="en-US" sz="1400" b="0" dirty="0"/>
              <a:t>Hỏi cả lớp: trong Hyun, ai quyết định bệnh nhân nào được truyền nhiều dịch hơn? Dự kiến: bác sĩ điều trị, tùy theo bệnh nhân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hoạt động. Đây là ví dụ tốt về thuần tập xây dựng từ một sổ bộ có dữ liệu thu thập tiến cứu.</a:t>
            </a:r>
          </a:p>
          <a:p>
            <a:r>
              <a:rPr lang="en-US" sz="1400" b="0" dirty="0"/>
              <a:t>Bước 1: nhóm thuần tập: ai được theo dõi (và ai bị loại: bệnh nhân rời ICU trước ngày 3). Bước 2: phơi nhiễm được đo TRƯỚC kết cục. Bước 3: kết cục được đếm sau đó. Bước 4: so sánh các nhóm; Hyun ghép cặp theo điểm xu hướng để các nhóm tương đồng (483, 373 và 392 cặp cho ngày 1, 2 và 3). Kết quả ngày 2: HR 2,13 (KTC 95% 1,48-3,06); ngày 1 không khác biệt rõ.</a:t>
            </a:r>
          </a:p>
          <a:p>
            <a:r>
              <a:rPr lang="en-US" sz="1400" b="0" dirty="0"/>
              <a:t>Quan niệm sai: 'thuần tập phải bắt đầu từ hôm nay'. Thuần tập hồi cứu dùng hồ sơ cũ nhưng vẫn đi từ phơi nhiễm đến kết cục.</a:t>
            </a:r>
          </a:p>
          <a:p>
            <a:r>
              <a:rPr lang="en-US" sz="1400" b="0" dirty="0"/>
              <a:t>Hỏi cả lớp: ai quyết định bệnh nhân nào được truyền nhiều dịch hơn? Dự kiến: bác sĩ điều trị, thường vì bệnh nhân nặng hơn. Ta quay lại ở Buổi 4 (yếu tố nhiễu).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người lớn bị sốc nhiễm khuẩn được máy tính trung tâm phân nhóm ngẫu nhiên tỷ lệ 1:1 vào chiến lược hạn chế dịch không phải hồi sức hoặc chăm sóc thường quy. Hai bệnh nhân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bệnh nhân mỗi nhóm, điều này gần như không nói được gì về tử vong.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thử nghiệm ngẫu nhiên thí điểm tại 3 ICU.</a:t>
            </a:r>
          </a:p>
          <a:p>
            <a:r>
              <a:rPr lang="en-US" sz="1400" b="0" dirty="0"/>
              <a:t>Bước 1: tiêu chuẩn chọn chặt chẽ (ta quay lại khi xây dựng đề cương). Bước 2: đồng ý tham gia (ở ICU thường từ người đại diện), trước hoặc ngay sau phân nhóm. Bước 3: phân nhóm bằng máy tính trung tâm giữ kín lần phân bổ tiếp theo (che giấu phân bổ, Buổi 4). Bước 4: thực hiện hai chiến lược. Bước 5: kết cục chính là cân bằng dịch ngày 5; tử vong ngày 28 là 6/24 ở mỗi nhóm.</a:t>
            </a:r>
          </a:p>
          <a:p>
            <a:r>
              <a:rPr lang="en-US" sz="1400" b="0" dirty="0"/>
              <a:t>Quan niệm sai: 'ngẫu nhiên = làm mù'. Không phải ở đây. Bác sĩ biết nhóm; chỉ bệnh nhân và nhà thống kê được làm mù.</a:t>
            </a:r>
          </a:p>
          <a:p>
            <a:r>
              <a:rPr lang="en-US" sz="1400" b="0" dirty="0"/>
              <a:t>Hỏi cả lớp: bước nào biến đây thành THỰC NGHIỆM thay vì thuần tập? Dự kiến: bước 3, khi nhà nghiên cứu chỉ định phơi nhiễm.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tự làm, rồi giơ tay cho từng tình huống. Chưa giải thích; slide sau có đáp án.</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và mời một người giải thích bằng lời của mình.</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 - chứng'. Cách chọn mới quyết định: theo kết cục = bệnh - chứng; theo phơi nhiễm = thuần tập.</a:t>
            </a:r>
          </a:p>
          <a:p>
            <a:r>
              <a:rPr lang="en-US" sz="1400" b="0" dirty="0"/>
              <a:t>Nếu đa số làm đúng cả ba, đi nhanh hơn qua các slide sau; nếu không, vẽ lại ba trục thời gian lên bảng.</a:t>
            </a:r>
          </a:p>
          <a:p>
            <a:r>
              <a:rPr lang="en-US" sz="1400" b="0" dirty="0"/>
              <a:t>Thời gian: nằm trong 3 phút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Boolean ở Buổi 2) và thẩm định mọi nghiên cứu tìm được. Phân tích gộp sau đó gộp kết quả thành một ước lượng chung: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đầu vào kém, đầu ra kém. Gộp các thử nghiệm nhỏ bị sai lệch cho một câu trả lời sai nhưng rất chính xác.</a:t>
            </a:r>
          </a:p>
          <a:p>
            <a:r>
              <a:rPr lang="en-US" sz="1400" b="0" dirty="0"/>
              <a:t>Hỏi cả lớp: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Boulet là RCT,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bệnh nhân không bác bỏ được một thuần tập đa trung tâm cẩn thận về tử vong. Chúng trả lời những phần khác nhau của câu hỏi.</a:t>
            </a:r>
          </a:p>
          <a:p>
            <a:r>
              <a:rPr lang="en-US" sz="1400" b="0" dirty="0"/>
              <a:t>Hỏi cả lớp: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ở cuối phần 3.1. Đi chậm một lần với Boulet, rồi với Hyun.</a:t>
            </a:r>
          </a:p>
          <a:p>
            <a:r>
              <a:rPr lang="en-US" sz="1400" b="0" dirty="0"/>
              <a:t>Boulet: nhà nghiên cứu có chỉ định chiến lược không? Có. Ngẫu nhiên? Có. RCT.</a:t>
            </a:r>
          </a:p>
          <a:p>
            <a:r>
              <a:rPr lang="en-US" sz="1400" b="0" dirty="0"/>
              <a:t>Hyun: có chỉ định? Không. Có nhóm so sánh? Có (cân bằng dương vs âm). Phơi nhiễm đo trước và kết cục theo dõi sau? Có. Thuần tập.</a:t>
            </a:r>
          </a:p>
          <a:p>
            <a:r>
              <a:rPr lang="en-US" sz="1400" b="0" dirty="0"/>
              <a:t>Quan niệm sai: gọi tên thiết kế theo chữ trong tiêu đề ('tiến cứu', 'sổ bộ', 'hồi cứu'). Tiêu đề có thể gây nhầm, vì vậy hãy dùng ba câu hỏi.</a:t>
            </a:r>
          </a:p>
          <a:p>
            <a:r>
              <a:rPr lang="en-US" sz="1400" b="0" dirty="0"/>
              <a:t>Hỏi cả lớp: một nghiên cứu so sánh điểm vệ sinh tay của điều dưỡng và tỷ lệ nhiễm khuẩn ở mọi khoa trong một ngày. Thiết kế gì? Dự kiến: không chỉ định, có so sánh, cùng thời điểm = cắt ngang. Còn một gói can thiệp áp dụng từ một ngày, so sánh trước và sau? Có chỉ định nhưng không ngẫu nhiên: nghiên cứu không ngẫu nhiên (bán thực nghiệm).</a:t>
            </a:r>
          </a:p>
          <a:p>
            <a:r>
              <a:rPr lang="en-US" sz="1400" b="0" dirty="0"/>
              <a:t>Thời gian: 3 phút. Nếu được, để slide này trên màn hình trong lúc làm bài tập (hoặc in trong tài liệu phát 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bệnh nhân thử nghiệm được chọn lọc (Boulet loại người trên 85 tuổi, người cần lọc máu và người suy dinh dưỡng nặng).</a:t>
            </a:r>
          </a:p>
          <a:p>
            <a:r>
              <a:rPr lang="en-US" sz="1400" b="0" dirty="0"/>
              <a:t>Quan niệm sai: 'nghiên cứu bệnh - chứng yếu'. Với kết cục hiếm, đó thường là thiết kế khả thi duy nhất, và chính nó lần đầu liên kết hút thuốc với ung thư phổi.</a:t>
            </a:r>
          </a:p>
          <a:p>
            <a:r>
              <a:rPr lang="en-US" sz="1400" b="0" dirty="0"/>
              <a:t>Hỏi cả lớp: muốn tìm yếu tố nguy cơ của một phản ứng thuốc hiếm, chọn thiết kế nào? Dự kiến: bệnh - chứng.</a:t>
            </a:r>
          </a:p>
          <a:p>
            <a:r>
              <a:rPr lang="en-US" sz="1400" b="0" dirty="0"/>
              <a:t>Thời gian: 2 phút. Tài liệu phát tay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bệnh nhân và 6 ca tử vong mỗi nhóm, nó không nói được gì chắc chắn về tử vong. Bác sĩ biết phân nhóm, điều này có thể ảnh hưởng lượng dịch họ truyền.</a:t>
            </a:r>
          </a:p>
          <a:p>
            <a:r>
              <a:rPr lang="en-US" sz="1400" b="0" dirty="0"/>
              <a:t>Hyun (thuần tập): hàng nghìn bệnh nhân và đúng kết cục ta quan tâm. Cân bằng dịch dương ở ngày 2-3 có liên quan với tử vong ngày 28 cao hơn (HR 2,13 ở ngày 2; 1,56 ở ngày 3; ngày 1 không khác biệt rõ). Nhưng không chứng minh được dịch gây tử vong, vì bệnh nhân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viết một câu kết luận trung thực cho mỗi bài. Dự kiến: với Boulet, 'chiến lược không làm giảm rõ cân bằng dịch ngày 5'; với Hyun, 'cân bằng dịch dương ở ngày 2-3 có liên quan với tử vong cao hơn'.</a:t>
            </a:r>
          </a:p>
          <a:p>
            <a:r>
              <a:rPr lang="en-US" sz="1400" b="0" dirty="0"/>
              <a:t>Thời gian: 3 phút. Sau đó là 2 phút kiểm tra,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ngón cái lên (lời lẽ hợp thiết kế) hoặc xuống.</a:t>
            </a:r>
          </a:p>
          <a:p>
            <a:r>
              <a:rPr lang="en-US" sz="1400" b="0" dirty="0"/>
              <a:t>Đáp án. A: lên. Thử nghiệm ngẫu nhiên được phép nói về nhân quả, và câu này báo cáo trung thực một kết quả âm tính. B: XUỐNG. Thuần tập chỉ nói 'có liên quan', không nói 'gây ra' (chính tóm tắt của Hyun dùng đúng chữ 'có liên quan'). C: lên. 'Có liên quan' là từ đúng cho khảo sát cắt ngang; nó không cho biết cái nào có trước.</a:t>
            </a:r>
          </a:p>
          <a:p>
            <a:r>
              <a:rPr lang="en-US" sz="1400" b="0" dirty="0"/>
              <a:t>Ý chính: đây là câu 8 trong bảng kiểm thẩm định dùng ở Buổi 8: lời lẽ có khớp với thiết kế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Practicals/s3_exercises.md, Phần A. Đáp án: Solutions/s3_solutions.md.</a:t>
            </a:r>
          </a:p>
          <a:p>
            <a:r>
              <a:rPr lang="en-US" sz="1400" b="0" dirty="0"/>
              <a:t>Cách chạy: 9 phút làm theo cặp, 6 phút thảo luận chung. Khi thảo luận, không đi qua cả tám câu. Hỏi các cặp đã đánh dấu sao câu nào và thảo luận những câu đó. Tóm tắt 5 (thuần tập hồi cứu nghe giống bệnh - chứng), 7 (nghiên cứu trước-sau không ngẫu nhiên) và 9 (thử nghiệm theo cụm, tùy chọn; sẽ học sau giải lao) thường khó nhất.</a:t>
            </a:r>
          </a:p>
          <a:p>
            <a:r>
              <a:rPr lang="en-US" sz="1400" b="0" dirty="0"/>
              <a:t>Ý chính: cụm từ làm bằng chứng quan trọng hơn cái nhãn: 'phân bổ ngẫu nhiên', 'chọn những bệnh nhân đã bị', 'theo dõi trong 12 tháng', 'trong một ngày'.</a:t>
            </a:r>
          </a:p>
          <a:p>
            <a:r>
              <a:rPr lang="en-US" sz="1400" b="0" dirty="0"/>
              <a:t>Quan niệm sai cần lắng nghe: 'dùng hồ sơ cũ nên là bệnh - chứng'. Hỏi lại: người được chọn theo kết cục hay theo phơi nhiễm?</a:t>
            </a:r>
          </a:p>
          <a:p>
            <a:r>
              <a:rPr lang="en-US" sz="1400" b="0" dirty="0"/>
              <a:t>Thời gian: nếu các cặp xong sớm, yêu cầu nêu một điểm mạnh và một điểm yếu cho mỗi thiết kế.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hỏi nhẹ nhàng họ đang nghĩ đến thiết kế nào cho câu hỏi của mình. Điều này giúp bạn biết nhóm nào sẽ cần hỗ trợ trong phần xây dựng đề cương.</a:t>
            </a:r>
          </a:p>
          <a:p>
            <a:r>
              <a:rPr lang="en-US" sz="1400" b="0" dirty="0"/>
              <a:t>Bắt đầu lại đúng giờ, kể cả khi vài người chưa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(35 phút, gồm 3 phút kiểm tra).</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các nhóm chọn được điều khả thi.</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bệnh nhân nhận một điều trị (Boulet). Ba biến thể giải quyết những vấn đề riêng.</a:t>
            </a:r>
          </a:p>
          <a:p>
            <a:r>
              <a:rPr lang="en-US" sz="1400" b="0" dirty="0"/>
              <a:t>Bắt chéo (crossover): mỗi bệnh nhân nhận cả hai điều trị theo thứ tự ngẫu nhiên, có giai đoạn thải trừ ở giữa, và là đối chứng của chính mình, nên cần ít bệnh nhân hơn. Chỉ dùng cho bệnh mạn tính, ổn định, khi tác dụng hết đi (ví dụ thuốc hít trong COPD). Vô dụng trong sốc nhiễm khuẩn: bệnh nhân ở ngày 7 không còn như ngày 1.</a:t>
            </a:r>
          </a:p>
          <a:p>
            <a:r>
              <a:rPr lang="en-US" sz="1400" b="0" dirty="0"/>
              <a:t>Theo cụm (cluster): phân nhóm ngẫu nhiên cả khoa, ICU hoặc bệnh viện, không phải từng bệnh nhân. Dùng khi can thiệp tác động ở cấp đơn vị (chương trình vệ sinh tay, gói xử trí nhiễm khuẩn huyết) hoặc khi bệnh nhân cùng khoa 'lây' can thiệp cho nhau. Cần nhiều bệnh nhân hơn vì bệnh nhân trong một cụm giống nhau.</a:t>
            </a:r>
          </a:p>
          <a:p>
            <a:r>
              <a:rPr lang="en-US" sz="1400" b="0" dirty="0"/>
              <a:t>Giai thừa (factorial): hai câu hỏi trong một thử nghiệm. Bệnh nhân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muốn thử một bảng kiểm bàn giao mới cho điều dưỡng, chọn cách bố trí nào? Dự kiến: theo cụm. Phân nhóm ngẫu nhiên theo khoa hoặc ca trực, không theo bệnh nhân.</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(thường vì nó rẻ hơn, an toàn hơn, đơn giản hơn hoặc dùng ít dịch hơn).</a:t>
            </a:r>
          </a:p>
          <a:p>
            <a:r>
              <a:rPr lang="en-US" sz="1400" b="0" dirty="0"/>
              <a:t>Ngưỡng (ở đây +5 điểm phần trăm tử vong, giả định) là mức thiệt hại lớn nhất ta chấp nhận. Ngưỡng được định trong đề cương, trước khi có dữ liệu, dựa trên lập luận lâm sàng.</a:t>
            </a:r>
          </a:p>
          <a:p>
            <a:r>
              <a:rPr lang="en-US" sz="1400" b="0" dirty="0"/>
              <a:t>Đọc các thanh (hiệu số và KTC 95%). A: toàn bộ KTC dưới 0, vậy là vượt trội. B: KTC cắt 0 nhưng vẫn dưới ngưỡng, vậy là không kém hơn. C: KTC cắt ngưỡng, vậy là chưa kết luận. D: toàn bộ KTC trên ngưỡng, vậy là kém hơn.</a:t>
            </a:r>
          </a:p>
          <a:p>
            <a:r>
              <a:rPr lang="en-US" sz="1400" b="0" dirty="0"/>
              <a:t>Quan niệm sai: 'p &gt; 0,05 trong thử nghiệm vượt trội chứng tỏ hai điều trị tương đương'. Không. Không có bằng chứng không phải là bằng chứng của sự không có. p = 0,42 của Boulet không chứng tỏ hạn chế dịch tốt bằng chăm sóc thường quy.</a:t>
            </a:r>
          </a:p>
          <a:p>
            <a:r>
              <a:rPr lang="en-US" sz="1400" b="0" dirty="0"/>
              <a:t>Hỏi cả lớp: ai nên quyết định ngưỡng: nhà thống kê hay bác sĩ lâm sàng? Dự kiến: bác sĩ lâm sàng (và bệnh nhân),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bệnh nhân được sàng lọc để có 50 bệnh nhân được phân nhóm (khoảng 4%), khoảng 3 bệnh nhân mỗi tháng tại 3 ICU, 48/50 được phân tích.</a:t>
            </a:r>
          </a:p>
          <a:p>
            <a:r>
              <a:rPr lang="en-US" sz="1400" b="0" dirty="0"/>
              <a:t>Nghiên cứu thí điểm hay khả thi kiểm tra bộ máy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bệnh nhân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với những con số này, có nên làm thử nghiệm 1.000 bệnh nhân tại đúng 3 ICU đó không? Dự kiến: không theo thiết kế này. Với 3 bệnh nhân mỗi tháng sẽ mất hàng chục năm; cần nhiều điểm hơn hoặc tiêu chuẩn chọn rộng hơn.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áp dụng thay đổi cho mọi người cùng lúc, không ngẫu nhiên và không có nhóm chứng song song. Đó là thiết kế bán thực nghiệm (quasi-experimental).</a:t>
            </a:r>
          </a:p>
          <a:p>
            <a:r>
              <a:rPr lang="en-US" sz="1400" b="0" dirty="0"/>
              <a:t>Nghiên cứu trước-sau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Ta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trong tháng thực hiện dự án cải tiến gần nhất, bệnh viện còn thay đổi gì khác? Dự kiến: thường có (luân chuyển nhân sự, chính sách mới, kiểm tra),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hoặc SRQR.</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một câu hỏi ở khoa mình mà chỉ phỏng vấn mới trả lời được. Dự kiến: rào cản vận động sớm, vì sao bàn giao thất bại, trải nghiệm mê sảng của bệnh nhân.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các nhóm sẽ biện luận thiết kế của mình trong phần xây dựng đề cương bằng đúng logic này: 'câu hỏi của chúng tôi về X, nên thiết kế khả thi tốt nhất là Y'.</a:t>
            </a:r>
          </a:p>
          <a:p>
            <a:r>
              <a:rPr lang="en-US" sz="1400" b="0" dirty="0"/>
              <a:t>Lưu ý chữ KHẢ THI: thiết kế lý tưởng cho câu hỏi 'hạn chế dịch có cứu sống bệnh nhân không?' là một RCT lớn, nhưng một nhóm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một nhóm muốn biết hôm nay có bao nhiêu bệnh nhân ICU bị mê sảng. Thiết kế nào? Dự kiến: cắt ngang (hiện mắc tại một thời điểm).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phút tự làm, rồi giơ tay.</a:t>
            </a:r>
          </a:p>
          <a:p>
            <a:r>
              <a:rPr lang="en-US" sz="1400" b="0" dirty="0"/>
              <a:t>Đáp án. A: thử nghiệm không kém hơn. Xác định ngưỡng từ trước. B: thử nghiệm ngẫu nhiên theo cụm. Phân nhóm theo khoa, không theo bệnh nhân. C: chuỗi thời gian ngắt quãng. So sánh các tháng sau gói can thiệp với xu hướng trước đó. D: thiết kế định tính, dùng phỏng vấn sâu (hoặc thảo luận nhóm) với gia đình.</a:t>
            </a:r>
          </a:p>
          <a:p>
            <a:r>
              <a:rPr lang="en-US" sz="1400" b="0" dirty="0"/>
              <a:t>Nếu lớp lúng túng với C, quay lại hình ITS 30 giây.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Theo nhóm 6 người (nhóm đề cương). 12 phút làm, 8 phút chia sẻ.</a:t>
            </a:r>
          </a:p>
          <a:p>
            <a:r>
              <a:rPr lang="en-US" sz="1400" b="0" dirty="0"/>
              <a:t>Đáp án cho bốn câu (tài liệu Phần B; đáp án ở Solutions/s3_solutions.md): 1 hiện mắc loét tì đè (cắt ngang); 2 tắm chlorhexidine áp dụng lần lượt từng khoa (thử nghiệm ngẫu nhiên theo cụm); 3 gói xử trí nhiễm khuẩn huyết đã áp dụng, có số liệu theo tháng (chuỗi thời gian ngắt quãng); 4 vì sao điều dưỡng không báo cáo sự cố suýt xảy ra (phỏng vấn định tính hoặc thảo luận nhóm). Hai câu bổ sung tùy chọn: bệnh - chứng và không kém hơn.</a:t>
            </a:r>
          </a:p>
          <a:p>
            <a:r>
              <a:rPr lang="en-US" sz="1400" b="0" dirty="0"/>
              <a:t>Câu hỏi của nhóm là cầu nối sang phần xây dựng đề cương: thiết kế chọn ở đây là thiết kế sẽ được biện luận ngay sau bài tập.</a:t>
            </a:r>
          </a:p>
          <a:p>
            <a:r>
              <a:rPr lang="en-US" sz="1400" b="0" dirty="0"/>
              <a:t>Vấn đề thường gặp: nhóm chọn RCT cho câu hỏi về tác hại hay tiên lượng. Hỏi: có thể chỉ định phơi nhiễm này một cách đạo đức không?</a:t>
            </a:r>
          </a:p>
          <a:p>
            <a:r>
              <a:rPr lang="en-US" sz="1400" b="0" dirty="0"/>
              <a:t>Thời gian: nhắc trước 5 phút khi đến phần chia sẻ.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cho phần xây dựng đề cương: hôm nay các nhóm phải viết đối tượng nghiên cứu.</a:t>
            </a:r>
          </a:p>
          <a:p>
            <a:r>
              <a:rPr lang="en-US" sz="1400" b="0" dirty="0"/>
              <a:t>Đi xuống phễu với ví dụ ICU (phiên bản quan sát của câu hỏi về dịch truyền). Quần thể nguồn: mọi người có thể được nghiên cứu. Tiêu chuẩn chọn: chữ P của PICO, đo được (từ 18 tuổi, sốc nhiễm khuẩn, vận mạch bắt đầu trong 24 giờ). Tiêu chuẩn loại trừ: người đạt tiêu chuẩn chọn nhưng phải loại vì một lý do như an toàn, hoặc không đo được kết cục (lọc máu mạn, chỉ chăm sóc giảm nhẹ).</a:t>
            </a:r>
          </a:p>
          <a:p>
            <a:r>
              <a:rPr lang="en-US" sz="1400" b="0" dirty="0"/>
              <a:t>So với Boulet: chọn sốc nhiễm khuẩn, 18-85 tuổi, trong 24 giờ từ khi dùng vận mạch; loại tổn thương thận cấp cần lọc máu trong 24 giờ, bệnh thận giai đoạn cuối, suy dinh dưỡng nặng (BMI &lt;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bệnh nhân hơn (giá trị ngoại suy, Buổi 4).</a:t>
            </a:r>
          </a:p>
          <a:p>
            <a:r>
              <a:rPr lang="en-US" sz="1400" b="0" dirty="0"/>
              <a:t>Hỏi cả lớp: nêu một tiêu chuẩn loại trừ tốt cho nghiên cứu vận động sớm. Dự kiến: gãy cột sống không vững, hoặc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Practicals/s3_exercises.md, Phần C, và mẫu đề cương (Phần 2). 35 phút.</a:t>
            </a:r>
          </a:p>
          <a:p>
            <a:r>
              <a:rPr lang="en-US" sz="1400" b="0" dirty="0"/>
              <a:t>Nhịp gợi ý (slide tiêu chuẩn chọn trước đó mất 3 phút): 4 phút thống nhất thiết kế (đa số nhóm đã chọn ở bài tập trước); 19 phút viết, chia cho các thành viên (một người viết biện luận, một người viết bối cảnh, hai người viết tiêu chuẩn, một người vẽ trục thời gian); 9 phút để người hướng dẫn kiểm tra và một nhóm đọc to phần biện luận.</a:t>
            </a:r>
          </a:p>
          <a:p>
            <a:r>
              <a:rPr lang="en-US" sz="1400" b="0" dirty="0"/>
              <a:t>Đáp án mẫu cho ví dụ xuyên suốt (phiên bản quan sát): thuần tập hồi cứu người lớn sốc nhiễm khuẩn tại ICU của chúng ta trong 3 năm; biện luận: RCT là lý tưởng nhưng không khả thi với một ICU không có kinh phí; hồ sơ sẵn có ghi dịch vào/ra và kết cục; sẽ kết luận 'có liên quan với'. Tiêu chuẩn chọn và loại trừ như slide phễu.</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ba người khác nhau giải thích mỗi thẻ bằng lời của mình.</a:t>
            </a:r>
          </a:p>
          <a:p>
            <a:r>
              <a:rPr lang="en-US" sz="1400" b="0" dirty="0"/>
              <a:t>Nếu thiếu thời gian, chỉ đọc thông điệp chính.</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họ tự chọn, theo dõi về sau); chỉ được nói 'có liên quan', vì người chọn tiêm vắc xin khác biệt ở nhiều mặt (hiệu ứng người dùng khỏe mạnh). Đây là bước dẫn vào yếu tố nhiễu thứ Bảy tuần sau.</a:t>
            </a:r>
          </a:p>
          <a:p>
            <a:r>
              <a:rPr lang="en-US" sz="1400" b="0" dirty="0"/>
              <a:t>Thu giấy dán; đọc to ba tờ khi mở đầu Buổi 4.</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Hữu ích nếu bài tập 'Gọi tên thiết kế' cho thấy lớp còn lúng túng.</a:t>
            </a:r>
          </a:p>
          <a:p>
            <a:r>
              <a:rPr lang="en-US" sz="1400" b="0" dirty="0"/>
              <a:t>Boulet: chỉ định? Có. Ngẫu nhiên? Có. Vậy là RCT. Hyun: chỉ định? Không. Có nhóm so sánh? Có. Phơi nhiễm đo trước kết cục? Có. Vậy là thuần tập.</a:t>
            </a:r>
          </a:p>
          <a:p>
            <a:r>
              <a:rPr lang="en-US" sz="1400" b="0" dirty="0"/>
              <a:t>Mời cả lớp làm tương tự với bài báo họ mang theo.</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định làm nghiên cứu bệnh - chứng.</a:t>
            </a:r>
          </a:p>
          <a:p>
            <a:r>
              <a:rPr lang="en-US" sz="1400" b="0" dirty="0"/>
              <a:t>Ca chứng phải đến từ quần thể đã sinh ra ca bệnh: trong ví dụ nhiễm Candida máu là những bệnh nhân ICU khác cùng khoa và cùng tháng,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Hoàn chỉnh hình ảnh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3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2 (10 phút)</a:t>
            </a:r>
          </a:p>
          <a:p>
            <a:pPr marL="274320" indent="-274320" algn="l">
              <a:spcBef>
                <a:spcPts val="440"/>
              </a:spcBef>
              <a:buFont typeface="Arial"/>
              <a:buChar char="•"/>
            </a:pPr>
            <a:r>
              <a:rPr lang="en-US" sz="1900" dirty="0">
                <a:solidFill>
                  <a:srgbClr val="000000"/>
                </a:solidFill>
                <a:latin typeface="Segoe UI"/>
                <a:cs typeface="Segoe UI"/>
              </a:rPr>
              <a:t>3.1  Thiết kế nghiên cứu qua hình ảnh (45 phút) + bài tập "Gọi tên thiết kế" (15 phút)</a:t>
            </a:r>
          </a:p>
          <a:p>
            <a:pPr marL="274320" indent="-274320" algn="l">
              <a:spcBef>
                <a:spcPts val="440"/>
              </a:spcBef>
              <a:buFont typeface="Arial"/>
              <a:buChar char="•"/>
            </a:pPr>
            <a:r>
              <a:rPr lang="en-US" sz="1900" dirty="0">
                <a:solidFill>
                  <a:srgbClr val="000000"/>
                </a:solidFill>
                <a:latin typeface="Segoe UI"/>
                <a:cs typeface="Segoe UI"/>
              </a:rPr>
              <a:t>Giải lao (15 phút)</a:t>
            </a:r>
          </a:p>
          <a:p>
            <a:pPr marL="274320" indent="-274320" algn="l">
              <a:spcBef>
                <a:spcPts val="440"/>
              </a:spcBef>
              <a:buFont typeface="Arial"/>
              <a:buChar char="•"/>
            </a:pPr>
            <a:r>
              <a:rPr lang="en-US" sz="1900" dirty="0">
                <a:solidFill>
                  <a:srgbClr val="000000"/>
                </a:solidFill>
                <a:latin typeface="Segoe UI"/>
                <a:cs typeface="Segoe UI"/>
              </a:rPr>
              <a:t>3.2  Các thiết kế khác: biến thể thử nghiệm, thí điểm, cải tiến chất lượng, định tính (35 phút)</a:t>
            </a:r>
          </a:p>
          <a:p>
            <a:pPr marL="274320" indent="-274320" algn="l">
              <a:spcBef>
                <a:spcPts val="440"/>
              </a:spcBef>
              <a:buFont typeface="Arial"/>
              <a:buChar char="•"/>
            </a:pPr>
            <a:r>
              <a:rPr lang="en-US" sz="1900" dirty="0">
                <a:solidFill>
                  <a:srgbClr val="000000"/>
                </a:solidFill>
                <a:latin typeface="Segoe UI"/>
                <a:cs typeface="Segoe UI"/>
              </a:rPr>
              <a:t>Bài tập: chọn thiết kế cho 5 câu hỏi (20 phút)</a:t>
            </a:r>
          </a:p>
          <a:p>
            <a:pPr marL="274320" indent="-274320" algn="l">
              <a:spcBef>
                <a:spcPts val="440"/>
              </a:spcBef>
              <a:buFont typeface="Arial"/>
              <a:buChar char="•"/>
            </a:pPr>
            <a:r>
              <a:rPr lang="en-US" sz="1900" dirty="0">
                <a:solidFill>
                  <a:srgbClr val="000000"/>
                </a:solidFill>
                <a:latin typeface="Segoe UI"/>
                <a:cs typeface="Segoe UI"/>
              </a:rPr>
              <a:t>Xây dựng đề cương 3: thiết kế, bối cảnh và đối tượng (35 phút), rồi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Tìm kiếm PubMed ra 3.000 bài. Thêm một khái niệm bằng AND, hay một từ đồng nghĩa bằng OR?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Sau tiêu đề và tóm tắt, đọc phần nào tiếp theo trong bài báo?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Một tóm tắt viết 'có xu hướng giảm tử vong (p = 0,42)'. Điều này gọi là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câu hỏi nghiên cứu và phần đặt vấn đề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 (30 giây/câu)</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Câu hỏi của mỗi nhóm được đọc lại và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từ dùng suốt buổi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Phơi nhiễm: điều có trước</a:t>
            </a:r>
          </a:p>
          <a:p>
            <a:pPr marL="0" indent="0" algn="l">
              <a:lnSpc>
                <a:spcPct val="104000"/>
              </a:lnSpc>
              <a:spcBef>
                <a:spcPts val="400"/>
              </a:spcBef>
              <a:buNone/>
            </a:pPr>
            <a:r>
              <a:rPr lang="en-US" sz="1600" dirty="0">
                <a:solidFill>
                  <a:srgbClr val="000000"/>
                </a:solidFill>
                <a:latin typeface="Segoe UI"/>
                <a:cs typeface="Segoe UI"/>
              </a:rPr>
              <a:t>Kết cục: điều đếm sau đó</a:t>
            </a:r>
          </a:p>
          <a:p>
            <a:pPr marL="0" indent="0" algn="l">
              <a:lnSpc>
                <a:spcPct val="104000"/>
              </a:lnSpc>
              <a:spcBef>
                <a:spcPts val="400"/>
              </a:spcBef>
              <a:buNone/>
            </a:pPr>
            <a:r>
              <a:rPr lang="en-US" sz="1600" dirty="0">
                <a:solidFill>
                  <a:srgbClr val="000000"/>
                </a:solidFill>
                <a:latin typeface="Segoe UI"/>
                <a:cs typeface="Segoe UI"/>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Quan sát: ta theo dõi</a:t>
            </a:r>
          </a:p>
          <a:p>
            <a:pPr marL="0" indent="0" algn="l">
              <a:lnSpc>
                <a:spcPct val="104000"/>
              </a:lnSpc>
              <a:spcBef>
                <a:spcPts val="400"/>
              </a:spcBef>
              <a:buNone/>
            </a:pPr>
            <a:r>
              <a:rPr lang="en-US" sz="1600" dirty="0">
                <a:solidFill>
                  <a:srgbClr val="000000"/>
                </a:solidFill>
                <a:latin typeface="Segoe UI"/>
                <a:cs typeface="Segoe UI"/>
              </a:rPr>
              <a:t>Thực nghiệm: ta chỉ định</a:t>
            </a:r>
          </a:p>
          <a:p>
            <a:pPr marL="0" indent="0" algn="l">
              <a:lnSpc>
                <a:spcPct val="104000"/>
              </a:lnSpc>
              <a:spcBef>
                <a:spcPts val="400"/>
              </a:spcBef>
              <a:buNone/>
            </a:pPr>
            <a:r>
              <a:rPr lang="en-US" sz="1600" dirty="0">
                <a:solidFill>
                  <a:srgbClr val="000000"/>
                </a:solidFill>
                <a:latin typeface="Segoe UI"/>
                <a:cs typeface="Segoe UI"/>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Thời gian chiều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Cắt ngang: ảnh chụp</a:t>
            </a:r>
          </a:p>
          <a:p>
            <a:pPr marL="0" indent="0" algn="l">
              <a:lnSpc>
                <a:spcPct val="104000"/>
              </a:lnSpc>
              <a:spcBef>
                <a:spcPts val="400"/>
              </a:spcBef>
              <a:buNone/>
            </a:pPr>
            <a:r>
              <a:rPr lang="en-US" sz="1600" dirty="0">
                <a:solidFill>
                  <a:srgbClr val="000000"/>
                </a:solidFill>
                <a:latin typeface="Segoe UI"/>
                <a:cs typeface="Segoe UI"/>
              </a:rPr>
              <a:t>Bệnh - chứng: nhìn lại</a:t>
            </a:r>
          </a:p>
          <a:p>
            <a:pPr marL="0" indent="0" algn="l">
              <a:lnSpc>
                <a:spcPct val="104000"/>
              </a:lnSpc>
              <a:spcBef>
                <a:spcPts val="400"/>
              </a:spcBef>
              <a:buNone/>
            </a:pPr>
            <a:r>
              <a:rPr lang="en-US" sz="1600" dirty="0">
                <a:solidFill>
                  <a:srgbClr val="000000"/>
                </a:solidFill>
                <a:latin typeface="Segoe UI"/>
                <a:cs typeface="Segoe UI"/>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Thử nghiệm cụm, bắt chéo</a:t>
            </a:r>
          </a:p>
          <a:p>
            <a:pPr marL="0" indent="0" algn="l">
              <a:lnSpc>
                <a:spcPct val="104000"/>
              </a:lnSpc>
              <a:spcBef>
                <a:spcPts val="400"/>
              </a:spcBef>
              <a:buNone/>
            </a:pPr>
            <a:r>
              <a:rPr lang="en-US" sz="1600" dirty="0">
                <a:solidFill>
                  <a:srgbClr val="000000"/>
                </a:solidFill>
                <a:latin typeface="Segoe UI"/>
                <a:cs typeface="Segoe UI"/>
              </a:rPr>
              <a:t>Không kém hơn, thí điểm</a:t>
            </a:r>
          </a:p>
          <a:p>
            <a:pPr marL="0" indent="0" algn="l">
              <a:lnSpc>
                <a:spcPct val="104000"/>
              </a:lnSpc>
              <a:spcBef>
                <a:spcPts val="400"/>
              </a:spcBef>
              <a:buNone/>
            </a:pPr>
            <a:r>
              <a:rPr lang="en-US" sz="1600" dirty="0">
                <a:solidFill>
                  <a:srgbClr val="000000"/>
                </a:solidFill>
                <a:latin typeface="Segoe UI"/>
                <a:cs typeface="Segoe UI"/>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Hai câu hỏi gọi tên hầu hết thiết kế: ai quyết định phơi nhiễm, và thời gian chạy chiều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Nhà nghiên cứu chỉ định phơi nhiễm, hay chỉ quan sát?</a:t>
            </a:r>
          </a:p>
          <a:p>
            <a:pPr marL="0" indent="0" algn="ctr">
              <a:spcBef>
                <a:spcPts val="1200"/>
              </a:spcBef>
              <a:buNone/>
            </a:pPr>
            <a:r>
              <a:rPr lang="en-US" sz="1900" i="1" dirty="0">
                <a:solidFill>
                  <a:srgbClr val="595959"/>
                </a:solidFill>
                <a:latin typeface="Segoe UI"/>
                <a:cs typeface="Segoe UI"/>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gia phả các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Thiết kế mô tả thì mô tả; thiết kế phân tích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Gọi tên phơi nhiễm và kết cục trước,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Mọi BN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Loét tì đè (có/không) VÀ loại đệm,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vd. 37/412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bức ảnh chụp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Bệnh - 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 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một nghiên cứu bệnh - 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40 BN ICU nhiễm Candida máu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80 BN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Có nuôi ăn tĩnh mạch trong 14 ngày trước?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Phơi nhiễm: 24/40 ca bệnh vs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Tỷ số chênh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phơi nhiễm trước, kết cục sau, nên thời gian chạy đúng chiều.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nghiên cứu thuần tập Hyun,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cân bằng dịch dương có liên quan với tử vong ngày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lớn nhiễm khuẩn huyết ở 20 bệnh viện, nằm ICU từ 3 ngày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tích lũy ngày 1-3: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Các cặp đã ghép; HR 2,13 ở ngày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RCT: phân nhóm ngẫu nhiên, rồi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thử nghiệm Boulet,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hạn chế dịch không phải hồi sức có giảm cân bằng dịch ngày 5?</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Tiêu chuẩn</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Sốc nhiễm khuẩn, 18-85 tuổi, vận mạch &lt;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Đồng ý</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Bệnh nhân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Ngẫu nhiên</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Điều trị</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Hạn chế dịch vs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Đo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Hôm nay kiểm tra cả 300 BN nội trú: có ống thông tiểu không, có nhiễm khuẩn tiết niệu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BN viêm phổi thở máy được so sánh với BN không viêm phổi về việc dùng an thần trước đó</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BN được vận động sớm (do chuyên viên vật lý trị liệu quyết định) và BN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ngày, tất cả mọi người</a:t>
            </a:r>
          </a:p>
          <a:p>
            <a:pPr marL="0" indent="0" algn="l">
              <a:lnSpc>
                <a:spcPct val="104000"/>
              </a:lnSpc>
              <a:spcBef>
                <a:spcPts val="400"/>
              </a:spcBef>
              <a:buNone/>
            </a:pPr>
            <a:r>
              <a:rPr lang="en-US" sz="1750" dirty="0">
                <a:solidFill>
                  <a:srgbClr val="000000"/>
                </a:solidFill>
                <a:latin typeface="Segoe UI"/>
                <a:cs typeface="Segoe UI"/>
              </a:rPr>
              <a:t>Phơi nhiễm và kết cục đo cùng lúc</a:t>
            </a:r>
          </a:p>
          <a:p>
            <a:pPr marL="0" indent="0" algn="l">
              <a:lnSpc>
                <a:spcPct val="104000"/>
              </a:lnSpc>
              <a:spcBef>
                <a:spcPts val="400"/>
              </a:spcBef>
              <a:buNone/>
            </a:pPr>
            <a:r>
              <a:rPr lang="en-US" sz="1750" dirty="0">
                <a:solidFill>
                  <a:srgbClr val="000000"/>
                </a:solidFill>
                <a:latin typeface="Segoe UI"/>
                <a:cs typeface="Segoe UI"/>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 Bệnh - 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Chọn theo KẾT CỤC (viêm phổi)</a:t>
            </a:r>
          </a:p>
          <a:p>
            <a:pPr marL="0" indent="0" algn="l">
              <a:lnSpc>
                <a:spcPct val="104000"/>
              </a:lnSpc>
              <a:spcBef>
                <a:spcPts val="400"/>
              </a:spcBef>
              <a:buNone/>
            </a:pPr>
            <a:r>
              <a:rPr lang="en-US" sz="1750" dirty="0">
                <a:solidFill>
                  <a:srgbClr val="000000"/>
                </a:solidFill>
                <a:latin typeface="Segoe UI"/>
                <a:cs typeface="Segoe UI"/>
              </a:rPr>
              <a:t>Nhìn lại phơi nhiễm (an thần)</a:t>
            </a:r>
          </a:p>
          <a:p>
            <a:pPr marL="0" indent="0" algn="l">
              <a:lnSpc>
                <a:spcPct val="104000"/>
              </a:lnSpc>
              <a:spcBef>
                <a:spcPts val="400"/>
              </a:spcBef>
              <a:buNone/>
            </a:pPr>
            <a:r>
              <a:rPr lang="en-US" sz="1750" dirty="0">
                <a:solidFill>
                  <a:srgbClr val="000000"/>
                </a:solidFill>
                <a:latin typeface="Segoe UI"/>
                <a:cs typeface="Segoe UI"/>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Chia theo PHƠI NHIỄM (vận động)</a:t>
            </a:r>
          </a:p>
          <a:p>
            <a:pPr marL="0" indent="0" algn="l">
              <a:lnSpc>
                <a:spcPct val="104000"/>
              </a:lnSpc>
              <a:spcBef>
                <a:spcPts val="400"/>
              </a:spcBef>
              <a:buNone/>
            </a:pPr>
            <a:r>
              <a:rPr lang="en-US" sz="1750" dirty="0">
                <a:solidFill>
                  <a:srgbClr val="000000"/>
                </a:solidFill>
                <a:latin typeface="Segoe UI"/>
                <a:cs typeface="Segoe UI"/>
              </a:rPr>
              <a:t>Theo dõi đến khi ra viện</a:t>
            </a:r>
          </a:p>
          <a:p>
            <a:pPr marL="0" indent="0" algn="l">
              <a:lnSpc>
                <a:spcPct val="104000"/>
              </a:lnSpc>
              <a:spcBef>
                <a:spcPts val="400"/>
              </a:spcBef>
              <a:buNone/>
            </a:pPr>
            <a:r>
              <a:rPr lang="en-US" sz="1750" dirty="0">
                <a:solidFill>
                  <a:srgbClr val="000000"/>
                </a:solidFill>
                <a:latin typeface="Segoe UI"/>
                <a:cs typeface="Segoe UI"/>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quan hệ thống và phân tích gộp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Đọc một cách thận trọng</a:t>
            </a:r>
          </a:p>
          <a:p>
            <a:pPr marL="274320" indent="-274320" algn="l">
              <a:spcBef>
                <a:spcPts val="440"/>
              </a:spcBef>
              <a:buFont typeface="Arial"/>
              <a:buChar char="•"/>
            </a:pPr>
            <a:r>
              <a:rPr lang="en-US" sz="1450" dirty="0">
                <a:solidFill>
                  <a:srgbClr val="000000"/>
                </a:solidFill>
                <a:latin typeface="Segoe UI"/>
                <a:cs typeface="Segoe UI"/>
              </a:rPr>
              <a:t>Càng cao = trung bình càng ít sai lệch</a:t>
            </a:r>
          </a:p>
          <a:p>
            <a:pPr marL="274320" indent="-274320" algn="l">
              <a:spcBef>
                <a:spcPts val="440"/>
              </a:spcBef>
              <a:buFont typeface="Arial"/>
              <a:buChar char="•"/>
            </a:pPr>
            <a:r>
              <a:rPr lang="en-US" sz="1450" dirty="0">
                <a:solidFill>
                  <a:srgbClr val="000000"/>
                </a:solidFill>
                <a:latin typeface="Segoe UI"/>
                <a:cs typeface="Segoe UI"/>
              </a:rPr>
              <a:t>Quy tắc kinh nghiệm, không phải định luật</a:t>
            </a:r>
          </a:p>
          <a:p>
            <a:pPr marL="274320" indent="-274320" algn="l">
              <a:spcBef>
                <a:spcPts val="440"/>
              </a:spcBef>
              <a:buFont typeface="Arial"/>
              <a:buChar char="•"/>
            </a:pPr>
            <a:r>
              <a:rPr lang="en-US" sz="1450" dirty="0">
                <a:solidFill>
                  <a:srgbClr val="000000"/>
                </a:solidFill>
                <a:latin typeface="Segoe UI"/>
                <a:cs typeface="Segoe UI"/>
              </a:rPr>
              <a:t>Thuần tập tốt có thể hơn RCT kém</a:t>
            </a:r>
          </a:p>
          <a:p>
            <a:pPr marL="274320" indent="-274320" algn="l">
              <a:spcBef>
                <a:spcPts val="440"/>
              </a:spcBef>
              <a:buFont typeface="Arial"/>
              <a:buChar char="•"/>
            </a:pPr>
            <a:r>
              <a:rPr lang="en-US" sz="1450" dirty="0">
                <a:solidFill>
                  <a:srgbClr val="000000"/>
                </a:solidFill>
                <a:latin typeface="Segoe UI"/>
                <a:cs typeface="Segoe UI"/>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Có chỉ định? Có ngẫu nhiên? Thời gian chạy chiều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nào cũng phải đánh đổi một điều gì đó</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Điểm mạnh và điểm yếu trong nháy mắt</a:t>
            </a:r>
          </a:p>
        </p:txBody>
      </p:sp>
      <p:sp>
        <p:nvSpPr>
          <p:cNvPr id="70" name="CardHead"/>
          <p:cNvSpPr/>
          <p:nvPr/>
        </p:nvSpPr>
        <p:spPr>
          <a:xfrm>
            <a:off x="4572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ngang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nhanh, rẻ</a:t>
            </a:r>
          </a:p>
          <a:p>
            <a:pPr marL="0" indent="0" algn="l">
              <a:lnSpc>
                <a:spcPct val="104000"/>
              </a:lnSpc>
              <a:spcBef>
                <a:spcPts val="400"/>
              </a:spcBef>
              <a:buNone/>
            </a:pPr>
            <a:r>
              <a:rPr lang="en-US" sz="1600" dirty="0">
                <a:solidFill>
                  <a:srgbClr val="2E8B57"/>
                </a:solidFill>
                <a:latin typeface="Segoe UI"/>
                <a:cs typeface="Segoe UI"/>
              </a:rPr>
              <a:t>+ cho tỷ lệ hiện mắc</a:t>
            </a:r>
          </a:p>
          <a:p>
            <a:pPr marL="0" indent="0" algn="l">
              <a:lnSpc>
                <a:spcPct val="104000"/>
              </a:lnSpc>
              <a:spcBef>
                <a:spcPts val="400"/>
              </a:spcBef>
              <a:buNone/>
            </a:pPr>
            <a:r>
              <a:rPr lang="en-US" sz="1600" dirty="0">
                <a:solidFill>
                  <a:srgbClr val="B23B2E"/>
                </a:solidFill>
                <a:latin typeface="Segoe UI"/>
                <a:cs typeface="Segoe UI"/>
              </a:rPr>
              <a:t>- cái nào có trước?</a:t>
            </a:r>
          </a:p>
        </p:txBody>
      </p:sp>
      <p:sp>
        <p:nvSpPr>
          <p:cNvPr id="72" name="CardHead"/>
          <p:cNvSpPr/>
          <p:nvPr/>
        </p:nvSpPr>
        <p:spPr>
          <a:xfrm>
            <a:off x="33266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Bệnh - chứng</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kết cục hiếm</a:t>
            </a:r>
          </a:p>
          <a:p>
            <a:pPr marL="0" indent="0" algn="l">
              <a:lnSpc>
                <a:spcPct val="104000"/>
              </a:lnSpc>
              <a:spcBef>
                <a:spcPts val="400"/>
              </a:spcBef>
              <a:buNone/>
            </a:pPr>
            <a:r>
              <a:rPr lang="en-US" sz="1600" dirty="0">
                <a:solidFill>
                  <a:srgbClr val="2E8B57"/>
                </a:solidFill>
                <a:latin typeface="Segoe UI"/>
                <a:cs typeface="Segoe UI"/>
              </a:rPr>
              <a:t>+ ít BN, nhanh</a:t>
            </a:r>
          </a:p>
          <a:p>
            <a:pPr marL="0" indent="0" algn="l">
              <a:lnSpc>
                <a:spcPct val="104000"/>
              </a:lnSpc>
              <a:spcBef>
                <a:spcPts val="400"/>
              </a:spcBef>
              <a:buNone/>
            </a:pPr>
            <a:r>
              <a:rPr lang="en-US" sz="1600" dirty="0">
                <a:solidFill>
                  <a:srgbClr val="B23B2E"/>
                </a:solidFill>
                <a:latin typeface="Segoe UI"/>
                <a:cs typeface="Segoe UI"/>
              </a:rPr>
              <a:t>- sai lệch nhớ lại</a:t>
            </a:r>
          </a:p>
          <a:p>
            <a:pPr marL="0" indent="0" algn="l">
              <a:lnSpc>
                <a:spcPct val="104000"/>
              </a:lnSpc>
              <a:spcBef>
                <a:spcPts val="400"/>
              </a:spcBef>
              <a:buNone/>
            </a:pPr>
            <a:r>
              <a:rPr lang="en-US" sz="1600" dirty="0">
                <a:solidFill>
                  <a:srgbClr val="B23B2E"/>
                </a:solidFill>
                <a:latin typeface="Segoe UI"/>
                <a:cs typeface="Segoe UI"/>
              </a:rPr>
              <a:t>- chỉ có OR</a:t>
            </a:r>
          </a:p>
        </p:txBody>
      </p:sp>
      <p:sp>
        <p:nvSpPr>
          <p:cNvPr id="74" name="CardHead"/>
          <p:cNvSpPr/>
          <p:nvPr/>
        </p:nvSpPr>
        <p:spPr>
          <a:xfrm>
            <a:off x="61960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Thuần tập</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trình tự thời gian rõ</a:t>
            </a:r>
          </a:p>
          <a:p>
            <a:pPr marL="0" indent="0" algn="l">
              <a:lnSpc>
                <a:spcPct val="104000"/>
              </a:lnSpc>
              <a:spcBef>
                <a:spcPts val="400"/>
              </a:spcBef>
              <a:buNone/>
            </a:pPr>
            <a:r>
              <a:rPr lang="en-US" sz="1600" dirty="0">
                <a:solidFill>
                  <a:srgbClr val="2E8B57"/>
                </a:solidFill>
                <a:latin typeface="Segoe UI"/>
                <a:cs typeface="Segoe UI"/>
              </a:rPr>
              <a:t>+ nguy cơ, nhiều kết cục</a:t>
            </a:r>
          </a:p>
          <a:p>
            <a:pPr marL="0" indent="0" algn="l">
              <a:lnSpc>
                <a:spcPct val="104000"/>
              </a:lnSpc>
              <a:spcBef>
                <a:spcPts val="400"/>
              </a:spcBef>
              <a:buNone/>
            </a:pPr>
            <a:r>
              <a:rPr lang="en-US" sz="1600" dirty="0">
                <a:solidFill>
                  <a:srgbClr val="B23B2E"/>
                </a:solidFill>
                <a:latin typeface="Segoe UI"/>
                <a:cs typeface="Segoe UI"/>
              </a:rPr>
              <a:t>- chậm nếu tiến cứu</a:t>
            </a:r>
          </a:p>
          <a:p>
            <a:pPr marL="0" indent="0" algn="l">
              <a:lnSpc>
                <a:spcPct val="104000"/>
              </a:lnSpc>
              <a:spcBef>
                <a:spcPts val="400"/>
              </a:spcBef>
              <a:buNone/>
            </a:pPr>
            <a:r>
              <a:rPr lang="en-US" sz="1600" dirty="0">
                <a:solidFill>
                  <a:srgbClr val="B23B2E"/>
                </a:solidFill>
                <a:latin typeface="Segoe UI"/>
                <a:cs typeface="Segoe UI"/>
              </a:rPr>
              <a:t>- yếu tố nhiễu</a:t>
            </a:r>
          </a:p>
        </p:txBody>
      </p:sp>
      <p:sp>
        <p:nvSpPr>
          <p:cNvPr id="76" name="CardHead"/>
          <p:cNvSpPr/>
          <p:nvPr/>
        </p:nvSpPr>
        <p:spPr>
          <a:xfrm>
            <a:off x="90654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RCT</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cân bằng cả yếu tố chưa biết</a:t>
            </a:r>
          </a:p>
          <a:p>
            <a:pPr marL="0" indent="0" algn="l">
              <a:lnSpc>
                <a:spcPct val="104000"/>
              </a:lnSpc>
              <a:spcBef>
                <a:spcPts val="400"/>
              </a:spcBef>
              <a:buNone/>
            </a:pPr>
            <a:r>
              <a:rPr lang="en-US" sz="1600" dirty="0">
                <a:solidFill>
                  <a:srgbClr val="2E8B57"/>
                </a:solidFill>
                <a:latin typeface="Segoe UI"/>
                <a:cs typeface="Segoe UI"/>
              </a:rPr>
              <a:t>+ mạnh nhất cho nhân quả</a:t>
            </a:r>
          </a:p>
          <a:p>
            <a:pPr marL="0" indent="0" algn="l">
              <a:lnSpc>
                <a:spcPct val="104000"/>
              </a:lnSpc>
              <a:spcBef>
                <a:spcPts val="400"/>
              </a:spcBef>
              <a:buNone/>
            </a:pPr>
            <a:r>
              <a:rPr lang="en-US" sz="1600" dirty="0">
                <a:solidFill>
                  <a:srgbClr val="B23B2E"/>
                </a:solidFill>
                <a:latin typeface="Segoe UI"/>
                <a:cs typeface="Segoe UI"/>
              </a:rPr>
              <a:t>- tốn kém, giới hạn đạo đức</a:t>
            </a:r>
          </a:p>
          <a:p>
            <a:pPr marL="0" indent="0" algn="l">
              <a:lnSpc>
                <a:spcPct val="104000"/>
              </a:lnSpc>
              <a:spcBef>
                <a:spcPts val="400"/>
              </a:spcBef>
              <a:buNone/>
            </a:pPr>
            <a:r>
              <a:rPr lang="en-US" sz="1600" dirty="0">
                <a:solidFill>
                  <a:srgbClr val="B23B2E"/>
                </a:solidFill>
                <a:latin typeface="Segoe UI"/>
                <a:cs typeface="Segoe UI"/>
              </a:rPr>
              <a:t>- BN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Boulet (RCT): 'Chiến lược hạn chế không làm giảm cân bằng dịch ngày 5'</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Hyun (thuần tập): 'Cân bằng dịch dương GÂY RA tử vong ngày 28 cao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Khảo sát một ngày: 'Ống thông tiểu có liên quan với nhiễm khuẩn tiết niệu'</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Với mỗi câu</a:t>
            </a:r>
          </a:p>
          <a:p>
            <a:pPr marL="274320" indent="-274320" algn="l">
              <a:lnSpc>
                <a:spcPct val="104000"/>
              </a:lnSpc>
              <a:spcBef>
                <a:spcPts val="300"/>
              </a:spcBef>
              <a:buFont typeface="Arial"/>
              <a:buChar char="•"/>
            </a:pPr>
            <a:r>
              <a:rPr lang="en-US" sz="1500" dirty="0">
                <a:solidFill>
                  <a:srgbClr val="000000"/>
                </a:solidFill>
                <a:latin typeface="Segoe UI"/>
                <a:cs typeface="Segoe UI"/>
              </a:rPr>
              <a:t>Lời lẽ có hợp với thiết kế?</a:t>
            </a:r>
          </a:p>
          <a:p>
            <a:pPr marL="274320" indent="-274320" algn="l">
              <a:lnSpc>
                <a:spcPct val="104000"/>
              </a:lnSpc>
              <a:spcBef>
                <a:spcPts val="300"/>
              </a:spcBef>
              <a:buFont typeface="Arial"/>
              <a:buChar char="•"/>
            </a:pPr>
            <a:r>
              <a:rPr lang="en-US" sz="1500" dirty="0">
                <a:solidFill>
                  <a:srgbClr val="000000"/>
                </a:solidFill>
                <a:latin typeface="Segoe UI"/>
                <a:cs typeface="Segoe UI"/>
              </a:rPr>
              <a:t>Giơ ngón cái lên hoặc xuống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Ngón cái lên / xuống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theo cặp với tài liệu phát tay: 8 tóm tắt lâm sàng ngắn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tóm tắt: có chỉ định? có ngẫu nhiên? thời gian chạy chiều nào?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thiết kế và một cụm từ làm bằng chứng trong tóm tắt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Đánh dấu sao câu khó nhất: cả lớp sẽ cùng thảo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 cây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định + ngẫu nhiên = RCT</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trước, nhìn lại =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Phơi nhiễm trước, theo dõi =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thời điểm =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8 thiết kế được gọi tên, mỗi thiết kế có một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Tùy chọn: thiết kế nào hợp nhất với câu hỏi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tiếp tục với các thiết kế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Dự án thực tế uốn các thiết kế cơ bản.</a:t>
            </a:r>
          </a:p>
          <a:p>
            <a:pPr marL="0" indent="0" algn="ctr">
              <a:spcBef>
                <a:spcPts val="1200"/>
              </a:spcBef>
              <a:buNone/>
            </a:pPr>
            <a:r>
              <a:rPr lang="en-US" sz="1900" i="1" dirty="0">
                <a:solidFill>
                  <a:srgbClr val="595959"/>
                </a:solidFill>
                <a:latin typeface="Segoe UI"/>
                <a:cs typeface="Segoe UI"/>
              </a:rPr>
              <a:t>Biến thể thử nghiệm, không kém hơn, thí điểm, thiết kế cải tiến chất lượng và nghiên cứu định tính.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hay không kém hơn? Hình ảnh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thí điểm và tính khả thi: buổi tổng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Dữ liệu mô phỏng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câu hỏi,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Một phác đồ kháng sinh rẻ hơn; chỉ cần chứng minh nó không kém hơn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Chương trình vệ sinh tay áp dụng cho cả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Gói xử trí nhiễm khuẩn huyết bắt đầu năm 2023; có 3 năm số liệu tử vong theo tháng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Vì sao gia đình từ chối đồng ý tham gia nghiên cứu ở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không kém hơn</a:t>
            </a:r>
          </a:p>
          <a:p>
            <a:pPr marL="274320" indent="-274320" algn="l">
              <a:lnSpc>
                <a:spcPct val="104000"/>
              </a:lnSpc>
              <a:spcBef>
                <a:spcPts val="300"/>
              </a:spcBef>
              <a:buFont typeface="Arial"/>
              <a:buChar char="•"/>
            </a:pPr>
            <a:r>
              <a:rPr lang="en-US" sz="1500" dirty="0">
                <a:solidFill>
                  <a:srgbClr val="000000"/>
                </a:solidFill>
                <a:latin typeface="Segoe UI"/>
                <a:cs typeface="Segoe UI"/>
              </a:rPr>
              <a:t>Chuỗi thời gian ngắt quãng</a:t>
            </a:r>
          </a:p>
          <a:p>
            <a:pPr marL="274320" indent="-274320" algn="l">
              <a:lnSpc>
                <a:spcPct val="104000"/>
              </a:lnSpc>
              <a:spcBef>
                <a:spcPts val="300"/>
              </a:spcBef>
              <a:buFont typeface="Arial"/>
              <a:buChar char="•"/>
            </a:pPr>
            <a:r>
              <a:rPr lang="en-US" sz="1500" dirty="0">
                <a:solidFill>
                  <a:srgbClr val="000000"/>
                </a:solidFill>
                <a:latin typeface="Segoe UI"/>
                <a:cs typeface="Segoe UI"/>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chọn thiết kế cho 5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Tài liệu Phần B: bốn câu hỏi lâm sàng + câu hỏi của nhóm bạn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câu: chọn thiết kế KHẢ THI tốt nhất (dùng cây quyết định)</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một lý do và điểm yếu chính của thiết kế</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Câu hỏi của nhóm: được nói 'gây ra' hay chỉ 'có liên quan'?</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Hai nhóm chia sẻ câu hỏi và thiết kế của mình (mỗi nhóm 1 phút)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Phổ biến hiện nay? 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xảy ra sau?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Có hiệu quả? RCT /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Đã thay đổi rồi? Chuỗi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Vì sao / thế nào?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5 thiết kế kèm lý do và điểm yếu, gồm cả câu hỏi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chuẩn chọn mô tả chữ P;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Đọc lại câu hỏi nghiên cứu ở Phần 1</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Chọn thiết kế bằng cây quyết định; biện luận trong 3-5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Bối cảnh: ở đâu, khi nào, những khoa nào, nguồn dữ liệu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Đối tượng: 3-5 tiêu chuẩn chọn và 3-5 tiêu chuẩn loại trừ (kèm lý do)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Vẽ nghiên cứu trên trục thời gian: phơi nhiễm, rồi kết cục</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Mời người hướng dẫn kiểm tra trước khi kết thúc</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hợp với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Khả thi ở khoa bạn?</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chuẩn chọn = chữ P?</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loại trừ có lý do?</a:t>
            </a:r>
          </a:p>
          <a:p>
            <a:pPr marL="274320" indent="-274320" algn="l">
              <a:lnSpc>
                <a:spcPct val="104000"/>
              </a:lnSpc>
              <a:spcBef>
                <a:spcPts val="300"/>
              </a:spcBef>
              <a:buFont typeface="Arial"/>
              <a:buChar char="•"/>
            </a:pPr>
            <a:r>
              <a:rPr lang="en-US" sz="1500" dirty="0">
                <a:solidFill>
                  <a:srgbClr val="000000"/>
                </a:solidFill>
                <a:latin typeface="Segoe UI"/>
                <a:cs typeface="Segoe UI"/>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2a của đề cương: thiết kế + biện luận, bối cảnh, đối tượng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Ảnh chụp, nhìn lại, theo dõi về sau</a:t>
            </a:r>
          </a:p>
          <a:p>
            <a:pPr marL="0" indent="0" algn="l">
              <a:lnSpc>
                <a:spcPct val="104000"/>
              </a:lnSpc>
              <a:spcBef>
                <a:spcPts val="400"/>
              </a:spcBef>
              <a:buNone/>
            </a:pPr>
            <a:r>
              <a:rPr lang="en-US" sz="1750" dirty="0">
                <a:solidFill>
                  <a:srgbClr val="000000"/>
                </a:solidFill>
                <a:latin typeface="Segoe UI"/>
                <a:cs typeface="Segoe UI"/>
              </a:rPr>
              <a:t>RCT = may rủi chỉ định phơi nhiễm</a:t>
            </a:r>
          </a:p>
          <a:p>
            <a:pPr marL="0" indent="0" algn="l">
              <a:lnSpc>
                <a:spcPct val="104000"/>
              </a:lnSpc>
              <a:spcBef>
                <a:spcPts val="400"/>
              </a:spcBef>
              <a:buNone/>
            </a:pPr>
            <a:r>
              <a:rPr lang="en-US" sz="1750" dirty="0">
                <a:solidFill>
                  <a:srgbClr val="000000"/>
                </a:solidFill>
                <a:latin typeface="Segoe UI"/>
                <a:cs typeface="Segoe UI"/>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Theo cụm, bắt chéo, giai thừa</a:t>
            </a:r>
          </a:p>
          <a:p>
            <a:pPr marL="0" indent="0" algn="l">
              <a:lnSpc>
                <a:spcPct val="104000"/>
              </a:lnSpc>
              <a:spcBef>
                <a:spcPts val="400"/>
              </a:spcBef>
              <a:buNone/>
            </a:pPr>
            <a:r>
              <a:rPr lang="en-US" sz="1750" dirty="0">
                <a:solidFill>
                  <a:srgbClr val="000000"/>
                </a:solidFill>
                <a:latin typeface="Segoe UI"/>
                <a:cs typeface="Segoe UI"/>
              </a:rPr>
              <a:t>Không kém hơn cần ngưỡng</a:t>
            </a:r>
          </a:p>
          <a:p>
            <a:pPr marL="0" indent="0" algn="l">
              <a:lnSpc>
                <a:spcPct val="104000"/>
              </a:lnSpc>
              <a:spcBef>
                <a:spcPts val="400"/>
              </a:spcBef>
              <a:buNone/>
            </a:pPr>
            <a:r>
              <a:rPr lang="en-US" sz="1750" dirty="0">
                <a:solidFill>
                  <a:srgbClr val="000000"/>
                </a:solidFill>
                <a:latin typeface="Segoe UI"/>
                <a:cs typeface="Segoe UI"/>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Thiết kế + biện luận</a:t>
            </a:r>
          </a:p>
          <a:p>
            <a:pPr marL="0" indent="0" algn="l">
              <a:lnSpc>
                <a:spcPct val="104000"/>
              </a:lnSpc>
              <a:spcBef>
                <a:spcPts val="400"/>
              </a:spcBef>
              <a:buNone/>
            </a:pPr>
            <a:r>
              <a:rPr lang="en-US" sz="1750" dirty="0">
                <a:solidFill>
                  <a:srgbClr val="000000"/>
                </a:solidFill>
                <a:latin typeface="Segoe UI"/>
                <a:cs typeface="Segoe UI"/>
              </a:rPr>
              <a:t>Bối cảnh</a:t>
            </a:r>
          </a:p>
          <a:p>
            <a:pPr marL="0" indent="0" algn="l">
              <a:lnSpc>
                <a:spcPct val="104000"/>
              </a:lnSpc>
              <a:spcBef>
                <a:spcPts val="400"/>
              </a:spcBef>
              <a:buNone/>
            </a:pPr>
            <a:r>
              <a:rPr lang="en-US" sz="1750" dirty="0">
                <a:solidFill>
                  <a:srgbClr val="000000"/>
                </a:solidFill>
                <a:latin typeface="Segoe UI"/>
                <a:cs typeface="Segoe UI"/>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so sánh người tự chọn tiêm vắc xin cúm với người không tiêm. Thiết kế gì? Gây ra hay có liên quan?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2a của đề cương (thiết kế, bối cảnh, đối tượng)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Bài về nhà: đọc đoạn 'Patients' của Boulet và đoạn 'Data source' của Hyun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3</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quyết định trong thực tế: Boulet và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thử nghiệm chỉ định chiến lược</a:t>
            </a:r>
          </a:p>
          <a:p>
            <a:pPr marL="0" indent="0" algn="l">
              <a:lnSpc>
                <a:spcPct val="104000"/>
              </a:lnSpc>
              <a:spcBef>
                <a:spcPts val="200"/>
              </a:spcBef>
              <a:buNone/>
            </a:pPr>
            <a:r>
              <a:rPr lang="en-US" sz="1500" dirty="0">
                <a:solidFill>
                  <a:srgbClr val="000000"/>
                </a:solidFill>
                <a:latin typeface="Segoe UI"/>
                <a:cs typeface="Segoe UI"/>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có, cân bằng dương vs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RCT</a:t>
            </a:r>
          </a:p>
          <a:p>
            <a:pPr marL="0" indent="0" algn="l">
              <a:lnSpc>
                <a:spcPct val="104000"/>
              </a:lnSpc>
              <a:spcBef>
                <a:spcPts val="200"/>
              </a:spcBef>
              <a:buNone/>
            </a:pPr>
            <a:r>
              <a:rPr lang="en-US" sz="1500" dirty="0">
                <a:solidFill>
                  <a:srgbClr val="000000"/>
                </a:solidFill>
                <a:latin typeface="Segoe UI"/>
                <a:cs typeface="Segoe UI"/>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Cho mọi bài báo đi qua cùng các câu hỏi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ca chứng tốt trong nghiên cứu bệnh -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bệnh viện, khoa và thời gian với ca bệnh</a:t>
            </a:r>
          </a:p>
          <a:p>
            <a:pPr marL="0" indent="0" algn="l">
              <a:lnSpc>
                <a:spcPct val="104000"/>
              </a:lnSpc>
              <a:spcBef>
                <a:spcPts val="400"/>
              </a:spcBef>
              <a:buNone/>
            </a:pPr>
            <a:r>
              <a:rPr lang="en-US" sz="1750" dirty="0">
                <a:solidFill>
                  <a:srgbClr val="000000"/>
                </a:solidFill>
                <a:latin typeface="Segoe UI"/>
                <a:cs typeface="Segoe UI"/>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hồ sơ, cùng câu hỏi</a:t>
            </a:r>
          </a:p>
          <a:p>
            <a:pPr marL="0" indent="0" algn="l">
              <a:lnSpc>
                <a:spcPct val="104000"/>
              </a:lnSpc>
              <a:spcBef>
                <a:spcPts val="400"/>
              </a:spcBef>
              <a:buNone/>
            </a:pPr>
            <a:r>
              <a:rPr lang="en-US" sz="1750" dirty="0">
                <a:solidFill>
                  <a:srgbClr val="000000"/>
                </a:solidFill>
                <a:latin typeface="Segoe UI"/>
                <a:cs typeface="Segoe UI"/>
              </a:rPr>
              <a:t>Tốt nhất người đánh giá không biết ca bệnh hay ca chứng</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vd. tuổi, tháng nhập viện</a:t>
            </a:r>
          </a:p>
          <a:p>
            <a:pPr marL="0" indent="0" algn="l">
              <a:lnSpc>
                <a:spcPct val="104000"/>
              </a:lnSpc>
              <a:spcBef>
                <a:spcPts val="400"/>
              </a:spcBef>
              <a:buNone/>
            </a:pPr>
            <a:r>
              <a:rPr lang="en-US" sz="1750" dirty="0">
                <a:solidFill>
                  <a:srgbClr val="000000"/>
                </a:solidFill>
                <a:latin typeface="Segoe UI"/>
                <a:cs typeface="Segoe UI"/>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chứng kém làm mọi nghiên cứu bệnh - 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Vượt trội</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Điều trị mới có TỐT HƠN?</a:t>
            </a:r>
          </a:p>
          <a:p>
            <a:pPr marL="0" indent="0" algn="l">
              <a:lnSpc>
                <a:spcPct val="104000"/>
              </a:lnSpc>
              <a:spcBef>
                <a:spcPts val="400"/>
              </a:spcBef>
              <a:buNone/>
            </a:pPr>
            <a:r>
              <a:rPr lang="en-US" sz="1750" dirty="0">
                <a:solidFill>
                  <a:srgbClr val="000000"/>
                </a:solidFill>
                <a:latin typeface="Segoe UI"/>
                <a:cs typeface="Segoe UI"/>
              </a:rPr>
              <a:t>Toàn bộ KTC ở phía 'tốt hơn' của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Tương đương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NHƯ NHAU không?</a:t>
            </a:r>
          </a:p>
          <a:p>
            <a:pPr marL="0" indent="0" algn="l">
              <a:lnSpc>
                <a:spcPct val="104000"/>
              </a:lnSpc>
              <a:spcBef>
                <a:spcPts val="400"/>
              </a:spcBef>
              <a:buNone/>
            </a:pPr>
            <a:r>
              <a:rPr lang="en-US" sz="1750" dirty="0">
                <a:solidFill>
                  <a:srgbClr val="000000"/>
                </a:solidFill>
                <a:latin typeface="Segoe UI"/>
                <a:cs typeface="Segoe UI"/>
              </a:rPr>
              <a:t>Toàn bộ KTC nằm trong -ngưỡng đến +ngưỡng</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KHÔNG kém đến mức không chấp nhận được?</a:t>
            </a:r>
          </a:p>
          <a:p>
            <a:pPr marL="0" indent="0" algn="l">
              <a:lnSpc>
                <a:spcPct val="104000"/>
              </a:lnSpc>
              <a:spcBef>
                <a:spcPts val="400"/>
              </a:spcBef>
              <a:buNone/>
            </a:pPr>
            <a:r>
              <a:rPr lang="en-US" sz="1750" dirty="0">
                <a:solidFill>
                  <a:srgbClr val="000000"/>
                </a:solidFill>
                <a:latin typeface="Segoe UI"/>
                <a:cs typeface="Segoe UI"/>
              </a:rPr>
              <a:t>Toàn bộ KTC dưới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Ít nhất 8-12 điểm trước và sau</a:t>
            </a:r>
          </a:p>
          <a:p>
            <a:pPr marL="0" indent="0" algn="l">
              <a:lnSpc>
                <a:spcPct val="104000"/>
              </a:lnSpc>
              <a:spcBef>
                <a:spcPts val="400"/>
              </a:spcBef>
              <a:buNone/>
            </a:pPr>
            <a:r>
              <a:rPr lang="en-US" sz="1750" dirty="0">
                <a:solidFill>
                  <a:srgbClr val="000000"/>
                </a:solidFill>
                <a:latin typeface="Segoe UI"/>
                <a:cs typeface="Segoe UI"/>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khoa hay bệnh viện không thay đổi</a:t>
            </a:r>
          </a:p>
          <a:p>
            <a:pPr marL="0" indent="0" algn="l">
              <a:lnSpc>
                <a:spcPct val="104000"/>
              </a:lnSpc>
              <a:spcBef>
                <a:spcPts val="400"/>
              </a:spcBef>
              <a:buNone/>
            </a:pPr>
            <a:r>
              <a:rPr lang="en-US" sz="1750" dirty="0">
                <a:solidFill>
                  <a:srgbClr val="000000"/>
                </a:solidFill>
                <a:latin typeface="Segoe UI"/>
                <a:cs typeface="Segoe UI"/>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Thay đổi nhân sự, chính sách mới, kiểm tra</a:t>
            </a:r>
          </a:p>
          <a:p>
            <a:pPr marL="0" indent="0" algn="l">
              <a:lnSpc>
                <a:spcPct val="104000"/>
              </a:lnSpc>
              <a:spcBef>
                <a:spcPts val="400"/>
              </a:spcBef>
              <a:buNone/>
            </a:pPr>
            <a:r>
              <a:rPr lang="en-US" sz="1750" dirty="0">
                <a:solidFill>
                  <a:srgbClr val="000000"/>
                </a:solidFill>
                <a:latin typeface="Segoe UI"/>
                <a:cs typeface="Segoe UI"/>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