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(19:30). Chào mừng đến Tuần 3. Ở Buổi 1 và 2 cả lớp đã đặt câu hỏi và tìm bằng chứng. Hôm nay chọn cách một nghiên cứu trả lời câu hỏi. Thứ Bảy tuần sau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Cách học trực tuyến (nhắc ngắn): câu trả lời nhanh qua bình chọn (poll). Với các câu hỏi khác, giảng viên mời hai ba người trả lời, bật micro. Bấm nút 'giơ tay' khi muốn phát biểu. Mọi bài tập đều do cả lớp cùng làm, giảng viên gõ câu trả lời chung lên màn hình chia sẻ. Không chia nhóm.</a:t>
            </a:r>
          </a:p>
          <a:p>
            <a:r>
              <a:rPr lang="en-US" sz="1400" b="0" dirty="0"/>
              <a:t>Nhịp độ: buổi này cố ý đi chậm. Mỗi thiết kế được trình bày bằng một hình hoặc một bảng ngắn, rồi một ví dụ từng bước, rồi một câu bình chọn nhanh.</a:t>
            </a:r>
          </a:p>
          <a:p>
            <a:r>
              <a:rPr lang="en-US" sz="1400" b="0" dirty="0"/>
              <a:t>Ví dụ xuyên suốt: câu hỏi về dịch truyền được trả lời hai lần: bằng một thử nghiệm ngẫu nhiên nhỏ (Bài báo 1, Boulet 2024) và một nghiên cứu thuần tập lớn (Bài báo 2, Hyun 2023). Cả hai bài nằm trong thư mục khóa học, Course/Papers.</a:t>
            </a:r>
          </a:p>
          <a:p>
            <a:r>
              <a:rPr lang="en-US" sz="1400" b="0" dirty="0"/>
              <a:t>Hỏi cả lớp (mời hai ba người trả lời, bật micro): ai đã từng thu thập dữ liệu cho một nghiên cứu? Dự kiến: vài người. Dùng họ làm ví dụ sau.</a:t>
            </a:r>
          </a:p>
          <a:p>
            <a:r>
              <a:rPr lang="en-US" sz="1400" b="0" dirty="0"/>
              <a:t>Thời gian: 1 phút. Lịch: 19:30 ôn tập (10), 19:40 phần 3.1 (45), 20:25 Gọi tên thiết kế (15), 20:40 giải lao (15), 20:55 phần 3.2 (30), 21:25 chọn thiết kế (15), 21:40 xây dựng đề cương 3 (45), 22:25 tổng kết (5), 22:30 kết thúc.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nghiên cứu của mỗi học viên trở lại trước mắt họ. Phần xây dựng đề cương hôm nay chọn thiết kế cho câu hỏi đó.</a:t>
            </a:r>
          </a:p>
          <a:p>
            <a:r>
              <a:rPr lang="en-US" sz="1400" b="0" dirty="0"/>
              <a:t>Chạy thành ba câu bình chọn (poll trên Zoom hoặc Teams). Chiếu kết quả, rồi công bố đáp án.</a:t>
            </a:r>
          </a:p>
          <a:p>
            <a:r>
              <a:rPr lang="en-US" sz="1400" b="0" dirty="0"/>
              <a:t>Đáp án. C1: AND với một khái niệm khác thu hẹp tìm kiếm. OR mở rộng. C2: hình và bảng (thứ tự đọc: tiêu đề, tóm tắt, hình và bảng, rồi phương pháp). C3: tô vẽ (spin), tức là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(mời hai ba người trả lời, bật micro): nên viết lại câu đó thế nào? Dự kiến: 'tử vong không khác biệt rõ giữa hai nhóm (p = 0.42)'.</a:t>
            </a:r>
          </a:p>
          <a:p>
            <a:r>
              <a:rPr lang="en-US" sz="1400" b="0" dirty="0"/>
              <a:t>Thời gian: 9 phút (khoảng 6 phút cho ba câu, 3 phút đọc lại). Cộng với slide mở đầu là 10 phút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3.1 bắt đầu từ đây (tổng cộng 45 phút, từ slide này đến câu bình chọn 'gây ra hay có liên quan').</a:t>
            </a:r>
          </a:p>
          <a:p>
            <a:r>
              <a:rPr lang="en-US" sz="1400" b="0" dirty="0"/>
              <a:t>Chỉ đọc bốn tiêu đề. Chi tiết đến dần theo từng slide. Các từ này cũng có ở đầu phiếu bài tập Buổi 3 (file PDF gửi trước buổi học).</a:t>
            </a:r>
          </a:p>
          <a:p>
            <a:r>
              <a:rPr lang="en-US" sz="1400" b="0" dirty="0"/>
              <a:t>Ý chính: gần như mọi câu hỏi về thiết kế trở nên dễ khi gọi tên được phơi nhiễm và kết cục. Vì vậy luyện điều đó trước.</a:t>
            </a:r>
          </a:p>
          <a:p>
            <a:r>
              <a:rPr lang="en-US" sz="1400" b="0" dirty="0"/>
              <a:t>Quan niệm sai: 'phải học thuộc tên thiết kế'. Không. Có thể suy ra từ hai câu hỏi ở thông điệp chính.</a:t>
            </a:r>
          </a:p>
          <a:p>
            <a:r>
              <a:rPr lang="en-US" sz="1400" b="0" dirty="0"/>
              <a:t>Hỏi cả lớp (mời hai ba người trả lời, bật micro):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ví dụ xuyên suốt cả buổi. Đọc to câu hỏi: đó là PICO (Đối tượng, Can thiệp, So sánh, Kết cục) cả lớp đã xây dựng ở Buổi 1.</a:t>
            </a:r>
          </a:p>
          <a:p>
            <a:r>
              <a:rPr lang="en-US" sz="1400" b="0" dirty="0"/>
              <a:t>Các bài báo ở đâu: toàn văn (bản gốc và bản có chú giải) nằm trong thư mục khóa học, Course/Papers: 'Paper 1 - Boulet 2024 Crit Care (RCT)' và 'Paper 2 - Hyun 2023 Ann Intensive Care (cohort)'. Học viên đã đọc hai bài này ở Buổi 2.</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(pilot RCT). Hyun xét tử vong ngày 28 (đúng câu hỏi của lớp) nhưng không chỉ định được gì.</a:t>
            </a:r>
          </a:p>
          <a:p>
            <a:r>
              <a:rPr lang="en-US" sz="1400" b="0" dirty="0"/>
              <a:t>Quan niệm sai: 'nghiên cứu lớn hơn luôn tốt hơn'. Cỡ mẫu làm giảm sai số ngẫu nhiên, không loại bỏ sai lệch. Sẽ quay lại ở Buổi 4.</a:t>
            </a:r>
          </a:p>
          <a:p>
            <a:r>
              <a:rPr lang="en-US" sz="1400" b="0" dirty="0"/>
              <a:t>Hỏi cả lớp (bình chọn, hoặc mời hai ba người trả lời): nghiên cứu nào đáng tin hơn để biết hạn chế dịch có cứu sống người bệnh không? Dự kiến: ý kiến khác nhau, và đó chính là vấn đề. Không nghiên cứu nào trả lời trọn vẹn. Giữ sự băn khoăn này đến cuối phần 3.1.</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tính từ slide từ khóa đến câu bình chọn 'gây ra hay có liên quan', gồm một lần bình chọn ngắn.</a:t>
            </a:r>
          </a:p>
          <a:p>
            <a:r>
              <a:rPr lang="en-US" sz="1400" b="0" dirty="0"/>
              <a:t>Ý chính: học thiết kế như những hình vẽ trên trục thời gian, không phải định nghĩa. Với mỗi thiết kế hỏi: ai quyết định phơi nhiễm, và theo chiều thời gian nào? Sau mỗi hình là một ví dụ từng bước.</a:t>
            </a:r>
          </a:p>
          <a:p>
            <a:r>
              <a:rPr lang="en-US" sz="1400" b="0" dirty="0"/>
              <a:t>Nói với cả lớp: không cần thuộc tên. Cuối phần này họ sẽ tự phác họa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trái sang phải. Nghiên cứu mô tả mô tả điều đang có, không so sánh. Nghiên cứu phân tích so sánh các nhóm để kiểm định một mối liên quan, và có hai loại: quan sát (nhà nghiên cứu theo dõi điều xảy ra trong chăm sóc thường ngày) và thực nghiệm (nhà nghiên cứu quyết định ai nhận gì).</a:t>
            </a:r>
          </a:p>
          <a:p>
            <a:r>
              <a:rPr lang="en-US" sz="1400" b="0" dirty="0"/>
              <a:t>Tổng quan hệ thống đứng riêng: đó là nghiên cứu về các nghiên cứu, tổng hợp nhiều thiết kế trên slide này.</a:t>
            </a:r>
          </a:p>
          <a:p>
            <a:r>
              <a:rPr lang="en-US" sz="1400" b="0" dirty="0"/>
              <a:t>Quan niệm sai: 'quan sát nghĩa là kém'. Không. Nhiều câu hỏi quan trọng (tác hại, tiên lượng, bệnh hiếm) chỉ trả lời được bằng nghiên cứu quan sát. Vấn đề là sự phù hợp, không phải thứ hạng.</a:t>
            </a:r>
          </a:p>
          <a:p>
            <a:r>
              <a:rPr lang="en-US" sz="1400" b="0" dirty="0"/>
              <a:t>Hỏi cả lớp (bình chọn): Bài báo 1 (Boulet) thuộc thẻ nào? Bài báo 2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(một điều trị, chiến lược, yếu tố nguy cơ, hành vi). Kết cục: điều đếm sau đó (tử vong, nhiễm khuẩn, tổn thương, một chỉ số xét nghiệm). Nhóm so sánh là những người không có phơi nhiễm, hoặc được chăm sóc thường quy.</a:t>
            </a:r>
          </a:p>
          <a:p>
            <a:r>
              <a:rPr lang="en-US" sz="1400" b="0" dirty="0"/>
              <a:t>Đi qua từng dòng. Cùng một biến có thể đóng vai trò khác nhau: cân bằng dịch là kết cục trong Boulet (cân bằng dịch ngày 5) nhưng là phơi nhiễm trong Hyun (cân bằng đến ngày 3, kết cục tử vong). Hai dòng cuối là ví dụ khác, sẽ gặp lại trong buổi hôm nay.</a:t>
            </a:r>
          </a:p>
          <a:p>
            <a:r>
              <a:rPr lang="en-US" sz="1400" b="0" dirty="0"/>
              <a:t>Quan niệm sai: 'phơi nhiễm phải có hại'. Không. Một điều trị cũng là phơi nhiễm.</a:t>
            </a:r>
          </a:p>
          <a:p>
            <a:r>
              <a:rPr lang="en-US" sz="1400" b="0" dirty="0"/>
              <a:t>Hỏi cả lớp (mời hai ba người trả lời, bật micro): trong câu hỏi xuyên suốt, đâu là phơi nhiễm, kết cục và so sánh? Dự kiến: chiến lược hạn chế dịch. Tử vong ngày 28. Chăm sóc thường quy.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người bệnh đặc biệt được mô tả chi tiết. Có vai trò lịch sử quan trọng (những báo cáo đầu tiên về AIDS, tác hại của thalidomide) vì chúng báo động và gợi giả thuyết.</a:t>
            </a:r>
          </a:p>
          <a:p>
            <a:r>
              <a:rPr lang="en-US" sz="1400" b="0" dirty="0"/>
              <a:t>Nghiên cứu cắt ngang: khảo sát quần thể tại một thời điểm, ví dụ khảo sát mọi người bệnh trong ICU vào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(mời hai ba người trả lời, bật micro): làm sao đo trong một ngày xem cân bằng dịch dương phổ biến thế nào ở ICU của bạn? Dự kiến: khảo sát hiện mắc tại một thời điểm, trên mọi người bệnh có mặt hôm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khác (ngoài câu hỏi về dịch truyền) để 'cắt ngang' trở nên cụ thể. Số liệu giả định.</a:t>
            </a:r>
          </a:p>
          <a:p>
            <a:r>
              <a:rPr lang="en-US" sz="1400" b="0" dirty="0"/>
              <a:t>Bước 1-2: mọi người có mặt trong một ngày, được khám cùng một cách (giúp tránh sai lệch thông tin, sẽ học ở Buổi 4). Bước 3: phơi nhiễm (đệm) và kết cục (loét) được ghi cùng lúc. Bước 4: kết quả là tỷ lệ hiện mắc: 37/412 người bệnh, 9%.</a:t>
            </a:r>
          </a:p>
          <a:p>
            <a:r>
              <a:rPr lang="en-US" sz="1400" b="0" dirty="0"/>
              <a:t>Ý chính: có thể so sánh các nhóm (loét ở đệm thường và đệm khí), nhưng không biết đệm có trước hay người bệnh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(mời hai ba người trả lời, bật micro): với câu hỏi về dịch truyền, có thể đo gì ở ICU trong một ngày? Dự kiến: cân bằng dịch và chức năng thận hôm đó của mọi người bệnh có mặt.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con trỏ chuột vẽ theo mũi tên từ phải sang trái. Bắt đầu từ hôm nay, với những người đã có kết cục (nhóm bệnh) và những người tương tự không có (nhóm chứng). Rồi nhìn ngược lại tìm phơi nhiễm.</a:t>
            </a:r>
          </a:p>
          <a:p>
            <a:r>
              <a:rPr lang="en-US" sz="1400" b="0" dirty="0"/>
              <a:t>Ví dụ trên hình: người bệnh ICU bị nhiễm nấm Candida máu (nhóm bệnh) so với người bệnh ICU không bị (nhóm chứng). Tra hồ sơ xem có nuôi ăn tĩnh mạch không.</a:t>
            </a:r>
          </a:p>
          <a:p>
            <a:r>
              <a:rPr lang="en-US" sz="1400" b="0" dirty="0"/>
              <a:t>Điểm mạnh: hiệu quả với kết cục hiếm hoặc thời gian ủ bệnh dài, vì không cần theo dõi hàng nghìn người. Điểm yếu: sai lệch nhớ lại (recall bias), khó chọn nhóm chứng tốt, và chỉ tính được tỷ số chênh (OR), không tính được nguy cơ.</a:t>
            </a:r>
          </a:p>
          <a:p>
            <a:r>
              <a:rPr lang="en-US" sz="1400" b="0" dirty="0"/>
              <a:t>Quan niệm sai: 'bệnh–chứng giống thuần tập hồi cứu vì cùng dùng hồ sơ cũ'. Khác biệt nằm ở cách chọn người: theo kết cục trong bệnh–chứng, theo phơi nhiễm trong thuần tập.</a:t>
            </a:r>
          </a:p>
          <a:p>
            <a:r>
              <a:rPr lang="en-US" sz="1400" b="0" dirty="0"/>
              <a:t>Hỏi cả lớp (mời hai ba người trả lời, bật micro): vì sao không tính được nguy cơ nhiễm Candida máu từ nghiên cứu bệnh–chứng?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khác (ngoài câu hỏi về dịch truyền). Ở Buổi 4 cả lớp sẽ tính tỷ số chênh cho một nghiên cứu bệnh–chứng về câu hỏi dịch truyền dùng đúng các con số này (24/40 so với 16/80), nên hãy đi chậm.</a:t>
            </a:r>
          </a:p>
          <a:p>
            <a:r>
              <a:rPr lang="en-US" sz="1400" b="0" dirty="0"/>
              <a:t>Bước 1: ca bệnh là người có kết cục. Bước 2: ca chứng là những người tương tự không có kết cục, từ cùng nguồn (cùng ICU, cùng thời gian). Chọn ca chứng tốt là phần khó nhất. Bước 3: nhìn lại phơi nhiễm, cùng một cách cho cả hai nhóm. Bước 4: 60% ca bệnh so với 20% ca chứng có phơi nhiễm. Bước 5: kết quả là tỷ số chênh (OR = 6.0, sẽ tính thứ Bảy tuần sau).</a:t>
            </a:r>
          </a:p>
          <a:p>
            <a:r>
              <a:rPr lang="en-US" sz="1400" b="0" dirty="0"/>
              <a:t>Quan niệm sai: 'ca chứng nên là người tình nguyện khỏe mạnh'. Không. Ca chứng phải đến từ quần thể đã sinh ra ca bệnh, nếu không phép so sánh không công bằng.</a:t>
            </a:r>
          </a:p>
          <a:p>
            <a:r>
              <a:rPr lang="en-US" sz="1400" b="0" dirty="0"/>
              <a:t>Hỏi cả lớp (mời hai ba người trả lời, bật micro): vì sao không báo cáo được nguy cơ nhiễm Candida máu từ nghiên cứu này? Dự kiến: nhà nghiên cứu tự chọn số ca bệnh và ca chứng (1:2), nên tỷ lệ mắc do thiết kế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Bài báo 2,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vì nhà nghiên cứu không chọn ai được truyền nhiều dịch hơn.</a:t>
            </a:r>
          </a:p>
          <a:p>
            <a:r>
              <a:rPr lang="en-US" sz="1400" b="0" dirty="0"/>
              <a:t>Quan niệm sai: 'hồi cứu nghĩa là chất lượng kém'. Không hẳn. Chất lượng phụ thuộc vào việc ghi chép dữ liệu tốt đến đâu.</a:t>
            </a:r>
          </a:p>
          <a:p>
            <a:r>
              <a:rPr lang="en-US" sz="1400" b="0" dirty="0"/>
              <a:t>Hỏi cả lớp (mời hai ba người trả lời, bật micro): trong Hyun, ai quyết định người bệnh nào được truyền nhiều dịch hơn? Dự kiến: bác sĩ điều trị, tùy theo người bệnh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thư mục khóa học Course/Papers) hoạt động. Đây là ví dụ tốt về thuần tập xây dựng từ một sổ bộ có dữ liệu thu thập tiến cứu.</a:t>
            </a:r>
          </a:p>
          <a:p>
            <a:r>
              <a:rPr lang="en-US" sz="1400" b="0" dirty="0"/>
              <a:t>Bước 1: nhóm thuần tập: ai được theo dõi (và ai bị loại: người bệnh rời ICU trước ngày 3). Bước 2: phơi nhiễm được đo trước kết cục. Bước 3: kết cục được đếm sau đó. Bước 4: so sánh các nhóm. Hyun ghép cặp theo điểm xu hướng (propensity score) để các nhóm tương đồng (483, 373 và 392 cặp cho ngày 1, 2 và 3). Kết quả ngày 2: tỷ số nguy cơ tức thời (HR) 2.13 (khoảng tin cậy, KTC, 95% 1.48-3.06). Ngày 1 không khác biệt rõ. HR được giải thích kỹ ở Buổi 6. Học viên đã học cách đọc một bài báo ở Buổi 2 (2.3): câu hỏi, thiết kế, kết quả chính. Slide này áp dụng điều đó. Bài báo báo cáo tỷ số nguy cơ tức thời (hazard ratio, HR); slide diễn đạt bằng lời thường. Tỷ số nguy cơ (RR) và tỷ số chênh (OR) học ở Buổi 4, HR ở Buổi 6, kèm một slide tóm tắt khi nào dùng tỷ số nào. Lúc này hiểu là 'tốc độ tử vong khoảng gấp đôi'.</a:t>
            </a:r>
          </a:p>
          <a:p>
            <a:r>
              <a:rPr lang="en-US" sz="1400" b="0" dirty="0"/>
              <a:t>Quan niệm sai: 'thuần tập phải bắt đầu từ hôm nay'. Thuần tập hồi cứu dùng hồ sơ cũ nhưng vẫn đi từ phơi nhiễm đến kết cục.</a:t>
            </a:r>
          </a:p>
          <a:p>
            <a:r>
              <a:rPr lang="en-US" sz="1400" b="0" dirty="0"/>
              <a:t>Hỏi cả lớp (mời hai ba người trả lời, bật micro): ai quyết định người bệnh nào được truyền nhiều dịch hơn? Dự kiến: bác sĩ điều trị, thường vì người bệnh nặng hơn. Sẽ quay lại ở Buổi 4 (yếu tố nhiễu).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1, Boulet 2024: 50 người lớn bị sốc nhiễm khuẩn được máy tính trung tâm phân nhóm ngẫu nhiên tỷ lệ 1:1 vào chiến lược hạn chế dịch không phải hồi sức hoặc chăm sóc thường quy. Hai người bệnh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người bệnh mỗi nhóm, điều này gần như không nói được gì về tử vong.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(mời hai ba người trả lời, bật micro):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thư mục khóa học Course/Papers), thử nghiệm ngẫu nhiên thí điểm tại 3 ICU.</a:t>
            </a:r>
          </a:p>
          <a:p>
            <a:r>
              <a:rPr lang="en-US" sz="1400" b="0" dirty="0"/>
              <a:t>Bước 1: tiêu chuẩn chọn chặt chẽ (sẽ quay lại khi xây dựng đề cương). Bước 2: đồng ý tham gia (ở ICU thường từ người đại diện), trước hoặc ngay sau phân nhóm. Bước 3: phân nhóm bằng máy tính trung tâm giữ kín lần phân bổ tiếp theo (che giấu phân bổ, allocation concealment, Buổi 4). Bước 4: thực hiện hai chiến lược. Bước 5: kết cục chính là cân bằng dịch ngày 5. Tử vong ngày 28 là 6/24 ở mỗi nhóm.</a:t>
            </a:r>
          </a:p>
          <a:p>
            <a:r>
              <a:rPr lang="en-US" sz="1400" b="0" dirty="0"/>
              <a:t>Quan niệm sai: 'ngẫu nhiên = làm mù'. Không phải ở đây. Bác sĩ biết nhóm. Chỉ người bệnh và nhà thống kê được làm mù.</a:t>
            </a:r>
          </a:p>
          <a:p>
            <a:r>
              <a:rPr lang="en-US" sz="1400" b="0" dirty="0"/>
              <a:t>Hỏi cả lớp (bình chọn): bước nào biến đây thành thực nghiệm thay vì thuần tập? Dự kiến: bước 3, khi nhà nghiên cứu chỉ định phơi nhiễm.</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toán tử Boolean ở Buổi 2) và thẩm định mọi nghiên cứu tìm được. Phân tích gộp sau đó gộp kết quả thành một ước lượng chung: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đầu vào kém, đầu ra kém. Gộp các thử nghiệm nhỏ bị sai lệch cho một câu trả lời sai nhưng rất chính xác.</a:t>
            </a:r>
          </a:p>
          <a:p>
            <a:r>
              <a:rPr lang="en-US" sz="1400" b="0" dirty="0"/>
              <a:t>Hỏi cả lớp (mời hai ba người trả lời, bật micro):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Bài báo 1 (Boulet) là RCT, Bài báo 2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người bệnh không bác bỏ được một thuần tập đa trung tâm cẩn thận về tử vong. Chúng trả lời những phần khác nhau của câu hỏi.</a:t>
            </a:r>
          </a:p>
          <a:p>
            <a:r>
              <a:rPr lang="en-US" sz="1400" b="0" dirty="0"/>
              <a:t>Hỏi cả lớp (bình chọn):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'Gọi tên thiết kế' ở cuối phần 3.1. Đi chậm một lần với Bài báo 1 (Boulet), rồi với Bài báo 2 (Hyun).</a:t>
            </a:r>
          </a:p>
          <a:p>
            <a:r>
              <a:rPr lang="en-US" sz="1400" b="0" dirty="0"/>
              <a:t>Boulet: nhà nghiên cứu có chỉ định chiến lược không? Có. Ngẫu nhiên? Có. RCT.</a:t>
            </a:r>
          </a:p>
          <a:p>
            <a:r>
              <a:rPr lang="en-US" sz="1400" b="0" dirty="0"/>
              <a:t>Hyun: có chỉ định? Không. Có nhóm so sánh? Có (cân bằng dương so với âm). Phơi nhiễm đo trước và kết cục theo dõi sau? Có. Thuần tập.</a:t>
            </a:r>
          </a:p>
          <a:p>
            <a:r>
              <a:rPr lang="en-US" sz="1400" b="0" dirty="0"/>
              <a:t>Quan niệm sai: gọi tên thiết kế theo chữ trong tiêu đề ('tiến cứu', 'sổ bộ', 'hồi cứu'). Tiêu đề có thể gây nhầm, vì vậy hãy dùng ba câu hỏi.</a:t>
            </a:r>
          </a:p>
          <a:p>
            <a:r>
              <a:rPr lang="en-US" sz="1400" b="0" dirty="0"/>
              <a:t>Hỏi cả lớp (bình chọn): một nghiên cứu so sánh cân bằng dịch và chức năng thận của mọi người bệnh ICU trong một ngày. Thiết kế gì? Dự kiến: không chỉ định, có so sánh, cùng thời điểm = cắt ngang. Còn một quy trình dịch truyền áp dụng từ một ngày, so sánh trước và sau? Có chỉ định nhưng không ngẫu nhiên: nghiên cứu không ngẫu nhiên (bán thực nghiệm).</a:t>
            </a:r>
          </a:p>
          <a:p>
            <a:r>
              <a:rPr lang="en-US" sz="1400" b="0" dirty="0"/>
              <a:t>Thời gian: 5 phút. Cây này cũng có trong phiếu bài tập Buổi 3 (PDF), Phần A, để học viên mở sẵn khi làm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người bệnh thử nghiệm được chọn lọc (Boulet loại người trên 85 tuổi, người cần lọc máu và người suy dinh dưỡng nặng).</a:t>
            </a:r>
          </a:p>
          <a:p>
            <a:r>
              <a:rPr lang="en-US" sz="1400" b="0" dirty="0"/>
              <a:t>Quan niệm sai: 'nghiên cứu bệnh–chứng yếu'. Với kết cục hiếm, đó thường là thiết kế khả thi duy nhất, và chính nó lần đầu liên kết hút thuốc với ung thư phổi.</a:t>
            </a:r>
          </a:p>
          <a:p>
            <a:r>
              <a:rPr lang="en-US" sz="1400" b="0" dirty="0"/>
              <a:t>Hỏi cả lớp (mời hai ba người trả lời, bật micro): muốn tìm yếu tố nguy cơ của một phản ứng thuốc hiếm, chọn thiết kế nào? Dự kiến: bệnh–chứng.</a:t>
            </a:r>
          </a:p>
          <a:p>
            <a:r>
              <a:rPr lang="en-US" sz="1400" b="0" dirty="0"/>
              <a:t>Thời gian: 2 phút. Phiếu bài tập Buổi 3 (PDF)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người bệnh và 6 ca tử vong mỗi nhóm, nó không nói được gì chắc chắn về tử vong. Bác sĩ biết phân nhóm, điều này có thể ảnh hưởng lượng dịch họ truyền.</a:t>
            </a:r>
          </a:p>
          <a:p>
            <a:r>
              <a:rPr lang="en-US" sz="1400" b="0" dirty="0"/>
              <a:t>Hyun (thuần tập): hàng nghìn người bệnh và đúng kết cục cần quan tâm. Cân bằng dịch dương ở ngày 2-3 có liên quan với tử vong ngày 28 cao hơn (tỷ số nguy cơ tức thời, HR, 2.13 ở ngày 2 và 1.56 ở ngày 3, ngày 1 không khác biệt rõ). Nhưng không chứng minh được dịch gây tử vong, vì người bệnh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(mời hai ba người trả lời, bật micro): viết một câu kết luận trung thực cho mỗi bài. Dự kiến: với Boulet, 'chiến lược không làm giảm rõ cân bằng dịch ngày 5'. Với Hyun, 'cân bằng dịch dương ở ngày 2-3 có liên quan với tử vong cao hơn'.</a:t>
            </a:r>
          </a:p>
          <a:p>
            <a:r>
              <a:rPr lang="en-US" sz="1400" b="0" dirty="0"/>
              <a:t>Thời gian: 4 phút. Sau đó là 3 phút bình chọn,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ba câu bình chọn (đúng hay sai cho mỗi câu). Chiếu kết quả sau mỗi câu.</a:t>
            </a:r>
          </a:p>
          <a:p>
            <a:r>
              <a:rPr lang="en-US" sz="1400" b="0" dirty="0"/>
              <a:t>Đáp án. A: đúng. Thử nghiệm ngẫu nhiên được phép nói về nhân quả, và câu này báo cáo trung thực một kết quả âm tính. B: sai. Thuần tập chỉ nói 'có liên quan', không nói 'gây ra' (chính tóm tắt của Hyun dùng đúng chữ 'có liên quan'). C: đúng. 'Có liên quan' là từ đúng cho khảo sát cắt ngang. Nó không cho biết cái nào có trước.</a:t>
            </a:r>
          </a:p>
          <a:p>
            <a:r>
              <a:rPr lang="en-US" sz="1400" b="0" dirty="0"/>
              <a:t>Ý chính: đây là câu 8 trong bảng kiểm thẩm định 10 câu dùng ở Buổi 8 (Course/Resources/Critical_Appraisal_Checklist.pdf): lời lẽ có khớp với thiết kế không?</a:t>
            </a:r>
          </a:p>
          <a:p>
            <a:r>
              <a:rPr lang="en-US" sz="1400" b="0" dirty="0"/>
              <a:t>Thời gian: 3 phút. Slide này khép lại 45 phút của phần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khoảng 2.5 phút mỗi tóm tắt. Phiếu: Course/Practicals/s3_exercises.md, Phần A (gửi dạng PDF trước buổi học). Đáp án: Course/Solutions/s3_solutions.md, Phần A.</a:t>
            </a:r>
          </a:p>
          <a:p>
            <a:r>
              <a:rPr lang="en-US" sz="1400" b="0" dirty="0"/>
              <a:t>Cách chạy: chiếu tóm tắt 1 lên màn hình chia sẻ và đọc to. Mở bình chọn với các lựa chọn thiết kế (cắt ngang, bệnh–chứng, thuần tập, nghiên cứu không ngẫu nhiên, RCT, tổng quan hệ thống). Chiếu kết quả. Mời một bạn (giơ tay, bật micro) nêu cụm từ làm bằng chứng, và gõ cụm từ đó cạnh tóm tắt trên màn hình. Rồi sang tóm tắt tiếp theo.</a:t>
            </a:r>
          </a:p>
          <a:p>
            <a:r>
              <a:rPr lang="en-US" sz="1400" b="0" dirty="0"/>
              <a:t>Tóm tắt 3 (bệnh–chứng, nhìn ngược lại từ việc phải lọc máu) và 4 (thuần tập hồi cứu nghe giống bệnh–chứng) thường khó nhất. Dành thêm thời gian cho hai câu này.</a:t>
            </a:r>
          </a:p>
          <a:p>
            <a:r>
              <a:rPr lang="en-US" sz="1400" b="0" dirty="0"/>
              <a:t>Ý chính: cụm từ làm bằng chứng quan trọng hơn cái nhãn: 'phân bổ ngẫu nhiên', 'so sánh với những người bệnh không bị', 'chia họ theo', 'trong một ngày'.</a:t>
            </a:r>
          </a:p>
          <a:p>
            <a:r>
              <a:rPr lang="en-US" sz="1400" b="0" dirty="0"/>
              <a:t>Quan niệm sai cần lắng nghe: 'dùng hồ sơ cũ nên là bệnh–chứng'. Hỏi lại: người được chọn theo kết cục hay theo phơi nhiễm?</a:t>
            </a:r>
          </a:p>
          <a:p>
            <a:r>
              <a:rPr lang="en-US" sz="1400" b="0" dirty="0"/>
              <a:t>Nếu lớp làm nhanh: phiếu có thêm chín tóm tắt về chủ đề khác để tự học (Phần A, luyện tập thêm).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đứng dậy, vươn vai, uống nước. Gợi ý (tùy chọn): thiết kế nào có thể hợp với câu hỏi của bạn? Sau giải lao sẽ học tiếp các thiết kế khác.</a:t>
            </a:r>
          </a:p>
          <a:p>
            <a:r>
              <a:rPr lang="en-US" sz="1400" b="0" dirty="0"/>
              <a:t>Giải lao 15 phút (20:40-20:55). Chiếu đồng hồ đếm ngược trên màn hình chia sẻ và để phiên họp mở.</a:t>
            </a:r>
          </a:p>
          <a:p>
            <a:r>
              <a:rPr lang="en-US" sz="1400" b="0" dirty="0"/>
              <a:t>Bắt đầu lại đúng giờ, kể cả khi vài người chưa bật lại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(30 phút).</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học viên chọn được thiết kế khả thi cho đề cương của mình.</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người bệnh nhận một điều trị (Boulet). Ba biến thể giải quyết những vấn đề riêng.</a:t>
            </a:r>
          </a:p>
          <a:p>
            <a:r>
              <a:rPr lang="en-US" sz="1400" b="0" dirty="0"/>
              <a:t>Bắt chéo (crossover): mỗi người bệnh nhận cả hai điều trị theo thứ tự ngẫu nhiên, có giai đoạn thải trừ ở giữa, và là đối chứng của chính mình, nên cần ít người bệnh hơn. Chỉ dùng cho bệnh mạn tính, ổn định, khi tác dụng hết đi (ví dụ thuốc hít trong bệnh phổi tắc nghẽn mạn tính). Vô dụng trong sốc nhiễm khuẩn: người bệnh ở ngày 7 không còn như ngày 1.</a:t>
            </a:r>
          </a:p>
          <a:p>
            <a:r>
              <a:rPr lang="en-US" sz="1400" b="0" dirty="0"/>
              <a:t>Theo cụm (cluster): phân nhóm ngẫu nhiên cả khoa, ICU hoặc bệnh viện, không phải từng người bệnh. Dùng khi can thiệp tác động ở cấp đơn vị (chương trình vệ sinh tay, gói xử trí nhiễm khuẩn huyết, quy trình ghi cân bằng dịch do điều dưỡng thực hiện) hoặc khi người bệnh cùng khoa 'lây' can thiệp cho nhau. Cần nhiều người bệnh hơn vì người bệnh trong một cụm giống nhau.</a:t>
            </a:r>
          </a:p>
          <a:p>
            <a:r>
              <a:rPr lang="en-US" sz="1400" b="0" dirty="0"/>
              <a:t>Giai thừa (factorial): hai câu hỏi trong một thử nghiệm. Người bệnh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(bình chọn): muốn thử một quy trình ghi cân bằng dịch mới do điều dưỡng ICU thực hiện, chọn cách bố trí nào? Dự kiến: theo cụm. Phân nhóm ngẫu nhiên theo ICU, không theo người bệnh.</a:t>
            </a:r>
          </a:p>
          <a:p>
            <a:r>
              <a:rPr lang="en-US" sz="1400" b="0" dirty="0"/>
              <a:t>Thời gian: 5.5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(thường vì nó rẻ hơn, an toàn hơn, đơn giản hơn hoặc dùng ít dịch hơn).</a:t>
            </a:r>
          </a:p>
          <a:p>
            <a:r>
              <a:rPr lang="en-US" sz="1400" b="0" dirty="0"/>
              <a:t>Ngưỡng (ở đây +5 điểm phần trăm tử vong, giả định) là mức thiệt hại lớn nhất có thể chấp nhận. Ngưỡng được định trong đề cương, trước khi có dữ liệu, dựa trên lập luận lâm sàng.</a:t>
            </a:r>
          </a:p>
          <a:p>
            <a:r>
              <a:rPr lang="en-US" sz="1400" b="0" dirty="0"/>
              <a:t>Đọc các thanh (hiệu số và khoảng tin cậy, KTC, 95%). A: toàn bộ KTC dưới 0, vậy là vượt trội. B: KTC cắt 0 nhưng vẫn dưới ngưỡng, vậy là không kém hơn. C: KTC cắt ngưỡng, vậy là chưa kết luận. D: toàn bộ KTC trên ngưỡng, vậy là kém hơn.</a:t>
            </a:r>
          </a:p>
          <a:p>
            <a:r>
              <a:rPr lang="en-US" sz="1400" b="0" dirty="0"/>
              <a:t>Quan niệm sai: 'p &gt; 0.05 trong thử nghiệm vượt trội chứng tỏ hai điều trị tương đương'. Không. Không có bằng chứng không phải là bằng chứng của sự không có. p = 0.42 của Boulet không chứng tỏ hạn chế dịch tốt bằng chăm sóc thường quy.</a:t>
            </a:r>
          </a:p>
          <a:p>
            <a:r>
              <a:rPr lang="en-US" sz="1400" b="0" dirty="0"/>
              <a:t>Hỏi cả lớp (bình chọn): ai nên quyết định ngưỡng: nhà thống kê hay bác sĩ lâm sàng? Dự kiến: bác sĩ lâm sàng (và người bệnh),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người bệnh được sàng lọc để có 50 người bệnh được phân nhóm (khoảng 4%), khoảng 3 người bệnh mỗi tháng tại 3 ICU, 48/50 được phân tích.</a:t>
            </a:r>
          </a:p>
          <a:p>
            <a:r>
              <a:rPr lang="en-US" sz="1400" b="0" dirty="0"/>
              <a:t>Nghiên cứu thí điểm hay khả thi kiểm tra các khâu vận hành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người bệnh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(bình chọn): với những con số này, có nên làm thử nghiệm 1000 người bệnh tại đúng 3 ICU đó không? Dự kiến: không theo thiết kế này. Với 3 người bệnh mỗi tháng sẽ mất hàng chục năm. Cần nhiều điểm hơn hoặc tiêu chuẩn chọn rộng hơn.</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(QI) áp dụng thay đổi cho mọi người cùng lúc, không ngẫu nhiên và không có nhóm chứng song song. Đó là thiết kế bán thực nghiệm (quasi-experimental).</a:t>
            </a:r>
          </a:p>
          <a:p>
            <a:r>
              <a:rPr lang="en-US" sz="1400" b="0" dirty="0"/>
              <a:t>Nghiên cứu trước-sau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(mời hai ba người trả lời, bật micro): trong tháng thực hiện dự án cải tiến gần nhất, bệnh viện còn thay đổi gì khác? Dự kiến: thường có (luân chuyển nhân sự, chính sách mới, kiểm tra),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(tiêu chí hợp nhất để báo cáo nghiên cứu định tính) hoặc SRQR (chuẩn báo cáo nghiên cứu định tính).</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(mời hai ba người trả lời, bật micro): một câu hỏi về quản lý dịch truyền ở khoa mình mà chỉ phỏng vấn mới trả lời được. Dự kiến: vì sao phiếu theo dõi dịch không đầy đủ, vì sao bác sĩ ngại ngừng dịch duy trì.</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trong phần xây dựng đề cương, mỗi học viên sẽ biện luận thiết kế cho câu hỏi của chính mình bằng đúng logic này: 'câu hỏi của tôi về X, nên thiết kế khả thi tốt nhất là Y'.</a:t>
            </a:r>
          </a:p>
          <a:p>
            <a:r>
              <a:rPr lang="en-US" sz="1400" b="0" dirty="0"/>
              <a:t>Lưu ý chữ khả thi: thiết kế lý tưởng cho câu hỏi 'hạn chế dịch có cứu sống người bệnh không?' là một RCT lớn, nhưng một học viên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(bình chọn): muốn biết hôm nay có bao nhiêu người bệnh ICU có cân bằng dịch dương. Thiết kế nào? Dự kiến: cắt ngang (hiện mắc tại một thời điểm).</a:t>
            </a:r>
          </a:p>
          <a:p>
            <a:r>
              <a:rPr lang="en-US" sz="1400" b="0" dirty="0"/>
              <a:t>Thời gian: 5.5 phút. Slide này khép lại 30 phút của phần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phiếu bài tập Buổi 3 (Course/Practicals/s3_exercises.md, file PDF gửi trước buổi học), Phần B. Đáp án: Course/Solutions/s3_solutions.md, Phần B.</a:t>
            </a:r>
          </a:p>
          <a:p>
            <a:r>
              <a:rPr lang="en-US" sz="1400" b="0" dirty="0"/>
              <a:t>Cách chạy: khoảng 2 phút mỗi câu (10 phút), rồi 5 phút cho câu hỏi của chính học viên.</a:t>
            </a:r>
          </a:p>
          <a:p>
            <a:r>
              <a:rPr lang="en-US" sz="1400" b="0" dirty="0"/>
              <a:t>Đáp án cho năm câu: 1 một chiến lược rẻ hơn, chỉ cần chứng minh tử vong ngày 28 không kém hơn (RCT không kém hơn, ngưỡng định trước), 2 quy trình ghi cân bằng dịch do điều dưỡng thực hiện cho cả ICU (thử nghiệm ngẫu nhiên theo cụm), 3 gói xử trí nhiễm khuẩn huyết có giới hạn dịch đã áp dụng từ năm 2023, có số liệu theo tháng (chuỗi thời gian ngắt quãng), 4 vì sao điều dưỡng ca đêm khó ghi lượng nước tiểu (phỏng vấn định tính hoặc thảo luận nhóm), 5 hai ICU của mình có tuyển được người bệnh và thực hiện được hạn chế dịch trước khi làm thử nghiệm lớn không (nghiên cứu thí điểm hoặc khả thi).</a:t>
            </a:r>
          </a:p>
          <a:p>
            <a:r>
              <a:rPr lang="en-US" sz="1400" b="0" dirty="0"/>
              <a:t>Câu hỏi của học viên: mời bốn hoặc năm người nói 'thiết kế của tôi là ..., nên tôi được nói gây ra / có liên quan', bật micro, và nhận xét ngắn. Đây là cầu nối sang phần xây dựng đề cương.</a:t>
            </a:r>
          </a:p>
          <a:p>
            <a:r>
              <a:rPr lang="en-US" sz="1400" b="0" dirty="0"/>
              <a:t>Vấn đề thường gặp: chọn RCT cho câu hỏi về tác hại hay tiên lượng. Hỏi: có thể chỉ định phơi nhiễm này một cách đạo đức không?</a:t>
            </a:r>
          </a:p>
          <a:p>
            <a:r>
              <a:rPr lang="en-US" sz="1400" b="0" dirty="0"/>
              <a:t>Nếu lớp làm nhanh: Phần B của phiếu còn bốn câu về chủ đề khác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xây dựng đề cương 3 bắt đầu từ đây (tổng cộng 45 phút, đúng như trên băng tiêu đề và trong chương trình: slide này 3 phút, rồi 42 phút xây dựng đề cương).</a:t>
            </a:r>
          </a:p>
          <a:p>
            <a:r>
              <a:rPr lang="en-US" sz="1400" b="0" dirty="0"/>
              <a:t>Slide này chuẩn bị cho phần xây dựng đề cương: hôm nay mỗi người viết đối tượng nghiên cứu cho đề cương của chính mình.</a:t>
            </a:r>
          </a:p>
          <a:p>
            <a:r>
              <a:rPr lang="en-US" sz="1400" b="0" dirty="0"/>
              <a:t>Đi xuống phễu với ví dụ ICU (phiên bản quan sát của câu hỏi về dịch truyền). Quần thể nguồn: mọi người có thể được nghiên cứu. Tiêu chuẩn chọn: chữ P (Đối tượng) của PICO, đo được (từ 18 tuổi, sốc nhiễm khuẩn, vận mạch bắt đầu trong 24 giờ). Tiêu chuẩn loại trừ: người đạt tiêu chuẩn chọn nhưng phải loại vì một lý do như an toàn, hoặc không đo được kết cục (lọc máu mạn, chỉ chăm sóc giảm nhẹ).</a:t>
            </a:r>
          </a:p>
          <a:p>
            <a:r>
              <a:rPr lang="en-US" sz="1400" b="0" dirty="0"/>
              <a:t>So với Bài báo 1 (Boulet): chọn sốc nhiễm khuẩn, 18-85 tuổi, trong 24 giờ từ khi dùng vận mạch. Loại tổn thương thận cấp cần điều trị thay thế thận trong 24 giờ, bệnh thận giai đoạn cuối, suy dinh dưỡng nặng (chỉ số khối cơ thể dưới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người bệnh hơn (giá trị ngoại suy, Buổi 4).</a:t>
            </a:r>
          </a:p>
          <a:p>
            <a:r>
              <a:rPr lang="en-US" sz="1400" b="0" dirty="0"/>
              <a:t>Hỏi cả lớp (mời hai ba người trả lời, bật micro): nêu một tiêu chuẩn loại trừ tốt cho nghiên cứu dịch truyền của lớp. Dự kiến: lọc máu mạn (không diễn giải được cân bằng dịch),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phiếu bài tập Buổi 3 (PDF), Phần C, và mẫu đề cương (Course/Templates/Research_Proposal_Template.docx, Phần 2). Mỗi người viết đề cương của chính mình. Không chia nhóm.</a:t>
            </a:r>
          </a:p>
          <a:p>
            <a:r>
              <a:rPr lang="en-US" sz="1400" b="0" dirty="0"/>
              <a:t>Nhịp (42 phút): 15 phút giảng viên điền Phần 2a cho ví dụ xuyên suốt trên màn hình chia sẻ, vừa viết vừa nói ra suy nghĩ, 20 phút học viên tự viết nháp Phần 2a của mình (có thể tắt camera, giảng viên vẫn trực tuyến để trả lời câu hỏi trong khung chat), 7 phút ba bạn tình nguyện đọc to câu thiết kế và biện luận và giảng viên nhận xét.</a:t>
            </a:r>
          </a:p>
          <a:p>
            <a:r>
              <a:rPr lang="en-US" sz="1400" b="0" dirty="0"/>
              <a:t>Đáp án mẫu cho ví dụ xuyên suốt (phiên bản quan sát), để viết trực tiếp: thuần tập hồi cứu người lớn sốc nhiễm khuẩn tại ICU của mình trong 3 năm. Biện luận: RCT là lý tưởng nhưng không khả thi với một ICU không có kinh phí. Hồ sơ sẵn có ghi dịch vào và ra cùng kết cục. Sẽ kết luận 'có liên quan với'. Bối cảnh: một ICU hỗn hợp người lớn, 3 năm, hồ sơ điện tử và sổ ICU. Tiêu chuẩn chọn và loại trừ như slide phễu. Mẫu đầy đủ ở Course/Solutions/s3_solutions.md, Phần C.</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 của phần làm riêng.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(22:25). Mời ba bạn tình nguyện (giơ tay) giải thích mỗi thẻ bằng lời của mình.</a:t>
            </a:r>
          </a:p>
          <a:p>
            <a:r>
              <a:rPr lang="en-US" sz="1400" b="0" dirty="0"/>
              <a:t>Nếu thiếu thời gian, chỉ đọc thông điệp chính.</a:t>
            </a:r>
          </a:p>
          <a:p>
            <a:r>
              <a:rPr lang="en-US" sz="1400" b="0" dirty="0"/>
              <a:t>Thời gian: 2 phút. Cùng với slide tổng kết (3 phút) là 5 phút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do bác sĩ chọn, theo dõi về sau). Chỉ được nói 'có liên quan', vì bác sĩ chọn hạn chế dịch cho những người bệnh khác biệt ở nhiều mặt (nhẹ hơn, hoặc đã quá tải dịch). Đây là bước dẫn vào nhiễu do chỉ định thứ Bảy tuần sau.</a:t>
            </a:r>
          </a:p>
          <a:p>
            <a:r>
              <a:rPr lang="en-US" sz="1400" b="0" dirty="0"/>
              <a:t>Mục đích của câu hỏi cuối buổi: kiểm tra ý chính hôm nay đã được hiểu chưa. Đọc mọi câu trả lời trước Buổi 4 và mở đầu Buổi 4 bằng ba câu (ẩn danh).</a:t>
            </a:r>
          </a:p>
          <a:p>
            <a:r>
              <a:rPr lang="en-US" sz="1400" b="0" dirty="0"/>
              <a:t>Thời gian: 3 phút sau slide tóm tắt 2 phút (tổng cộng 5 phút, đúng như trên băng tiêu đề và trong chương trình).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 (bộ slide được gửi dạng PDF sau buổi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(cả hai trong Course/Papers). Hữu ích nếu bài tập 'Gọi tên thiết kế' cho thấy lớp còn lúng túng.</a:t>
            </a:r>
          </a:p>
          <a:p>
            <a:r>
              <a:rPr lang="en-US" sz="1400" b="0" dirty="0"/>
              <a:t>Boulet: chỉ định? Có. Ngẫu nhiên? Có. Vậy là RCT. Hyun: chỉ định? Không. Có nhóm so sánh? Có. Phơi nhiễm đo trước kết cục? Có. Vậy là thuần tập.</a:t>
            </a:r>
          </a:p>
          <a:p>
            <a:r>
              <a:rPr lang="en-US" sz="1400" b="0" dirty="0"/>
              <a:t>Mời học viên làm tương tự với một bài báo trong danh sách tài liệu tham khảo của mình (Phần 1 đề cương).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tình huống từ các khoa khác, để bình chọn nhanh hoặc tự học.</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đáp án cho slide trước.</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bệnh–chứng'. Cách chọn mới quyết định: theo kết cục = bệnh–chứng. Theo phơi nhiễm = thuần tập.</a:t>
            </a:r>
          </a:p>
          <a:p>
            <a:r>
              <a:rPr lang="en-US" sz="1400" b="0" dirty="0"/>
              <a:t>Thời gian: nằm trong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luyện thêm các thiết kế của phần 3.2, với ví dụ từ chủ đề khác.</a:t>
            </a:r>
          </a:p>
          <a:p>
            <a:r>
              <a:rPr lang="en-US" sz="1400" b="0" dirty="0"/>
              <a:t>Đáp án. A: thử nghiệm không kém hơn. Xác định ngưỡng từ trước. B: thử nghiệm ngẫu nhiên theo cụm. Phân nhóm theo khoa, không theo người bệnh. C: thiết kế định tính, dùng phỏng vấn sâu (hoặc thảo luận nhóm) với gia đình.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học viên định làm nghiên cứu bệnh–chứng.</a:t>
            </a:r>
          </a:p>
          <a:p>
            <a:r>
              <a:rPr lang="en-US" sz="1400" b="0" dirty="0"/>
              <a:t>Ca chứng phải đến từ quần thể đã sinh ra ca bệnh: trong ví dụ nhiễm Candida máu là những người bệnh ICU khác cùng khoa và cùng tháng,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bổ sung cho slide về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học viên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 (chuẩn báo cáo cải tiến chất lượng).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3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2 (10 phút)</a:t>
            </a:r>
          </a:p>
          <a:p>
            <a:pPr marL="274320" indent="-274320" algn="l">
              <a:spcBef>
                <a:spcPts val="440"/>
              </a:spcBef>
              <a:buFont typeface="Arial"/>
              <a:buChar char="•"/>
            </a:pPr>
            <a:r>
              <a:rPr lang="en-US" sz="1900" dirty="0">
                <a:solidFill>
                  <a:srgbClr val="000000"/>
                </a:solidFill>
                <a:latin typeface="Arial"/>
                <a:cs typeface="Arial"/>
              </a:rPr>
              <a:t>3.1  Thiết kế nghiên cứu qua hình ảnh (45 phút)</a:t>
            </a:r>
          </a:p>
          <a:p>
            <a:pPr marL="274320" indent="-274320" algn="l">
              <a:spcBef>
                <a:spcPts val="440"/>
              </a:spcBef>
              <a:buFont typeface="Arial"/>
              <a:buChar char="•"/>
            </a:pPr>
            <a:r>
              <a:rPr lang="en-US" sz="1900" dirty="0">
                <a:solidFill>
                  <a:srgbClr val="000000"/>
                </a:solidFill>
                <a:latin typeface="Arial"/>
                <a:cs typeface="Arial"/>
              </a:rPr>
              <a:t>Bài tập cả lớp: Gọi tên thiết kế (15 phút)</a:t>
            </a:r>
          </a:p>
          <a:p>
            <a:pPr marL="274320" indent="-274320" algn="l">
              <a:spcBef>
                <a:spcPts val="440"/>
              </a:spcBef>
              <a:buFont typeface="Arial"/>
              <a:buChar char="•"/>
            </a:pPr>
            <a:r>
              <a:rPr lang="en-US" sz="1900" dirty="0">
                <a:solidFill>
                  <a:srgbClr val="000000"/>
                </a:solidFill>
                <a:latin typeface="Arial"/>
                <a:cs typeface="Arial"/>
              </a:rPr>
              <a:t>Giải lao (15 phút)</a:t>
            </a:r>
          </a:p>
          <a:p>
            <a:pPr marL="274320" indent="-274320" algn="l">
              <a:spcBef>
                <a:spcPts val="440"/>
              </a:spcBef>
              <a:buFont typeface="Arial"/>
              <a:buChar char="•"/>
            </a:pPr>
            <a:r>
              <a:rPr lang="en-US" sz="1900" dirty="0">
                <a:solidFill>
                  <a:srgbClr val="000000"/>
                </a:solidFill>
                <a:latin typeface="Arial"/>
                <a:cs typeface="Arial"/>
              </a:rPr>
              <a:t>3.2  Các thiết kế khác: biến thể thử nghiệm, thí điểm, cải tiến chất lượng, định tính (30 phút)</a:t>
            </a:r>
          </a:p>
          <a:p>
            <a:pPr marL="274320" indent="-274320" algn="l">
              <a:spcBef>
                <a:spcPts val="440"/>
              </a:spcBef>
              <a:buFont typeface="Arial"/>
              <a:buChar char="•"/>
            </a:pPr>
            <a:r>
              <a:rPr lang="en-US" sz="1900" dirty="0">
                <a:solidFill>
                  <a:srgbClr val="000000"/>
                </a:solidFill>
                <a:latin typeface="Arial"/>
                <a:cs typeface="Arial"/>
              </a:rPr>
              <a:t>Bài tập cả lớp: chọn thiết kế (15 phút)</a:t>
            </a:r>
          </a:p>
          <a:p>
            <a:pPr marL="274320" indent="-274320" algn="l">
              <a:spcBef>
                <a:spcPts val="440"/>
              </a:spcBef>
              <a:buFont typeface="Arial"/>
              <a:buChar char="•"/>
            </a:pPr>
            <a:r>
              <a:rPr lang="en-US" sz="1900" dirty="0">
                <a:solidFill>
                  <a:srgbClr val="000000"/>
                </a:solidFill>
                <a:latin typeface="Arial"/>
                <a:cs typeface="Arial"/>
              </a:rPr>
              <a:t>Xây dựng đề cương 3: thiết kế, bối cảnh và đối tượng (45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Tìm kiếm PubMed ra 3000 bài. Thêm một khái niệm bằng AND, hay một từ đồng nghĩa bằng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Sau tiêu đề và tóm tắt, đọc phần nào tiếp theo trong bài báo?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Một tóm tắt viết 'có xu hướng giảm tử vong (p = 0.42)'. Điều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câu hỏi nghiên cứu của chính bạn (Phần 1 đề cương, làm ở Buổi 1 và 2):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 (30 giây/câu)</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câu hỏi của bạn đã được đọc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Những từ sẽ dùng hôm nay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Phơi nhiễm: điều có trước</a:t>
            </a:r>
          </a:p>
          <a:p>
            <a:pPr marL="0" indent="0" algn="ctr">
              <a:lnSpc>
                <a:spcPct val="104000"/>
              </a:lnSpc>
              <a:spcBef>
                <a:spcPts val="400"/>
              </a:spcBef>
              <a:buNone/>
            </a:pPr>
            <a:r>
              <a:rPr lang="en-US" sz="1600" dirty="0">
                <a:solidFill>
                  <a:srgbClr val="000000"/>
                </a:solidFill>
                <a:latin typeface="Arial"/>
                <a:cs typeface="Arial"/>
              </a:rPr>
              <a:t>Kết cục: điều đếm sau đó</a:t>
            </a:r>
          </a:p>
          <a:p>
            <a:pPr marL="0" indent="0" algn="ctr">
              <a:lnSpc>
                <a:spcPct val="104000"/>
              </a:lnSpc>
              <a:spcBef>
                <a:spcPts val="400"/>
              </a:spcBef>
              <a:buNone/>
            </a:pPr>
            <a:r>
              <a:rPr lang="en-US" sz="1600" dirty="0">
                <a:solidFill>
                  <a:srgbClr val="000000"/>
                </a:solidFill>
                <a:latin typeface="Arial"/>
                <a:cs typeface="Arial"/>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 sát: chỉ theo dõi</a:t>
            </a:r>
          </a:p>
          <a:p>
            <a:pPr marL="0" indent="0" algn="ctr">
              <a:lnSpc>
                <a:spcPct val="104000"/>
              </a:lnSpc>
              <a:spcBef>
                <a:spcPts val="400"/>
              </a:spcBef>
              <a:buNone/>
            </a:pPr>
            <a:r>
              <a:rPr lang="en-US" sz="1600" dirty="0">
                <a:solidFill>
                  <a:srgbClr val="000000"/>
                </a:solidFill>
                <a:latin typeface="Arial"/>
                <a:cs typeface="Arial"/>
              </a:rPr>
              <a:t>Thực nghiệm: nhà nghiên cứu chỉ định</a:t>
            </a:r>
          </a:p>
          <a:p>
            <a:pPr marL="0" indent="0" algn="ctr">
              <a:lnSpc>
                <a:spcPct val="104000"/>
              </a:lnSpc>
              <a:spcBef>
                <a:spcPts val="400"/>
              </a:spcBef>
              <a:buNone/>
            </a:pPr>
            <a:r>
              <a:rPr lang="en-US" sz="1600" dirty="0">
                <a:solidFill>
                  <a:srgbClr val="000000"/>
                </a:solidFill>
                <a:latin typeface="Arial"/>
                <a:cs typeface="Arial"/>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Theo chiều thời gian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Cắt ngang: đo tại một thời điểm</a:t>
            </a:r>
          </a:p>
          <a:p>
            <a:pPr marL="0" indent="0" algn="ctr">
              <a:lnSpc>
                <a:spcPct val="104000"/>
              </a:lnSpc>
              <a:spcBef>
                <a:spcPts val="400"/>
              </a:spcBef>
              <a:buNone/>
            </a:pPr>
            <a:r>
              <a:rPr lang="en-US" sz="1600" dirty="0">
                <a:solidFill>
                  <a:srgbClr val="000000"/>
                </a:solidFill>
                <a:latin typeface="Arial"/>
                <a:cs typeface="Arial"/>
              </a:rPr>
              <a:t>Bệnh–chứng: nhìn ngược lại</a:t>
            </a:r>
          </a:p>
          <a:p>
            <a:pPr marL="0" indent="0" algn="ctr">
              <a:lnSpc>
                <a:spcPct val="104000"/>
              </a:lnSpc>
              <a:spcBef>
                <a:spcPts val="400"/>
              </a:spcBef>
              <a:buNone/>
            </a:pPr>
            <a:r>
              <a:rPr lang="en-US" sz="1600" dirty="0">
                <a:solidFill>
                  <a:srgbClr val="000000"/>
                </a:solidFill>
                <a:latin typeface="Arial"/>
                <a:cs typeface="Arial"/>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Thử nghiệm theo cụm, bắt chéo</a:t>
            </a:r>
          </a:p>
          <a:p>
            <a:pPr marL="0" indent="0" algn="ctr">
              <a:lnSpc>
                <a:spcPct val="104000"/>
              </a:lnSpc>
              <a:spcBef>
                <a:spcPts val="400"/>
              </a:spcBef>
              <a:buNone/>
            </a:pPr>
            <a:r>
              <a:rPr lang="en-US" sz="1600" dirty="0">
                <a:solidFill>
                  <a:srgbClr val="000000"/>
                </a:solidFill>
                <a:latin typeface="Arial"/>
                <a:cs typeface="Arial"/>
              </a:rPr>
              <a:t>Thử nghiệm không kém hơn, thí điểm</a:t>
            </a:r>
          </a:p>
          <a:p>
            <a:pPr marL="0" indent="0" algn="ctr">
              <a:lnSpc>
                <a:spcPct val="104000"/>
              </a:lnSpc>
              <a:spcBef>
                <a:spcPts val="400"/>
              </a:spcBef>
              <a:buNone/>
            </a:pPr>
            <a:r>
              <a:rPr lang="en-US" sz="1600" dirty="0">
                <a:solidFill>
                  <a:srgbClr val="000000"/>
                </a:solidFill>
                <a:latin typeface="Arial"/>
                <a:cs typeface="Arial"/>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Hai câu hỏi gọi tên hầu hết thiết kế: ai quyết định phơi nhiễm, và theo chiều thời gian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hạn chế dịch truyền có giảm tử vong ngày 28 không? Cả hai bài: thư mục khóa học, Course/Papers</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ngẫu nhiên</a:t>
            </a:r>
          </a:p>
        </p:txBody>
      </p:sp>
      <p:sp>
        <p:nvSpPr>
          <p:cNvPr id="71" name="CardBody"/>
          <p:cNvSpPr/>
          <p:nvPr/>
        </p:nvSpPr>
        <p:spPr>
          <a:xfrm>
            <a:off x="4572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người bệnh được phân nhóm ngẫu nhiên, 48 được phân tích</a:t>
            </a:r>
          </a:p>
          <a:p>
            <a:pPr marL="0" indent="0" algn="ctr">
              <a:lnSpc>
                <a:spcPct val="104000"/>
              </a:lnSpc>
              <a:spcBef>
                <a:spcPts val="400"/>
              </a:spcBef>
              <a:buNone/>
            </a:pPr>
            <a:r>
              <a:rPr lang="en-US" sz="1750" dirty="0">
                <a:solidFill>
                  <a:srgbClr val="000000"/>
                </a:solidFill>
                <a:latin typeface="Arial"/>
                <a:cs typeface="Arial"/>
              </a:rPr>
              <a:t>Hạn chế dịch (không phải dịch hồi sức) so với thường quy</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a:p>
            <a:pPr marL="0" indent="0" algn="ctr">
              <a:lnSpc>
                <a:spcPct val="104000"/>
              </a:lnSpc>
              <a:spcBef>
                <a:spcPts val="400"/>
              </a:spcBef>
              <a:buNone/>
            </a:pPr>
            <a:r>
              <a:rPr lang="en-US" sz="1750" b="1" dirty="0">
                <a:solidFill>
                  <a:srgbClr val="000000"/>
                </a:solidFill>
                <a:latin typeface="Arial"/>
                <a:cs typeface="Arial"/>
              </a:rPr>
              <a:t>Nhà nghiên cứu chỉ định chiến lược</a:t>
            </a:r>
          </a:p>
        </p:txBody>
      </p:sp>
      <p:sp>
        <p:nvSpPr>
          <p:cNvPr id="72" name="CardHead"/>
          <p:cNvSpPr/>
          <p:nvPr/>
        </p:nvSpPr>
        <p:spPr>
          <a:xfrm>
            <a:off x="6196000" y="200687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nghiên cứu thuần tập</a:t>
            </a:r>
          </a:p>
        </p:txBody>
      </p:sp>
      <p:sp>
        <p:nvSpPr>
          <p:cNvPr id="73" name="CardBody"/>
          <p:cNvSpPr/>
          <p:nvPr/>
        </p:nvSpPr>
        <p:spPr>
          <a:xfrm>
            <a:off x="61960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Sổ bộ nhiễm khuẩn huyết: 11981 người bệnh, 20 bệnh viện</a:t>
            </a:r>
          </a:p>
          <a:p>
            <a:pPr marL="0" indent="0" algn="ctr">
              <a:lnSpc>
                <a:spcPct val="104000"/>
              </a:lnSpc>
              <a:spcBef>
                <a:spcPts val="400"/>
              </a:spcBef>
              <a:buNone/>
            </a:pPr>
            <a:r>
              <a:rPr lang="en-US" sz="1750" dirty="0">
                <a:solidFill>
                  <a:srgbClr val="000000"/>
                </a:solidFill>
                <a:latin typeface="Arial"/>
                <a:cs typeface="Arial"/>
              </a:rPr>
              <a:t>Cân bằng dịch dương so với âm, ngày 1-3</a:t>
            </a:r>
          </a:p>
          <a:p>
            <a:pPr marL="0" indent="0" algn="ctr">
              <a:lnSpc>
                <a:spcPct val="104000"/>
              </a:lnSpc>
              <a:spcBef>
                <a:spcPts val="400"/>
              </a:spcBef>
              <a:buNone/>
            </a:pPr>
            <a:r>
              <a:rPr lang="en-US" sz="1750" dirty="0">
                <a:solidFill>
                  <a:srgbClr val="000000"/>
                </a:solidFill>
                <a:latin typeface="Arial"/>
                <a:cs typeface="Arial"/>
              </a:rPr>
              <a:t>Kết cục: tử vong ngày 28 (các cặp đã ghép)</a:t>
            </a:r>
          </a:p>
          <a:p>
            <a:pPr marL="0" indent="0" algn="ctr">
              <a:lnSpc>
                <a:spcPct val="104000"/>
              </a:lnSpc>
              <a:spcBef>
                <a:spcPts val="400"/>
              </a:spcBef>
              <a:buNone/>
            </a:pPr>
            <a:r>
              <a:rPr lang="en-US" sz="1750" b="1" dirty="0">
                <a:solidFill>
                  <a:srgbClr val="000000"/>
                </a:solidFill>
                <a:latin typeface="Arial"/>
                <a:cs typeface="Arial"/>
              </a:rPr>
              <a:t>Nhà nghiên cứu quan sát điều đã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Nhà nghiên cứu chỉ định phơi nhiễm, hay chỉ quan sát?</a:t>
            </a:r>
          </a:p>
          <a:p>
            <a:pPr marL="0" indent="0" algn="ctr">
              <a:spcBef>
                <a:spcPts val="1200"/>
              </a:spcBef>
              <a:buNone/>
            </a:pPr>
            <a:r>
              <a:rPr lang="en-US" sz="1900" i="1" dirty="0">
                <a:solidFill>
                  <a:srgbClr val="595959"/>
                </a:solidFill>
                <a:latin typeface="Arial"/>
                <a:cs typeface="Arial"/>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họ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không so sánh</a:t>
            </a:r>
          </a:p>
          <a:p>
            <a:pPr marL="0" indent="0" algn="ctr">
              <a:lnSpc>
                <a:spcPct val="104000"/>
              </a:lnSpc>
              <a:spcBef>
                <a:spcPts val="400"/>
              </a:spcBef>
              <a:buNone/>
            </a:pPr>
            <a:r>
              <a:rPr lang="en-US" sz="1600" dirty="0">
                <a:solidFill>
                  <a:srgbClr val="000000"/>
                </a:solidFill>
                <a:latin typeface="Arial"/>
                <a:cs typeface="Arial"/>
              </a:rPr>
              <a:t>Báo cáo ca hoặc loạt ca</a:t>
            </a:r>
          </a:p>
          <a:p>
            <a:pPr marL="0" indent="0" algn="ctr">
              <a:lnSpc>
                <a:spcPct val="104000"/>
              </a:lnSpc>
              <a:spcBef>
                <a:spcPts val="400"/>
              </a:spcBef>
              <a:buNone/>
            </a:pPr>
            <a:r>
              <a:rPr lang="en-US" sz="1600" dirty="0">
                <a:solidFill>
                  <a:srgbClr val="000000"/>
                </a:solidFill>
                <a:latin typeface="Arial"/>
                <a:cs typeface="Arial"/>
              </a:rPr>
              <a:t>Khảo sát cắt ngang</a:t>
            </a:r>
          </a:p>
        </p:txBody>
      </p:sp>
      <p:sp>
        <p:nvSpPr>
          <p:cNvPr id="72" name="CardHead"/>
          <p:cNvSpPr/>
          <p:nvPr/>
        </p:nvSpPr>
        <p:spPr>
          <a:xfrm>
            <a:off x="33266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Quan sát</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chỉ theo dõi</a:t>
            </a:r>
          </a:p>
          <a:p>
            <a:pPr marL="0" indent="0" algn="ctr">
              <a:lnSpc>
                <a:spcPct val="104000"/>
              </a:lnSpc>
              <a:spcBef>
                <a:spcPts val="400"/>
              </a:spcBef>
              <a:buNone/>
            </a:pPr>
            <a:r>
              <a:rPr lang="en-US" sz="1600" dirty="0">
                <a:solidFill>
                  <a:srgbClr val="000000"/>
                </a:solidFill>
                <a:latin typeface="Arial"/>
                <a:cs typeface="Arial"/>
              </a:rPr>
              <a:t>Bệnh–chứng</a:t>
            </a:r>
          </a:p>
          <a:p>
            <a:pPr marL="0" indent="0" algn="ctr">
              <a:lnSpc>
                <a:spcPct val="104000"/>
              </a:lnSpc>
              <a:spcBef>
                <a:spcPts val="400"/>
              </a:spcBef>
              <a:buNone/>
            </a:pPr>
            <a:r>
              <a:rPr lang="en-US" sz="1600" dirty="0">
                <a:solidFill>
                  <a:srgbClr val="000000"/>
                </a:solidFill>
                <a:latin typeface="Arial"/>
                <a:cs typeface="Arial"/>
              </a:rPr>
              <a:t>Thuần tập (tiến cứu hoặc hồi cứu)</a:t>
            </a:r>
          </a:p>
        </p:txBody>
      </p:sp>
      <p:sp>
        <p:nvSpPr>
          <p:cNvPr id="74" name="CardHead"/>
          <p:cNvSpPr/>
          <p:nvPr/>
        </p:nvSpPr>
        <p:spPr>
          <a:xfrm>
            <a:off x="61960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Thực nghiệm</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nhà nghiên cứu chỉ định</a:t>
            </a:r>
          </a:p>
          <a:p>
            <a:pPr marL="0" indent="0" algn="ctr">
              <a:lnSpc>
                <a:spcPct val="104000"/>
              </a:lnSpc>
              <a:spcBef>
                <a:spcPts val="400"/>
              </a:spcBef>
              <a:buNone/>
            </a:pPr>
            <a:r>
              <a:rPr lang="en-US" sz="1600" dirty="0">
                <a:solidFill>
                  <a:srgbClr val="000000"/>
                </a:solidFill>
                <a:latin typeface="Arial"/>
                <a:cs typeface="Arial"/>
              </a:rPr>
              <a:t>Thử nghiệm ngẫu nhiên có đối chứng (RCT)</a:t>
            </a:r>
          </a:p>
          <a:p>
            <a:pPr marL="0" indent="0" algn="ctr">
              <a:lnSpc>
                <a:spcPct val="104000"/>
              </a:lnSpc>
              <a:spcBef>
                <a:spcPts val="400"/>
              </a:spcBef>
              <a:buNone/>
            </a:pPr>
            <a:r>
              <a:rPr lang="en-US" sz="1600" dirty="0">
                <a:solidFill>
                  <a:srgbClr val="000000"/>
                </a:solidFill>
                <a:latin typeface="Arial"/>
                <a:cs typeface="Arial"/>
              </a:rPr>
              <a:t>Thử nghiệm không ngẫu nhiên</a:t>
            </a:r>
          </a:p>
        </p:txBody>
      </p:sp>
      <p:sp>
        <p:nvSpPr>
          <p:cNvPr id="76" name="CardHead"/>
          <p:cNvSpPr/>
          <p:nvPr/>
        </p:nvSpPr>
        <p:spPr>
          <a:xfrm>
            <a:off x="90654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Nghiên cứu về các nghiên cứu</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Tổng hợp nhiều nghiên cứu</a:t>
            </a:r>
          </a:p>
          <a:p>
            <a:pPr marL="0" indent="0" algn="ctr">
              <a:lnSpc>
                <a:spcPct val="104000"/>
              </a:lnSpc>
              <a:spcBef>
                <a:spcPts val="400"/>
              </a:spcBef>
              <a:buNone/>
            </a:pPr>
            <a:r>
              <a:rPr lang="en-US" sz="1600" dirty="0">
                <a:solidFill>
                  <a:srgbClr val="000000"/>
                </a:solidFill>
                <a:latin typeface="Arial"/>
                <a:cs typeface="Arial"/>
              </a:rPr>
              <a:t>Tổng quan hệ thống</a:t>
            </a:r>
          </a:p>
          <a:p>
            <a:pPr marL="0" indent="0" algn="ctr">
              <a:lnSpc>
                <a:spcPct val="104000"/>
              </a:lnSpc>
              <a:spcBef>
                <a:spcPts val="400"/>
              </a:spcBef>
              <a:buNone/>
            </a:pPr>
            <a:r>
              <a:rPr lang="en-US" sz="1600" dirty="0">
                <a:solidFill>
                  <a:srgbClr val="000000"/>
                </a:solidFill>
                <a:latin typeface="Arial"/>
                <a:cs typeface="Arial"/>
              </a:rPr>
              <a:t>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Thiết kế mô tả thì mô tả. Thiết kế phân tích (quan sát và thực nghiệm)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Ví dụ</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Phơi nhiễm (có trước)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Kết cục (đếm sau đó)</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Bài báo 2: Hyun 2023, 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đến ngày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ngày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Bài báo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Chiến lược hạn chế dịch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dịch ngày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Ví dụ khác: nhiễm khuẩn ở ICU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Nuôi ăn tĩnh mạch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Nhiễm nấm Candida máu</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Ví dụ khác: tại khoa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Đệm khí</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Loét do tì đè</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Phơi nhiễm: một điều trị, chiến lược hoặc yếu tố nguy cơ. Kết cục: tử vong, nhiễm khuẩn, tổn thương, một chỉ số xét nghiệm. Nhóm so sánh: người không có phơi nhiễm, hoặc được chăm sóc thường quy.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0828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ca hoặc loạt ca</a:t>
            </a:r>
          </a:p>
        </p:txBody>
      </p:sp>
      <p:sp>
        <p:nvSpPr>
          <p:cNvPr id="71" name="CardBody"/>
          <p:cNvSpPr/>
          <p:nvPr/>
        </p:nvSpPr>
        <p:spPr>
          <a:xfrm>
            <a:off x="4572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Vài người bệnh đặc biệt, mô tả chi tiết</a:t>
            </a:r>
          </a:p>
          <a:p>
            <a:pPr marL="0" indent="0" algn="ctr">
              <a:lnSpc>
                <a:spcPct val="104000"/>
              </a:lnSpc>
              <a:spcBef>
                <a:spcPts val="400"/>
              </a:spcBef>
              <a:buNone/>
            </a:pPr>
            <a:r>
              <a:rPr lang="en-US" sz="1750" dirty="0">
                <a:solidFill>
                  <a:srgbClr val="000000"/>
                </a:solidFill>
                <a:latin typeface="Arial"/>
                <a:cs typeface="Arial"/>
              </a:rPr>
              <a:t>Không có nhóm so sánh</a:t>
            </a:r>
          </a:p>
          <a:p>
            <a:pPr marL="0" indent="0" algn="ctr">
              <a:lnSpc>
                <a:spcPct val="104000"/>
              </a:lnSpc>
              <a:spcBef>
                <a:spcPts val="400"/>
              </a:spcBef>
              <a:buNone/>
            </a:pPr>
            <a:r>
              <a:rPr lang="en-US" sz="1750" dirty="0">
                <a:solidFill>
                  <a:srgbClr val="000000"/>
                </a:solidFill>
                <a:latin typeface="Arial"/>
                <a:cs typeface="Arial"/>
              </a:rPr>
              <a:t>Gợi ý tưởng nhưng không kiểm định được</a:t>
            </a:r>
          </a:p>
          <a:p>
            <a:pPr marL="0" indent="0" algn="ctr">
              <a:lnSpc>
                <a:spcPct val="104000"/>
              </a:lnSpc>
              <a:spcBef>
                <a:spcPts val="400"/>
              </a:spcBef>
              <a:buNone/>
            </a:pPr>
            <a:r>
              <a:rPr lang="en-US" sz="1750" dirty="0">
                <a:solidFill>
                  <a:srgbClr val="000000"/>
                </a:solidFill>
                <a:latin typeface="Arial"/>
                <a:cs typeface="Arial"/>
              </a:rPr>
              <a:t>vd. những báo cáo đầu tiên về tác hại của thalidomide</a:t>
            </a:r>
          </a:p>
        </p:txBody>
      </p:sp>
      <p:sp>
        <p:nvSpPr>
          <p:cNvPr id="72" name="CardHead"/>
          <p:cNvSpPr/>
          <p:nvPr/>
        </p:nvSpPr>
        <p:spPr>
          <a:xfrm>
            <a:off x="6196000" y="170828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cắt ngang</a:t>
            </a:r>
          </a:p>
        </p:txBody>
      </p:sp>
      <p:sp>
        <p:nvSpPr>
          <p:cNvPr id="73" name="CardBody"/>
          <p:cNvSpPr/>
          <p:nvPr/>
        </p:nvSpPr>
        <p:spPr>
          <a:xfrm>
            <a:off x="61960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Khảo sát cả khoa trong một ngày</a:t>
            </a:r>
          </a:p>
          <a:p>
            <a:pPr marL="0" indent="0" algn="ctr">
              <a:lnSpc>
                <a:spcPct val="104000"/>
              </a:lnSpc>
              <a:spcBef>
                <a:spcPts val="400"/>
              </a:spcBef>
              <a:buNone/>
            </a:pPr>
            <a:r>
              <a:rPr lang="en-US" sz="1750" dirty="0">
                <a:solidFill>
                  <a:srgbClr val="000000"/>
                </a:solidFill>
                <a:latin typeface="Arial"/>
                <a:cs typeface="Arial"/>
              </a:rPr>
              <a:t>Cho tỷ lệ hiện mắc: bao nhiêu người đang mắc</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Không cho biết cái nào có trước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người bệnh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Loét tì đè (có hoặc không) và loại đệm, trong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vd. 37/412 người bệnh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tại một thời điểm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Bệnh–chứng: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đơn vị hồi sức tích cực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một nghiên cứu bệnh–chứng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người bệnh ICU nhiễm Candida máu, từ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người bệnh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nuôi ăn tĩnh mạch trong 14 ngày trước đó?</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phơi nhiễm: 24/40 ca bệnh so với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tỷ số chênh (OR), sẽ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phơi nhiễm trước, kết cục sau, nên trình tự thời gian đúng.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2 (Hyun 2023),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Đọc như ở Buổi 2. Câu hỏi: cân bằng dịch dương có liên quan với tử vong ngày 28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lớn nhiễm khuẩn huyết ở 20 bệnh viện, nằm ICU từ 3 ngày trở lên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tích lũy ngày 1-3 ở ICU: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Các cặp đã ghép. Ngày 2: tử vong gấp khoảng 2 lần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RCT (thử nghiệm ngẫu nhiên có đối chứng): phân nhóm ngẫu nhiên, rồi theo dõi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bằng máy tính trung tâm, tỷ lệ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1 (Boulet 2024),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hạn chế dịch không phải hồi sức có giảm cân bằng dịch ngày 5 không?</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Tiêu chuẩn</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Sốc nhiễm khuẩn, 18-85 tuổi, bắt đầu vận mạch chưa đến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Đồng ý</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bệnh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Điều trị</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Hạn chế dịch so với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Đo</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Tổng quan hệ thống và phân tích gộp: nghiên cứu về các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Đọc một cách thận trọng</a:t>
            </a:r>
          </a:p>
          <a:p>
            <a:pPr marL="274320" indent="-274320" algn="l">
              <a:spcBef>
                <a:spcPts val="440"/>
              </a:spcBef>
              <a:buFont typeface="Arial"/>
              <a:buChar char="•"/>
            </a:pPr>
            <a:r>
              <a:rPr lang="en-US" sz="1450" dirty="0">
                <a:solidFill>
                  <a:srgbClr val="000000"/>
                </a:solidFill>
                <a:latin typeface="Arial"/>
                <a:cs typeface="Arial"/>
              </a:rPr>
              <a:t>TQHT / PTG: tổng quan hệ thống và phân tích gộp</a:t>
            </a:r>
          </a:p>
          <a:p>
            <a:pPr marL="274320" indent="-274320" algn="l">
              <a:spcBef>
                <a:spcPts val="440"/>
              </a:spcBef>
              <a:buFont typeface="Arial"/>
              <a:buChar char="•"/>
            </a:pPr>
            <a:r>
              <a:rPr lang="en-US" sz="1450" dirty="0">
                <a:solidFill>
                  <a:srgbClr val="000000"/>
                </a:solidFill>
                <a:latin typeface="Arial"/>
                <a:cs typeface="Arial"/>
              </a:rPr>
              <a:t>Càng cao = trung bình càng ít sai lệch</a:t>
            </a:r>
          </a:p>
          <a:p>
            <a:pPr marL="274320" indent="-274320" algn="l">
              <a:spcBef>
                <a:spcPts val="440"/>
              </a:spcBef>
              <a:buFont typeface="Arial"/>
              <a:buChar char="•"/>
            </a:pPr>
            <a:r>
              <a:rPr lang="en-US" sz="1450" dirty="0">
                <a:solidFill>
                  <a:srgbClr val="000000"/>
                </a:solidFill>
                <a:latin typeface="Arial"/>
                <a:cs typeface="Arial"/>
              </a:rPr>
              <a:t>Quy tắc kinh nghiệm, không phải định luật</a:t>
            </a:r>
          </a:p>
          <a:p>
            <a:pPr marL="274320" indent="-274320" algn="l">
              <a:spcBef>
                <a:spcPts val="440"/>
              </a:spcBef>
              <a:buFont typeface="Arial"/>
              <a:buChar char="•"/>
            </a:pPr>
            <a:r>
              <a:rPr lang="en-US" sz="1450" dirty="0">
                <a:solidFill>
                  <a:srgbClr val="000000"/>
                </a:solidFill>
                <a:latin typeface="Arial"/>
                <a:cs typeface="Arial"/>
              </a:rPr>
              <a:t>Thuần tập tốt có thể hơn RCT kém</a:t>
            </a:r>
          </a:p>
          <a:p>
            <a:pPr marL="274320" indent="-274320" algn="l">
              <a:spcBef>
                <a:spcPts val="440"/>
              </a:spcBef>
              <a:buFont typeface="Arial"/>
              <a:buChar char="•"/>
            </a:pPr>
            <a:r>
              <a:rPr lang="en-US" sz="1450" dirty="0">
                <a:solidFill>
                  <a:srgbClr val="000000"/>
                </a:solidFill>
                <a:latin typeface="Arial"/>
                <a:cs typeface="Arial"/>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Có chỉ định? Có ngẫu nhiên? Theo chiều thời gian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nào cũng có đánh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Tóm tắt điểm mạnh và điểm yếu</a:t>
            </a:r>
          </a:p>
        </p:txBody>
      </p:sp>
      <p:sp>
        <p:nvSpPr>
          <p:cNvPr id="70" name="CardHead"/>
          <p:cNvSpPr/>
          <p:nvPr/>
        </p:nvSpPr>
        <p:spPr>
          <a:xfrm>
            <a:off x="457200" y="1787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ngang</a:t>
            </a:r>
          </a:p>
        </p:txBody>
      </p:sp>
      <p:sp>
        <p:nvSpPr>
          <p:cNvPr id="71" name="CardBody"/>
          <p:cNvSpPr/>
          <p:nvPr/>
        </p:nvSpPr>
        <p:spPr>
          <a:xfrm>
            <a:off x="4572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nhanh, rẻ</a:t>
            </a:r>
          </a:p>
          <a:p>
            <a:pPr marL="0" indent="0" algn="ctr">
              <a:lnSpc>
                <a:spcPct val="104000"/>
              </a:lnSpc>
              <a:spcBef>
                <a:spcPts val="400"/>
              </a:spcBef>
              <a:buNone/>
            </a:pPr>
            <a:r>
              <a:rPr lang="en-US" sz="1600" dirty="0">
                <a:solidFill>
                  <a:srgbClr val="2E8B57"/>
                </a:solidFill>
                <a:latin typeface="Arial"/>
                <a:cs typeface="Arial"/>
              </a:rPr>
              <a:t>+ cho tỷ lệ hiện mắc</a:t>
            </a:r>
          </a:p>
          <a:p>
            <a:pPr marL="0" indent="0" algn="ctr">
              <a:lnSpc>
                <a:spcPct val="104000"/>
              </a:lnSpc>
              <a:spcBef>
                <a:spcPts val="400"/>
              </a:spcBef>
              <a:buNone/>
            </a:pPr>
            <a:r>
              <a:rPr lang="en-US" sz="1600" dirty="0">
                <a:solidFill>
                  <a:srgbClr val="B23B2E"/>
                </a:solidFill>
                <a:latin typeface="Arial"/>
                <a:cs typeface="Arial"/>
              </a:rPr>
              <a:t>- cái nào có trước?</a:t>
            </a:r>
          </a:p>
        </p:txBody>
      </p:sp>
      <p:sp>
        <p:nvSpPr>
          <p:cNvPr id="72" name="CardHead"/>
          <p:cNvSpPr/>
          <p:nvPr/>
        </p:nvSpPr>
        <p:spPr>
          <a:xfrm>
            <a:off x="3326600" y="1787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Bệnh–chứng</a:t>
            </a:r>
          </a:p>
        </p:txBody>
      </p:sp>
      <p:sp>
        <p:nvSpPr>
          <p:cNvPr id="73" name="CardBody"/>
          <p:cNvSpPr/>
          <p:nvPr/>
        </p:nvSpPr>
        <p:spPr>
          <a:xfrm>
            <a:off x="33266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kết cục hiếm</a:t>
            </a:r>
          </a:p>
          <a:p>
            <a:pPr marL="0" indent="0" algn="ctr">
              <a:lnSpc>
                <a:spcPct val="104000"/>
              </a:lnSpc>
              <a:spcBef>
                <a:spcPts val="400"/>
              </a:spcBef>
              <a:buNone/>
            </a:pPr>
            <a:r>
              <a:rPr lang="en-US" sz="1600" dirty="0">
                <a:solidFill>
                  <a:srgbClr val="2E8B57"/>
                </a:solidFill>
                <a:latin typeface="Arial"/>
                <a:cs typeface="Arial"/>
              </a:rPr>
              <a:t>+ ít người bệnh, nhanh</a:t>
            </a:r>
          </a:p>
          <a:p>
            <a:pPr marL="0" indent="0" algn="ctr">
              <a:lnSpc>
                <a:spcPct val="104000"/>
              </a:lnSpc>
              <a:spcBef>
                <a:spcPts val="400"/>
              </a:spcBef>
              <a:buNone/>
            </a:pPr>
            <a:r>
              <a:rPr lang="en-US" sz="1600" dirty="0">
                <a:solidFill>
                  <a:srgbClr val="B23B2E"/>
                </a:solidFill>
                <a:latin typeface="Arial"/>
                <a:cs typeface="Arial"/>
              </a:rPr>
              <a:t>- sai lệch nhớ lại</a:t>
            </a:r>
          </a:p>
          <a:p>
            <a:pPr marL="0" indent="0" algn="ctr">
              <a:lnSpc>
                <a:spcPct val="104000"/>
              </a:lnSpc>
              <a:spcBef>
                <a:spcPts val="400"/>
              </a:spcBef>
              <a:buNone/>
            </a:pPr>
            <a:r>
              <a:rPr lang="en-US" sz="1600" dirty="0">
                <a:solidFill>
                  <a:srgbClr val="B23B2E"/>
                </a:solidFill>
                <a:latin typeface="Arial"/>
                <a:cs typeface="Arial"/>
              </a:rPr>
              <a:t>- chỉ có tỷ số chênh</a:t>
            </a:r>
          </a:p>
        </p:txBody>
      </p:sp>
      <p:sp>
        <p:nvSpPr>
          <p:cNvPr id="74" name="CardHead"/>
          <p:cNvSpPr/>
          <p:nvPr/>
        </p:nvSpPr>
        <p:spPr>
          <a:xfrm>
            <a:off x="6196000" y="1787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Thuần tập</a:t>
            </a:r>
          </a:p>
        </p:txBody>
      </p:sp>
      <p:sp>
        <p:nvSpPr>
          <p:cNvPr id="75" name="CardBody"/>
          <p:cNvSpPr/>
          <p:nvPr/>
        </p:nvSpPr>
        <p:spPr>
          <a:xfrm>
            <a:off x="61960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trình tự thời gian rõ</a:t>
            </a:r>
          </a:p>
          <a:p>
            <a:pPr marL="0" indent="0" algn="ctr">
              <a:lnSpc>
                <a:spcPct val="104000"/>
              </a:lnSpc>
              <a:spcBef>
                <a:spcPts val="400"/>
              </a:spcBef>
              <a:buNone/>
            </a:pPr>
            <a:r>
              <a:rPr lang="en-US" sz="1600" dirty="0">
                <a:solidFill>
                  <a:srgbClr val="2E8B57"/>
                </a:solidFill>
                <a:latin typeface="Arial"/>
                <a:cs typeface="Arial"/>
              </a:rPr>
              <a:t>+ nguy cơ, nhiều kết cục</a:t>
            </a:r>
          </a:p>
          <a:p>
            <a:pPr marL="0" indent="0" algn="ctr">
              <a:lnSpc>
                <a:spcPct val="104000"/>
              </a:lnSpc>
              <a:spcBef>
                <a:spcPts val="400"/>
              </a:spcBef>
              <a:buNone/>
            </a:pPr>
            <a:r>
              <a:rPr lang="en-US" sz="1600" dirty="0">
                <a:solidFill>
                  <a:srgbClr val="B23B2E"/>
                </a:solidFill>
                <a:latin typeface="Arial"/>
                <a:cs typeface="Arial"/>
              </a:rPr>
              <a:t>- chậm nếu tiến cứu</a:t>
            </a:r>
          </a:p>
          <a:p>
            <a:pPr marL="0" indent="0" algn="ctr">
              <a:lnSpc>
                <a:spcPct val="104000"/>
              </a:lnSpc>
              <a:spcBef>
                <a:spcPts val="400"/>
              </a:spcBef>
              <a:buNone/>
            </a:pPr>
            <a:r>
              <a:rPr lang="en-US" sz="1600" dirty="0">
                <a:solidFill>
                  <a:srgbClr val="B23B2E"/>
                </a:solidFill>
                <a:latin typeface="Arial"/>
                <a:cs typeface="Arial"/>
              </a:rPr>
              <a:t>- yếu tố nhiễu</a:t>
            </a:r>
          </a:p>
        </p:txBody>
      </p:sp>
      <p:sp>
        <p:nvSpPr>
          <p:cNvPr id="76" name="CardHead"/>
          <p:cNvSpPr/>
          <p:nvPr/>
        </p:nvSpPr>
        <p:spPr>
          <a:xfrm>
            <a:off x="9065400" y="1787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cân bằng cả yếu tố chưa biết</a:t>
            </a:r>
          </a:p>
          <a:p>
            <a:pPr marL="0" indent="0" algn="ctr">
              <a:lnSpc>
                <a:spcPct val="104000"/>
              </a:lnSpc>
              <a:spcBef>
                <a:spcPts val="400"/>
              </a:spcBef>
              <a:buNone/>
            </a:pPr>
            <a:r>
              <a:rPr lang="en-US" sz="1600" dirty="0">
                <a:solidFill>
                  <a:srgbClr val="2E8B57"/>
                </a:solidFill>
                <a:latin typeface="Arial"/>
                <a:cs typeface="Arial"/>
              </a:rPr>
              <a:t>+ mạnh nhất cho nhân quả</a:t>
            </a:r>
          </a:p>
          <a:p>
            <a:pPr marL="0" indent="0" algn="ctr">
              <a:lnSpc>
                <a:spcPct val="104000"/>
              </a:lnSpc>
              <a:spcBef>
                <a:spcPts val="400"/>
              </a:spcBef>
              <a:buNone/>
            </a:pPr>
            <a:r>
              <a:rPr lang="en-US" sz="1600" dirty="0">
                <a:solidFill>
                  <a:srgbClr val="B23B2E"/>
                </a:solidFill>
                <a:latin typeface="Arial"/>
                <a:cs typeface="Arial"/>
              </a:rPr>
              <a:t>- tốn kém, giới hạn đạo đức</a:t>
            </a:r>
          </a:p>
          <a:p>
            <a:pPr marL="0" indent="0" algn="ctr">
              <a:lnSpc>
                <a:spcPct val="104000"/>
              </a:lnSpc>
              <a:spcBef>
                <a:spcPts val="400"/>
              </a:spcBef>
              <a:buNone/>
            </a:pPr>
            <a:r>
              <a:rPr lang="en-US" sz="1600" dirty="0">
                <a:solidFill>
                  <a:srgbClr val="B23B2E"/>
                </a:solidFill>
                <a:latin typeface="Arial"/>
                <a:cs typeface="Arial"/>
              </a:rPr>
              <a:t>- người bệnh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30400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Bài báo 1, Boulet 2024 (48 người bệnh)</a:t>
            </a:r>
          </a:p>
        </p:txBody>
      </p:sp>
      <p:sp>
        <p:nvSpPr>
          <p:cNvPr id="71" name="CardBody"/>
          <p:cNvSpPr/>
          <p:nvPr/>
        </p:nvSpPr>
        <p:spPr>
          <a:xfrm>
            <a:off x="4572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Hai nhóm giống nhau từ đầu (nhờ ngẫu nhiên)</a:t>
            </a:r>
          </a:p>
          <a:p>
            <a:pPr marL="0" indent="0" algn="ctr">
              <a:lnSpc>
                <a:spcPct val="104000"/>
              </a:lnSpc>
              <a:spcBef>
                <a:spcPts val="400"/>
              </a:spcBef>
              <a:buNone/>
            </a:pPr>
            <a:r>
              <a:rPr lang="en-US" sz="1750" dirty="0">
                <a:solidFill>
                  <a:srgbClr val="000000"/>
                </a:solidFill>
                <a:latin typeface="Arial"/>
                <a:cs typeface="Arial"/>
              </a:rPr>
              <a:t>Khác biệt có thể quy cho chiến lược</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Quá nhỏ để nói về tử vong (6 so với 6 ca)</a:t>
            </a:r>
          </a:p>
          <a:p>
            <a:pPr marL="0" indent="0" algn="ctr">
              <a:lnSpc>
                <a:spcPct val="104000"/>
              </a:lnSpc>
              <a:spcBef>
                <a:spcPts val="400"/>
              </a:spcBef>
              <a:buNone/>
            </a:pPr>
            <a:r>
              <a:rPr lang="en-US" sz="1750" dirty="0">
                <a:solidFill>
                  <a:srgbClr val="000000"/>
                </a:solidFill>
                <a:latin typeface="Arial"/>
                <a:cs typeface="Arial"/>
              </a:rPr>
              <a:t>Bác sĩ biết nhóm (mù đơn)</a:t>
            </a:r>
          </a:p>
        </p:txBody>
      </p:sp>
      <p:sp>
        <p:nvSpPr>
          <p:cNvPr id="72" name="CardHead"/>
          <p:cNvSpPr/>
          <p:nvPr/>
        </p:nvSpPr>
        <p:spPr>
          <a:xfrm>
            <a:off x="6196000" y="130400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Thuần tập: Bài báo 2, Hyun 2023 (hàng nghìn người bệnh)</a:t>
            </a:r>
          </a:p>
        </p:txBody>
      </p:sp>
      <p:sp>
        <p:nvSpPr>
          <p:cNvPr id="73" name="CardBody"/>
          <p:cNvSpPr/>
          <p:nvPr/>
        </p:nvSpPr>
        <p:spPr>
          <a:xfrm>
            <a:off x="6196000" y="1944003"/>
            <a:ext cx="5538800" cy="313799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Cỡ mẫu lớn, người bệnh thực tế, tử vong ngày 28</a:t>
            </a:r>
          </a:p>
          <a:p>
            <a:pPr marL="0" indent="0" algn="ctr">
              <a:lnSpc>
                <a:spcPct val="104000"/>
              </a:lnSpc>
              <a:spcBef>
                <a:spcPts val="400"/>
              </a:spcBef>
              <a:buNone/>
            </a:pPr>
            <a:r>
              <a:rPr lang="en-US" sz="1750" dirty="0">
                <a:solidFill>
                  <a:srgbClr val="000000"/>
                </a:solidFill>
                <a:latin typeface="Arial"/>
                <a:cs typeface="Arial"/>
              </a:rPr>
              <a:t>'Có liên quan' (ngày 2: tử vong gấp khoảng 2 lần)</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Không chứng minh được dịch gây tử vong</a:t>
            </a:r>
          </a:p>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 (nhiễu)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Bài báo 1, Boulet (RCT): 'Chiến lược hạn chế không làm giảm cân bằng dịch ngày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Bài báo 2, Hyun (thuần tập): 'Cân bằng dịch dương gây ra tử vong ngày 28 cao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Khảo sát một ngày ở ICU: 'Cân bằng dịch dương hôm nay có liên quan với tổn thương thận hôm nay'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Với mỗi câu</a:t>
            </a:r>
          </a:p>
          <a:p>
            <a:pPr marL="0" indent="0" algn="ctr">
              <a:lnSpc>
                <a:spcPct val="104000"/>
              </a:lnSpc>
              <a:spcBef>
                <a:spcPts val="300"/>
              </a:spcBef>
              <a:buNone/>
            </a:pPr>
            <a:r>
              <a:rPr lang="en-US" sz="1500" dirty="0">
                <a:solidFill>
                  <a:srgbClr val="000000"/>
                </a:solidFill>
                <a:latin typeface="Arial"/>
                <a:cs typeface="Arial"/>
              </a:rPr>
              <a:t>Lời lẽ có hợp với thiết kế không?</a:t>
            </a:r>
          </a:p>
          <a:p>
            <a:pPr marL="0" indent="0" algn="ctr">
              <a:lnSpc>
                <a:spcPct val="104000"/>
              </a:lnSpc>
              <a:spcBef>
                <a:spcPts val="300"/>
              </a:spcBef>
              <a:buNone/>
            </a:pPr>
            <a:r>
              <a:rPr lang="en-US" sz="1500" dirty="0">
                <a:solidFill>
                  <a:srgbClr val="000000"/>
                </a:solidFill>
                <a:latin typeface="Arial"/>
                <a:cs typeface="Arial"/>
              </a:rPr>
              <a:t>Bình chọn: đúng hay sai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phiếu bình chọn (đúng hay sai)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Sáu tóm tắt ngắn về câu hỏi dịch truyền: phiếu bài tập Buổi 3 (file PDF gửi trước buổi học), Phần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tóm tắt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thiết kế</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cụm từ làm bằng chứng, bật micro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Dùng ba câu hỏi: có chỉ định? có ngẫu nhiên? theo chiều thời gian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 cây quyết định</a:t>
            </a:r>
          </a:p>
          <a:p>
            <a:pPr marL="0" indent="0" algn="ctr">
              <a:lnSpc>
                <a:spcPct val="104000"/>
              </a:lnSpc>
              <a:spcBef>
                <a:spcPts val="300"/>
              </a:spcBef>
              <a:buNone/>
            </a:pPr>
            <a:r>
              <a:rPr lang="en-US" sz="1500" dirty="0">
                <a:solidFill>
                  <a:srgbClr val="000000"/>
                </a:solidFill>
                <a:latin typeface="Arial"/>
                <a:cs typeface="Arial"/>
              </a:rPr>
              <a:t>Có chỉ định và ngẫu nhiên: RCT</a:t>
            </a:r>
          </a:p>
          <a:p>
            <a:pPr marL="0" indent="0" algn="ctr">
              <a:lnSpc>
                <a:spcPct val="104000"/>
              </a:lnSpc>
              <a:spcBef>
                <a:spcPts val="300"/>
              </a:spcBef>
              <a:buNone/>
            </a:pPr>
            <a:r>
              <a:rPr lang="en-US" sz="1500" dirty="0">
                <a:solidFill>
                  <a:srgbClr val="000000"/>
                </a:solidFill>
                <a:latin typeface="Arial"/>
                <a:cs typeface="Arial"/>
              </a:rPr>
              <a:t>Kết cục trước, nhìn lại: bệnh–chứng</a:t>
            </a:r>
          </a:p>
          <a:p>
            <a:pPr marL="0" indent="0" algn="ctr">
              <a:lnSpc>
                <a:spcPct val="104000"/>
              </a:lnSpc>
              <a:spcBef>
                <a:spcPts val="300"/>
              </a:spcBef>
              <a:buNone/>
            </a:pPr>
            <a:r>
              <a:rPr lang="en-US" sz="1500" dirty="0">
                <a:solidFill>
                  <a:srgbClr val="000000"/>
                </a:solidFill>
                <a:latin typeface="Arial"/>
                <a:cs typeface="Arial"/>
              </a:rPr>
              <a:t>Phơi nhiễm trước, theo dõi về sau: thuần tập</a:t>
            </a:r>
          </a:p>
          <a:p>
            <a:pPr marL="0" indent="0" algn="ctr">
              <a:lnSpc>
                <a:spcPct val="104000"/>
              </a:lnSpc>
              <a:spcBef>
                <a:spcPts val="300"/>
              </a:spcBef>
              <a:buNone/>
            </a:pPr>
            <a:r>
              <a:rPr lang="en-US" sz="1500" dirty="0">
                <a:solidFill>
                  <a:srgbClr val="000000"/>
                </a:solidFill>
                <a:latin typeface="Arial"/>
                <a:cs typeface="Arial"/>
              </a:rPr>
              <a:t>Cùng thời điểm: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gọi tên sáu thiết kế, mỗi thiết kế có một cụm từ làm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Dự án thực tế thường biến đổi các thiết kế cơ bản.</a:t>
            </a:r>
          </a:p>
          <a:p>
            <a:pPr marL="0" indent="0" algn="ctr">
              <a:spcBef>
                <a:spcPts val="1200"/>
              </a:spcBef>
              <a:buNone/>
            </a:pPr>
            <a:r>
              <a:rPr lang="en-US" sz="1900" i="1" dirty="0">
                <a:solidFill>
                  <a:srgbClr val="595959"/>
                </a:solidFill>
                <a:latin typeface="Arial"/>
                <a:cs typeface="Arial"/>
              </a:rPr>
              <a:t>Biến thể thử nghiệm, không kém hơn, thí điểm, thiết kế cải tiến chất lượng và nghiên cứu định tính.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A và B: hai điều trị</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Vượt trội hay không kém hơn (non-inferiority)? Đọc theo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KTC: khoảng tin cậy. Kết quả giả định.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Nghiên cứu thí điểm và khả thi: chạy thử trước thử nghiệm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thí điểm</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người bệnh được sàng lọc</a:t>
            </a:r>
          </a:p>
          <a:p>
            <a:pPr marL="0" indent="0" algn="ctr">
              <a:lnSpc>
                <a:spcPct val="104000"/>
              </a:lnSpc>
              <a:spcBef>
                <a:spcPts val="400"/>
              </a:spcBef>
              <a:buNone/>
            </a:pPr>
            <a:r>
              <a:rPr lang="en-US" sz="1750" dirty="0">
                <a:solidFill>
                  <a:srgbClr val="000000"/>
                </a:solidFill>
                <a:latin typeface="Arial"/>
                <a:cs typeface="Arial"/>
              </a:rPr>
              <a:t>50 được phân nhóm ngẫu nhiên (4%)</a:t>
            </a:r>
          </a:p>
          <a:p>
            <a:pPr marL="0" indent="0" algn="ctr">
              <a:lnSpc>
                <a:spcPct val="104000"/>
              </a:lnSpc>
              <a:spcBef>
                <a:spcPts val="400"/>
              </a:spcBef>
              <a:buNone/>
            </a:pPr>
            <a:r>
              <a:rPr lang="en-US" sz="1750" dirty="0">
                <a:solidFill>
                  <a:srgbClr val="000000"/>
                </a:solidFill>
                <a:latin typeface="Arial"/>
                <a:cs typeface="Arial"/>
              </a:rPr>
              <a:t>48 được phân tích (96%)</a:t>
            </a:r>
          </a:p>
          <a:p>
            <a:pPr marL="0" indent="0" algn="ctr">
              <a:lnSpc>
                <a:spcPct val="104000"/>
              </a:lnSpc>
              <a:spcBef>
                <a:spcPts val="400"/>
              </a:spcBef>
              <a:buNone/>
            </a:pPr>
            <a:r>
              <a:rPr lang="en-US" sz="1750" dirty="0">
                <a:solidFill>
                  <a:srgbClr val="000000"/>
                </a:solidFill>
                <a:latin typeface="Arial"/>
                <a:cs typeface="Arial"/>
              </a:rPr>
              <a:t>Khoảng 3 người bệnh mỗi tháng tại 3 ICU</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Thí điểm hỏi: có làm được thử nghiệm lớn không?</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tuyển đủ người bệnh không?</a:t>
            </a:r>
          </a:p>
          <a:p>
            <a:pPr marL="0" indent="0" algn="ctr">
              <a:lnSpc>
                <a:spcPct val="104000"/>
              </a:lnSpc>
              <a:spcBef>
                <a:spcPts val="400"/>
              </a:spcBef>
              <a:buNone/>
            </a:pPr>
            <a:r>
              <a:rPr lang="en-US" sz="1750" dirty="0">
                <a:solidFill>
                  <a:srgbClr val="000000"/>
                </a:solidFill>
                <a:latin typeface="Arial"/>
                <a:cs typeface="Arial"/>
              </a:rPr>
              <a:t>Người bệnh hoặc gia đình có đồng ý không?</a:t>
            </a:r>
          </a:p>
          <a:p>
            <a:pPr marL="0" indent="0" algn="ctr">
              <a:lnSpc>
                <a:spcPct val="104000"/>
              </a:lnSpc>
              <a:spcBef>
                <a:spcPts val="400"/>
              </a:spcBef>
              <a:buNone/>
            </a:pPr>
            <a:r>
              <a:rPr lang="en-US" sz="1750" dirty="0">
                <a:solidFill>
                  <a:srgbClr val="000000"/>
                </a:solidFill>
                <a:latin typeface="Arial"/>
                <a:cs typeface="Arial"/>
              </a:rPr>
              <a:t>Nhân viên có thực hiện được can thiệp không?</a:t>
            </a:r>
          </a:p>
          <a:p>
            <a:pPr marL="0" indent="0" algn="ctr">
              <a:lnSpc>
                <a:spcPct val="104000"/>
              </a:lnSpc>
              <a:spcBef>
                <a:spcPts val="400"/>
              </a:spcBef>
              <a:buNone/>
            </a:pPr>
            <a:r>
              <a:rPr lang="en-US" sz="1750" dirty="0">
                <a:solidFill>
                  <a:srgbClr val="000000"/>
                </a:solidFill>
                <a:latin typeface="Arial"/>
                <a:cs typeface="Arial"/>
              </a:rPr>
              <a:t>Kết cục có đo được và đầy đủ không?</a:t>
            </a:r>
          </a:p>
          <a:p>
            <a:pPr marL="0" indent="0" algn="ctr">
              <a:lnSpc>
                <a:spcPct val="104000"/>
              </a:lnSpc>
              <a:spcBef>
                <a:spcPts val="400"/>
              </a:spcBef>
              <a:buNone/>
            </a:pPr>
            <a:r>
              <a:rPr lang="en-US" sz="1750" dirty="0">
                <a:solidFill>
                  <a:srgbClr val="000000"/>
                </a:solidFill>
                <a:latin typeface="Arial"/>
                <a:cs typeface="Arial"/>
              </a:rPr>
              <a:t>Cần số liệu gì cho thử nghiệm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Dữ liệu mô phỏng dùng cho giảng dạy. ITS: chuỗi thời gian ngắt quãng. QI: cải tiến chất lượng.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Vì sao? Như thế nào? Cảm nhận ra sao? Lời nói, không phải con số, được phân tích theo chủ đề</a:t>
            </a:r>
          </a:p>
        </p:txBody>
      </p:sp>
      <p:sp>
        <p:nvSpPr>
          <p:cNvPr id="70" name="CardHead"/>
          <p:cNvSpPr/>
          <p:nvPr/>
        </p:nvSpPr>
        <p:spPr>
          <a:xfrm>
            <a:off x="457200"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Phỏng vấn sâu</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người, câu hỏi mở</a:t>
            </a:r>
          </a:p>
          <a:p>
            <a:pPr marL="0" indent="0" algn="ctr">
              <a:lnSpc>
                <a:spcPct val="104000"/>
              </a:lnSpc>
              <a:spcBef>
                <a:spcPts val="400"/>
              </a:spcBef>
              <a:buNone/>
            </a:pPr>
            <a:r>
              <a:rPr lang="en-US" sz="1750" dirty="0">
                <a:solidFill>
                  <a:srgbClr val="000000"/>
                </a:solidFill>
                <a:latin typeface="Arial"/>
                <a:cs typeface="Arial"/>
              </a:rPr>
              <a:t>Thường 30-60 phút</a:t>
            </a:r>
          </a:p>
          <a:p>
            <a:pPr marL="0" indent="0" algn="ctr">
              <a:lnSpc>
                <a:spcPct val="104000"/>
              </a:lnSpc>
              <a:spcBef>
                <a:spcPts val="400"/>
              </a:spcBef>
              <a:buNone/>
            </a:pPr>
            <a:r>
              <a:rPr lang="en-US" sz="1750" dirty="0">
                <a:solidFill>
                  <a:srgbClr val="000000"/>
                </a:solidFill>
                <a:latin typeface="Arial"/>
                <a:cs typeface="Arial"/>
              </a:rPr>
              <a:t>vd. vì sao lượng nước tiểu ban đêm không được ghi</a:t>
            </a:r>
          </a:p>
        </p:txBody>
      </p:sp>
      <p:sp>
        <p:nvSpPr>
          <p:cNvPr id="72" name="CardHead"/>
          <p:cNvSpPr/>
          <p:nvPr/>
        </p:nvSpPr>
        <p:spPr>
          <a:xfrm>
            <a:off x="4283066"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Thảo luận nhóm</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người cùng thảo luận</a:t>
            </a:r>
          </a:p>
          <a:p>
            <a:pPr marL="0" indent="0" algn="ctr">
              <a:lnSpc>
                <a:spcPct val="104000"/>
              </a:lnSpc>
              <a:spcBef>
                <a:spcPts val="400"/>
              </a:spcBef>
              <a:buNone/>
            </a:pPr>
            <a:r>
              <a:rPr lang="en-US" sz="1750" dirty="0">
                <a:solidFill>
                  <a:srgbClr val="000000"/>
                </a:solidFill>
                <a:latin typeface="Arial"/>
                <a:cs typeface="Arial"/>
              </a:rPr>
              <a:t>Ý kiến này gợi ý kiến khác</a:t>
            </a:r>
          </a:p>
          <a:p>
            <a:pPr marL="0" indent="0" algn="ctr">
              <a:lnSpc>
                <a:spcPct val="104000"/>
              </a:lnSpc>
              <a:spcBef>
                <a:spcPts val="400"/>
              </a:spcBef>
              <a:buNone/>
            </a:pPr>
            <a:r>
              <a:rPr lang="en-US" sz="1750" dirty="0">
                <a:solidFill>
                  <a:srgbClr val="000000"/>
                </a:solidFill>
                <a:latin typeface="Arial"/>
                <a:cs typeface="Arial"/>
              </a:rPr>
              <a:t>vd. gia đình trải qua việc đồng ý ở ICU ra sao</a:t>
            </a:r>
          </a:p>
        </p:txBody>
      </p:sp>
      <p:sp>
        <p:nvSpPr>
          <p:cNvPr id="74" name="CardHead"/>
          <p:cNvSpPr/>
          <p:nvPr/>
        </p:nvSpPr>
        <p:spPr>
          <a:xfrm>
            <a:off x="8108932"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Quan sát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Xem mọi người thực sự làm gì</a:t>
            </a:r>
          </a:p>
          <a:p>
            <a:pPr marL="0" indent="0" algn="ctr">
              <a:lnSpc>
                <a:spcPct val="104000"/>
              </a:lnSpc>
              <a:spcBef>
                <a:spcPts val="400"/>
              </a:spcBef>
              <a:buNone/>
            </a:pPr>
            <a:r>
              <a:rPr lang="en-US" sz="1750" dirty="0">
                <a:solidFill>
                  <a:srgbClr val="000000"/>
                </a:solidFill>
                <a:latin typeface="Arial"/>
                <a:cs typeface="Arial"/>
              </a:rPr>
              <a:t>Có thể khác với điều họ nói</a:t>
            </a:r>
          </a:p>
          <a:p>
            <a:pPr marL="0" indent="0" algn="ctr">
              <a:lnSpc>
                <a:spcPct val="104000"/>
              </a:lnSpc>
              <a:spcBef>
                <a:spcPts val="400"/>
              </a:spcBef>
              <a:buNone/>
            </a:pPr>
            <a:r>
              <a:rPr lang="en-US" sz="1750" dirty="0">
                <a:solidFill>
                  <a:srgbClr val="000000"/>
                </a:solidFill>
                <a:latin typeface="Arial"/>
                <a:cs typeface="Arial"/>
              </a:rPr>
              <a:t>vd. phiếu theo dõi dịch được ghi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Nếu câu hỏi của bạn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Bắt đầu với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với câu hỏi dịch truyền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Hiện nay phổ biến thế nào?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Cắt ngang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Người bệnh có cân bằng dịch dương ở ICU hôm nay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Kết cục hiếm: yếu tố nào làm tăng nguy cơ?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Bệnh–chứng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bệnh nhiễm khuẩn huyết phải lọc máu mới, nhìn lại lượng dịch đã nhận</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Điều gì xảy ra sau một phơi nhiễm?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và tử vong ngày 28 (Bài báo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Điều trị này có hiệu quả 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Hạn chế dịch so với thường quy (Bài báo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Tất cả nghiên cứu nói gì?</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và phân tích gộp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Gộp mọi thử nghiệm hạn chế dịch</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Bắt đầu từ câu hỏi, thiết kế sẽ theo sau. Rồi kiểm tra xem thiết kế đó có khả thi ở nơi bạn làm việc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chọn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Năm câu hỏi lập kế hoạch về câu hỏi dịch truyền: phiếu bài tập, Phần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câu: bình chọn thiết kế khả thi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nêu một lý do và điểm yếu chính. Giảng viên gõ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Rồi đến câu hỏi của bạn: hai ba người nói thiết kế mình chọn, và 'gây ra' hay 'có liên quan'</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Có hiệu quả? RCT hoặc thử nghiệm theo cụm</a:t>
            </a:r>
          </a:p>
          <a:p>
            <a:pPr marL="0" indent="0" algn="ctr">
              <a:lnSpc>
                <a:spcPct val="104000"/>
              </a:lnSpc>
              <a:spcBef>
                <a:spcPts val="300"/>
              </a:spcBef>
              <a:buNone/>
            </a:pPr>
            <a:r>
              <a:rPr lang="en-US" sz="1500" dirty="0">
                <a:solidFill>
                  <a:srgbClr val="000000"/>
                </a:solidFill>
                <a:latin typeface="Arial"/>
                <a:cs typeface="Arial"/>
              </a:rPr>
              <a:t>Không kém hơn? Thử nghiệm không kém hơn</a:t>
            </a:r>
          </a:p>
          <a:p>
            <a:pPr marL="0" indent="0" algn="ctr">
              <a:lnSpc>
                <a:spcPct val="104000"/>
              </a:lnSpc>
              <a:spcBef>
                <a:spcPts val="300"/>
              </a:spcBef>
              <a:buNone/>
            </a:pPr>
            <a:r>
              <a:rPr lang="en-US" sz="1500" dirty="0">
                <a:solidFill>
                  <a:srgbClr val="000000"/>
                </a:solidFill>
                <a:latin typeface="Arial"/>
                <a:cs typeface="Arial"/>
              </a:rPr>
              <a:t>Đã thay đổi rồi? Chuỗi thời gian</a:t>
            </a:r>
          </a:p>
          <a:p>
            <a:pPr marL="0" indent="0" algn="ctr">
              <a:lnSpc>
                <a:spcPct val="104000"/>
              </a:lnSpc>
              <a:spcBef>
                <a:spcPts val="300"/>
              </a:spcBef>
              <a:buNone/>
            </a:pPr>
            <a:r>
              <a:rPr lang="en-US" sz="1500" dirty="0">
                <a:solidFill>
                  <a:srgbClr val="000000"/>
                </a:solidFill>
                <a:latin typeface="Arial"/>
                <a:cs typeface="Arial"/>
              </a:rPr>
              <a:t>Vì sao, thế nào? Định tính</a:t>
            </a:r>
          </a:p>
          <a:p>
            <a:pPr marL="0" indent="0" algn="ctr">
              <a:lnSpc>
                <a:spcPct val="104000"/>
              </a:lnSpc>
              <a:spcBef>
                <a:spcPts val="300"/>
              </a:spcBef>
              <a:buNone/>
            </a:pPr>
            <a:r>
              <a:rPr lang="en-US" sz="1500" dirty="0">
                <a:solidFill>
                  <a:srgbClr val="000000"/>
                </a:solidFill>
                <a:latin typeface="Arial"/>
                <a:cs typeface="Arial"/>
              </a:rPr>
              <a:t>Có làm được không? Thí điểm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chọn năm thiết kế, rồi vài người chia sẻ thiết kế và kết luận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chuẩn chọn mô tả chữ P (Đối tượng).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2a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Thiết kế và 3-5 câu biện luận, chọn bằng cây quyết định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Bối cảnh: ở đâu, khi nào, những khoa nào, nguồn dữ liệu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Đối tượng: 3-5 tiêu chuẩn chọn và 3-5 tiêu chuẩn loại trừ, mỗi tiêu chuẩn loại trừ có lý do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(20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câu thiết kế của mình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Thiết kế hợp với câu hỏi?</a:t>
            </a:r>
          </a:p>
          <a:p>
            <a:pPr marL="0" indent="0" algn="ctr">
              <a:lnSpc>
                <a:spcPct val="104000"/>
              </a:lnSpc>
              <a:spcBef>
                <a:spcPts val="300"/>
              </a:spcBef>
              <a:buNone/>
            </a:pPr>
            <a:r>
              <a:rPr lang="en-US" sz="1500" dirty="0">
                <a:solidFill>
                  <a:srgbClr val="000000"/>
                </a:solidFill>
                <a:latin typeface="Arial"/>
                <a:cs typeface="Arial"/>
              </a:rPr>
              <a:t>Khả thi ở khoa bạn?</a:t>
            </a:r>
          </a:p>
          <a:p>
            <a:pPr marL="0" indent="0" algn="ctr">
              <a:lnSpc>
                <a:spcPct val="104000"/>
              </a:lnSpc>
              <a:spcBef>
                <a:spcPts val="300"/>
              </a:spcBef>
              <a:buNone/>
            </a:pPr>
            <a:r>
              <a:rPr lang="en-US" sz="1500" dirty="0">
                <a:solidFill>
                  <a:srgbClr val="000000"/>
                </a:solidFill>
                <a:latin typeface="Arial"/>
                <a:cs typeface="Arial"/>
              </a:rPr>
              <a:t>Tiêu chuẩn chọn = chữ P (Đối tượng)?</a:t>
            </a:r>
          </a:p>
          <a:p>
            <a:pPr marL="0" indent="0" algn="ctr">
              <a:lnSpc>
                <a:spcPct val="104000"/>
              </a:lnSpc>
              <a:spcBef>
                <a:spcPts val="300"/>
              </a:spcBef>
              <a:buNone/>
            </a:pPr>
            <a:r>
              <a:rPr lang="en-US" sz="1500" dirty="0">
                <a:solidFill>
                  <a:srgbClr val="000000"/>
                </a:solidFill>
                <a:latin typeface="Arial"/>
                <a:cs typeface="Arial"/>
              </a:rPr>
              <a:t>Mỗi loại trừ có lý do?</a:t>
            </a:r>
          </a:p>
          <a:p>
            <a:pPr marL="0" indent="0" algn="ctr">
              <a:lnSpc>
                <a:spcPct val="104000"/>
              </a:lnSpc>
              <a:spcBef>
                <a:spcPts val="300"/>
              </a:spcBef>
              <a:buNone/>
            </a:pPr>
            <a:r>
              <a:rPr lang="en-US" sz="1500" dirty="0">
                <a:solidFill>
                  <a:srgbClr val="000000"/>
                </a:solidFill>
                <a:latin typeface="Arial"/>
                <a:cs typeface="Arial"/>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Bản nháp Phần 2a đề cương của chính bạn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thời điểm, nhìn lại, theo dõi về sau</a:t>
            </a:r>
          </a:p>
          <a:p>
            <a:pPr marL="0" indent="0" algn="ctr">
              <a:lnSpc>
                <a:spcPct val="104000"/>
              </a:lnSpc>
              <a:spcBef>
                <a:spcPts val="400"/>
              </a:spcBef>
              <a:buNone/>
            </a:pPr>
            <a:r>
              <a:rPr lang="en-US" sz="1750" dirty="0">
                <a:solidFill>
                  <a:srgbClr val="000000"/>
                </a:solidFill>
                <a:latin typeface="Arial"/>
                <a:cs typeface="Arial"/>
              </a:rPr>
              <a:t>RCT: may rủi chỉ định phơi nhiễm</a:t>
            </a:r>
          </a:p>
          <a:p>
            <a:pPr marL="0" indent="0" algn="ctr">
              <a:lnSpc>
                <a:spcPct val="104000"/>
              </a:lnSpc>
              <a:spcBef>
                <a:spcPts val="400"/>
              </a:spcBef>
              <a:buNone/>
            </a:pPr>
            <a:r>
              <a:rPr lang="en-US" sz="1750" dirty="0">
                <a:solidFill>
                  <a:srgbClr val="000000"/>
                </a:solidFill>
                <a:latin typeface="Arial"/>
                <a:cs typeface="Arial"/>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Theo cụm, bắt chéo, giai thừa</a:t>
            </a:r>
          </a:p>
          <a:p>
            <a:pPr marL="0" indent="0" algn="ctr">
              <a:lnSpc>
                <a:spcPct val="104000"/>
              </a:lnSpc>
              <a:spcBef>
                <a:spcPts val="400"/>
              </a:spcBef>
              <a:buNone/>
            </a:pPr>
            <a:r>
              <a:rPr lang="en-US" sz="1750" dirty="0">
                <a:solidFill>
                  <a:srgbClr val="000000"/>
                </a:solidFill>
                <a:latin typeface="Arial"/>
                <a:cs typeface="Arial"/>
              </a:rPr>
              <a:t>Không kém hơn cần ngưỡng</a:t>
            </a:r>
          </a:p>
          <a:p>
            <a:pPr marL="0" indent="0" algn="ctr">
              <a:lnSpc>
                <a:spcPct val="104000"/>
              </a:lnSpc>
              <a:spcBef>
                <a:spcPts val="400"/>
              </a:spcBef>
              <a:buNone/>
            </a:pPr>
            <a:r>
              <a:rPr lang="en-US" sz="1750" dirty="0">
                <a:solidFill>
                  <a:srgbClr val="000000"/>
                </a:solidFill>
                <a:latin typeface="Arial"/>
                <a:cs typeface="Arial"/>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Thiết kế và biện luận</a:t>
            </a:r>
          </a:p>
          <a:p>
            <a:pPr marL="0" indent="0" algn="ctr">
              <a:lnSpc>
                <a:spcPct val="104000"/>
              </a:lnSpc>
              <a:spcBef>
                <a:spcPts val="400"/>
              </a:spcBef>
              <a:buNone/>
            </a:pPr>
            <a:r>
              <a:rPr lang="en-US" sz="1750" dirty="0">
                <a:solidFill>
                  <a:srgbClr val="000000"/>
                </a:solidFill>
                <a:latin typeface="Arial"/>
                <a:cs typeface="Arial"/>
              </a:rPr>
              <a:t>Bối cảnh</a:t>
            </a:r>
          </a:p>
          <a:p>
            <a:pPr marL="0" indent="0" algn="ctr">
              <a:lnSpc>
                <a:spcPct val="104000"/>
              </a:lnSpc>
              <a:spcBef>
                <a:spcPts val="400"/>
              </a:spcBef>
              <a:buNone/>
            </a:pPr>
            <a:r>
              <a:rPr lang="en-US" sz="1750" dirty="0">
                <a:solidFill>
                  <a:srgbClr val="000000"/>
                </a:solidFill>
                <a:latin typeface="Arial"/>
                <a:cs typeface="Arial"/>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bác sĩ chọn hạn chế dịch cho một số người bệnh sốc nhiễm khuẩn và không cho số khác. Cả hai nhóm được theo dõi đến ngày 28. Thiết kế gì? 'Gây ra' hay 'có liên quan'?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Vì sao: để kiểm tra ý chính hôm nay. Giảng viên đọc mọi câu trả lời và mở đầu Buổi 4 bằng chúng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2a đề cương của bạn (thiết kế, bối cảnh, đối tượng)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đoạn 'Patients' của Bài báo 1 (Boulet) và 'Data source' của Bài báo 2 (Hyun), trong Course/Papers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3</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Cây quyết định trong thực tế: Bài báo 1 (Boulet) và Bài báo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thử nghiệm chỉ định chiến lược</a:t>
            </a:r>
          </a:p>
          <a:p>
            <a:pPr marL="0" indent="0" algn="ctr">
              <a:lnSpc>
                <a:spcPct val="104000"/>
              </a:lnSpc>
              <a:spcBef>
                <a:spcPts val="200"/>
              </a:spcBef>
              <a:buNone/>
            </a:pPr>
            <a:r>
              <a:rPr lang="en-US" sz="1500" dirty="0">
                <a:solidFill>
                  <a:srgbClr val="000000"/>
                </a:solidFill>
                <a:latin typeface="Arial"/>
                <a:cs typeface="Arial"/>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bằng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có, cân bằng dương so với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các câu này với mọi bài báo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Hôm nay kiểm tra cả 300 người bệnh nội trú: có ống thông tiểu không, có nhiễm khuẩn tiết niệu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Người bệnh viêm phổi liên quan thở máy được so sánh với người bệnh không viêm phổi về việc dùng an thần trước đó</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Người bệnh được vận động sớm (do chuyên viên vật lý trị liệu quyết định) và người bệnh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Cắt ngang</a:t>
            </a:r>
          </a:p>
          <a:p>
            <a:pPr marL="0" indent="0" algn="ctr">
              <a:lnSpc>
                <a:spcPct val="104000"/>
              </a:lnSpc>
              <a:spcBef>
                <a:spcPts val="300"/>
              </a:spcBef>
              <a:buNone/>
            </a:pPr>
            <a:r>
              <a:rPr lang="en-US" sz="1500" dirty="0">
                <a:solidFill>
                  <a:srgbClr val="000000"/>
                </a:solidFill>
                <a:latin typeface="Arial"/>
                <a:cs typeface="Arial"/>
              </a:rPr>
              <a:t>Bệnh–chứng</a:t>
            </a:r>
          </a:p>
          <a:p>
            <a:pPr marL="0" indent="0" algn="ctr">
              <a:lnSpc>
                <a:spcPct val="104000"/>
              </a:lnSpc>
              <a:spcBef>
                <a:spcPts val="300"/>
              </a:spcBef>
              <a:buNone/>
            </a:pPr>
            <a:r>
              <a:rPr lang="en-US" sz="1500" dirty="0">
                <a:solidFill>
                  <a:srgbClr val="000000"/>
                </a:solidFill>
                <a:latin typeface="Arial"/>
                <a:cs typeface="Arial"/>
              </a:rPr>
              <a:t>Thuần tập</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gọi tên thiết kế (ví dụ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ngày, tất cả mọi người</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Bệnh–chứng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Chọn theo kết cục (viêm phổi)</a:t>
            </a:r>
          </a:p>
          <a:p>
            <a:pPr marL="0" indent="0" algn="ctr">
              <a:lnSpc>
                <a:spcPct val="104000"/>
              </a:lnSpc>
              <a:spcBef>
                <a:spcPts val="400"/>
              </a:spcBef>
              <a:buNone/>
            </a:pPr>
            <a:r>
              <a:rPr lang="en-US" sz="1750" dirty="0">
                <a:solidFill>
                  <a:srgbClr val="000000"/>
                </a:solidFill>
                <a:latin typeface="Arial"/>
                <a:cs typeface="Arial"/>
              </a:rPr>
              <a:t>Nhìn lại phơi nhiễm (an thần)</a:t>
            </a:r>
          </a:p>
          <a:p>
            <a:pPr marL="0" indent="0" algn="ctr">
              <a:lnSpc>
                <a:spcPct val="104000"/>
              </a:lnSpc>
              <a:spcBef>
                <a:spcPts val="400"/>
              </a:spcBef>
              <a:buNone/>
            </a:pPr>
            <a:r>
              <a:rPr lang="en-US" sz="1750" dirty="0">
                <a:solidFill>
                  <a:srgbClr val="000000"/>
                </a:solidFill>
                <a:latin typeface="Arial"/>
                <a:cs typeface="Arial"/>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Chia theo phơi nhiễm (vận động)</a:t>
            </a:r>
          </a:p>
          <a:p>
            <a:pPr marL="0" indent="0" algn="ctr">
              <a:lnSpc>
                <a:spcPct val="104000"/>
              </a:lnSpc>
              <a:spcBef>
                <a:spcPts val="400"/>
              </a:spcBef>
              <a:buNone/>
            </a:pPr>
            <a:r>
              <a:rPr lang="en-US" sz="1750" dirty="0">
                <a:solidFill>
                  <a:srgbClr val="000000"/>
                </a:solidFill>
                <a:latin typeface="Arial"/>
                <a:cs typeface="Arial"/>
              </a:rPr>
              <a:t>Theo dõi đến khi ra viện</a:t>
            </a:r>
          </a:p>
          <a:p>
            <a:pPr marL="0" indent="0" algn="ctr">
              <a:lnSpc>
                <a:spcPct val="104000"/>
              </a:lnSpc>
              <a:spcBef>
                <a:spcPts val="400"/>
              </a:spcBef>
              <a:buNone/>
            </a:pPr>
            <a:r>
              <a:rPr lang="en-US" sz="1750" dirty="0">
                <a:solidFill>
                  <a:srgbClr val="000000"/>
                </a:solidFill>
                <a:latin typeface="Arial"/>
                <a:cs typeface="Arial"/>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phác đồ kháng sinh rẻ hơn. Chỉ cần chứng minh nó không kém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Chương trình vệ sinh tay áp dụng cho cả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Vì sao gia đình từ chối đồng ý tham gia nghiên cứu ở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Thử nghiệm theo cụm</a:t>
            </a:r>
          </a:p>
          <a:p>
            <a:pPr marL="0" indent="0" algn="ctr">
              <a:lnSpc>
                <a:spcPct val="104000"/>
              </a:lnSpc>
              <a:spcBef>
                <a:spcPts val="300"/>
              </a:spcBef>
              <a:buNone/>
            </a:pPr>
            <a:r>
              <a:rPr lang="en-US" sz="1500" dirty="0">
                <a:solidFill>
                  <a:srgbClr val="000000"/>
                </a:solidFill>
                <a:latin typeface="Arial"/>
                <a:cs typeface="Arial"/>
              </a:rPr>
              <a:t>Thử nghiệm không kém hơn</a:t>
            </a:r>
          </a:p>
          <a:p>
            <a:pPr marL="0" indent="0" algn="ctr">
              <a:lnSpc>
                <a:spcPct val="104000"/>
              </a:lnSpc>
              <a:spcBef>
                <a:spcPts val="300"/>
              </a:spcBef>
              <a:buNone/>
            </a:pPr>
            <a:r>
              <a:rPr lang="en-US" sz="1500" dirty="0">
                <a:solidFill>
                  <a:srgbClr val="000000"/>
                </a:solidFill>
                <a:latin typeface="Arial"/>
                <a:cs typeface="Arial"/>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ca chứng tốt trong nghiên cứu bệnh–chứng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bệnh viện, khoa và thời gian với ca bệnh</a:t>
            </a:r>
          </a:p>
          <a:p>
            <a:pPr marL="0" indent="0" algn="ctr">
              <a:lnSpc>
                <a:spcPct val="104000"/>
              </a:lnSpc>
              <a:spcBef>
                <a:spcPts val="400"/>
              </a:spcBef>
              <a:buNone/>
            </a:pPr>
            <a:r>
              <a:rPr lang="en-US" sz="1750" dirty="0">
                <a:solidFill>
                  <a:srgbClr val="000000"/>
                </a:solidFill>
                <a:latin typeface="Arial"/>
                <a:cs typeface="Arial"/>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hồ sơ, cùng câu hỏi</a:t>
            </a:r>
          </a:p>
          <a:p>
            <a:pPr marL="0" indent="0" algn="ctr">
              <a:lnSpc>
                <a:spcPct val="104000"/>
              </a:lnSpc>
              <a:spcBef>
                <a:spcPts val="400"/>
              </a:spcBef>
              <a:buNone/>
            </a:pPr>
            <a:r>
              <a:rPr lang="en-US" sz="1750" dirty="0">
                <a:solidFill>
                  <a:srgbClr val="000000"/>
                </a:solidFill>
                <a:latin typeface="Arial"/>
                <a:cs typeface="Arial"/>
              </a:rPr>
              <a:t>Tốt nhất người đánh giá không biết ai là ca bệnh</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vd. tuổi, tháng nhập viện</a:t>
            </a:r>
          </a:p>
          <a:p>
            <a:pPr marL="0" indent="0" algn="ctr">
              <a:lnSpc>
                <a:spcPct val="104000"/>
              </a:lnSpc>
              <a:spcBef>
                <a:spcPts val="400"/>
              </a:spcBef>
              <a:buNone/>
            </a:pPr>
            <a:r>
              <a:rPr lang="en-US" sz="1750" dirty="0">
                <a:solidFill>
                  <a:srgbClr val="000000"/>
                </a:solidFill>
                <a:latin typeface="Arial"/>
                <a:cs typeface="Arial"/>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chứng kém làm mọi nghiên cứu bệnh–chứng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KTC: khoảng tin cậy. Ngưỡng: mức khác biệt lớn nhất chấp nhận được, định trước</a:t>
            </a:r>
          </a:p>
        </p:txBody>
      </p:sp>
      <p:sp>
        <p:nvSpPr>
          <p:cNvPr id="70" name="CardHead"/>
          <p:cNvSpPr/>
          <p:nvPr/>
        </p:nvSpPr>
        <p:spPr>
          <a:xfrm>
            <a:off x="457200" y="212809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Vượt trội</a:t>
            </a:r>
          </a:p>
        </p:txBody>
      </p:sp>
      <p:sp>
        <p:nvSpPr>
          <p:cNvPr id="71" name="CardBody"/>
          <p:cNvSpPr/>
          <p:nvPr/>
        </p:nvSpPr>
        <p:spPr>
          <a:xfrm>
            <a:off x="457200"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Điều trị mới có tốt hơn không?</a:t>
            </a:r>
          </a:p>
          <a:p>
            <a:pPr marL="0" indent="0" algn="ctr">
              <a:lnSpc>
                <a:spcPct val="104000"/>
              </a:lnSpc>
              <a:spcBef>
                <a:spcPts val="400"/>
              </a:spcBef>
              <a:buNone/>
            </a:pPr>
            <a:r>
              <a:rPr lang="en-US" sz="1750" dirty="0">
                <a:solidFill>
                  <a:srgbClr val="000000"/>
                </a:solidFill>
                <a:latin typeface="Arial"/>
                <a:cs typeface="Arial"/>
              </a:rPr>
              <a:t>Toàn bộ KTC ở phía 'tốt hơn' của 0</a:t>
            </a:r>
          </a:p>
        </p:txBody>
      </p:sp>
      <p:sp>
        <p:nvSpPr>
          <p:cNvPr id="72" name="CardHead"/>
          <p:cNvSpPr/>
          <p:nvPr/>
        </p:nvSpPr>
        <p:spPr>
          <a:xfrm>
            <a:off x="4283066" y="21280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Tương đương</a:t>
            </a:r>
          </a:p>
        </p:txBody>
      </p:sp>
      <p:sp>
        <p:nvSpPr>
          <p:cNvPr id="73" name="CardBody"/>
          <p:cNvSpPr/>
          <p:nvPr/>
        </p:nvSpPr>
        <p:spPr>
          <a:xfrm>
            <a:off x="4283066"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như nhau không?</a:t>
            </a:r>
          </a:p>
          <a:p>
            <a:pPr marL="0" indent="0" algn="ctr">
              <a:lnSpc>
                <a:spcPct val="104000"/>
              </a:lnSpc>
              <a:spcBef>
                <a:spcPts val="400"/>
              </a:spcBef>
              <a:buNone/>
            </a:pPr>
            <a:r>
              <a:rPr lang="en-US" sz="1750" dirty="0">
                <a:solidFill>
                  <a:srgbClr val="000000"/>
                </a:solidFill>
                <a:latin typeface="Arial"/>
                <a:cs typeface="Arial"/>
              </a:rPr>
              <a:t>Toàn bộ KTC nằm giữa âm và dương ngưỡng</a:t>
            </a:r>
          </a:p>
        </p:txBody>
      </p:sp>
      <p:sp>
        <p:nvSpPr>
          <p:cNvPr id="74" name="CardHead"/>
          <p:cNvSpPr/>
          <p:nvPr/>
        </p:nvSpPr>
        <p:spPr>
          <a:xfrm>
            <a:off x="8108932" y="21280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không kém đến mức không chấp nhận được?</a:t>
            </a:r>
          </a:p>
          <a:p>
            <a:pPr marL="0" indent="0" algn="ctr">
              <a:lnSpc>
                <a:spcPct val="104000"/>
              </a:lnSpc>
              <a:spcBef>
                <a:spcPts val="400"/>
              </a:spcBef>
              <a:buNone/>
            </a:pPr>
            <a:r>
              <a:rPr lang="en-US" sz="1750" dirty="0">
                <a:solidFill>
                  <a:srgbClr val="000000"/>
                </a:solidFill>
                <a:latin typeface="Arial"/>
                <a:cs typeface="Arial"/>
              </a:rPr>
              <a:t>Toàn bộ KTC dưới dương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Ít nhất 8-12 điểm trước và sau</a:t>
            </a:r>
          </a:p>
          <a:p>
            <a:pPr marL="0" indent="0" algn="ctr">
              <a:lnSpc>
                <a:spcPct val="104000"/>
              </a:lnSpc>
              <a:spcBef>
                <a:spcPts val="400"/>
              </a:spcBef>
              <a:buNone/>
            </a:pPr>
            <a:r>
              <a:rPr lang="en-US" sz="1750" dirty="0">
                <a:solidFill>
                  <a:srgbClr val="000000"/>
                </a:solidFill>
                <a:latin typeface="Arial"/>
                <a:cs typeface="Arial"/>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khoa hay bệnh viện không thay đổi</a:t>
            </a:r>
          </a:p>
          <a:p>
            <a:pPr marL="0" indent="0" algn="ctr">
              <a:lnSpc>
                <a:spcPct val="104000"/>
              </a:lnSpc>
              <a:spcBef>
                <a:spcPts val="400"/>
              </a:spcBef>
              <a:buNone/>
            </a:pPr>
            <a:r>
              <a:rPr lang="en-US" sz="1750" dirty="0">
                <a:solidFill>
                  <a:srgbClr val="000000"/>
                </a:solidFill>
                <a:latin typeface="Arial"/>
                <a:cs typeface="Arial"/>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Thay đổi nhân sự, chính sách mới, kiểm tra</a:t>
            </a:r>
          </a:p>
          <a:p>
            <a:pPr marL="0" indent="0" algn="ctr">
              <a:lnSpc>
                <a:spcPct val="104000"/>
              </a:lnSpc>
              <a:spcBef>
                <a:spcPts val="400"/>
              </a:spcBef>
              <a:buNone/>
            </a:pPr>
            <a:r>
              <a:rPr lang="en-US" sz="1750" dirty="0">
                <a:solidFill>
                  <a:srgbClr val="000000"/>
                </a:solidFill>
                <a:latin typeface="Arial"/>
                <a:cs typeface="Arial"/>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