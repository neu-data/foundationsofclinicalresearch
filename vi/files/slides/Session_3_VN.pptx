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Chào mừng cả lớp quay lại Buổi 3. Chiếu slide này khi mọi người vào lớp: kiểm tra âm thanh, chat và bình chọn.</a:t>
            </a:r>
          </a:p>
          <a:p>
            <a:r>
              <a:rPr lang="en-US" sz="1400" b="0" dirty="0"/>
              <a:t>Thời gian: trước 19:30, không tính vào giờ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Bắt đầu 19:30. Ý chính: thiết kế quyết định bạn được kết luận điều gì.</a:t>
            </a:r>
          </a:p>
          <a:p>
            <a:r>
              <a:rPr lang="en-US" sz="1400" b="0" dirty="0"/>
              <a:t>Hỏi: 'Ai đã từng thu thập số liệu cho một nghiên cứu?' Dùng họ làm ví dụ về sau.</a:t>
            </a:r>
          </a:p>
          <a:p>
            <a:r>
              <a:rPr lang="en-US" sz="1400" b="0" dirty="0"/>
              <a:t>Giờ: 19:30 ôn tập, 19:40 phần 3.1, 20:25 Gọi tên thiết kế, 20:40 giải lao, 20:55 phần 3.2, 21:25 chọn thiết kế, 21:40 xây dựng đề cương 3, 22:25 tổng kết.</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Ba câu bình chọn. Hiện kết quả rồi đáp án.</a:t>
            </a:r>
          </a:p>
          <a:p>
            <a:r>
              <a:rPr lang="en-US" sz="1400" b="0" dirty="0"/>
              <a:t>Đáp án: Câu 1 AND thu hẹp, OR mở rộng. Câu 2 hình và bảng. Câu 3 thổi phồng (spin).</a:t>
            </a:r>
          </a:p>
          <a:p>
            <a:r>
              <a:rPr lang="en-US" sz="1400" b="0" dirty="0"/>
              <a:t>Sau câu 3, hỏi cách viết lại. Mong đợi: 'tử vong không khác biệt rõ giữa hai nhóm (p = 0.42)'.</a:t>
            </a:r>
          </a:p>
          <a:p>
            <a:r>
              <a:rPr lang="en-US" sz="1400" b="0" dirty="0"/>
              <a:t>Thời gian: 9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3.1 bắt đầu ở đây (45 phút). Chỉ đọc bốn tiêu đề.</a:t>
            </a:r>
          </a:p>
          <a:p>
            <a:r>
              <a:rPr lang="en-US" sz="1400" b="0" dirty="0"/>
              <a:t>Hỏi: 'Trong câu hỏi về dịch truyền, phơi nhiễm là gì, kết cục là gì?' Mong đợi: chiến lược hạn chế dịch (so với thường quy), tử vong đến ngày 28.</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Boulet phân nhóm ngẫu nhiên. Hyun chỉ quan sát. Kết cục chính của Boulet là cân bằng dịch, không phải tử vong.</a:t>
            </a:r>
          </a:p>
          <a:p>
            <a:r>
              <a:rPr lang="en-US" sz="1400" b="0" dirty="0"/>
              <a:t>Bình chọn: 'Bạn tin nghiên cứu nào hơn về việc hạn chế dịch cứu được người bệnh?' Mong đợi: ý kiến chia đôi. Không bài nào trả lời trọn vẹn. Giải quyết ở cuối phần 3.1.</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Với mỗi thiết kế, hỏi: ai quyết định phơi nhiễm, và thời gian đi theo chiều nào? Không cần thuộc tên.</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Quan sát không có nghĩa là kém: tác hại, tiên lượng và bệnh hiếm thường cần thiết kế quan sát.</a:t>
            </a:r>
          </a:p>
          <a:p>
            <a:r>
              <a:rPr lang="en-US" sz="1400" b="0" dirty="0"/>
              <a:t>Bình chọn: 'Bài báo 1 thuộc thẻ nào? Bài báo 2?' Mong đợi: Boulet thực nghiệm (RCT), Hyun quan sát (thuần tập).</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Cân bằng dịch là kết cục ở Boulet nhưng là phơi nhiễm ở Hyun. Điều trị cũng là một phơi nhiễm.</a:t>
            </a:r>
          </a:p>
          <a:p>
            <a:r>
              <a:rPr lang="en-US" sz="1400" b="0" dirty="0"/>
              <a:t>Hỏi: 'Nêu phơi nhiễm, kết cục và nhóm so sánh trong câu hỏi của mình.' Mong đợi: hạn chế dịch, tử vong đến ngày 28, chăm sóc thường quy.</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Cắt ngang: phơi nhiễm và kết cục đo cùng lúc, nên không biết cái nào có trước.</a:t>
            </a:r>
          </a:p>
          <a:p>
            <a:r>
              <a:rPr lang="en-US" sz="1400" b="0" dirty="0"/>
              <a:t>Hỏi: 'Làm sao đo trong một ngày tỷ lệ cân bằng dịch dương ở ICU của bạn?' Mong đợi: khảo sát hiện mắc tại một thời điểm.</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Số liệu giả định. Không biết đệm hay loét có trước. Với câu hỏi 'hiện nay phổ biến đến đâu?', đây là thiết kế đúng.</a:t>
            </a:r>
          </a:p>
          <a:p>
            <a:r>
              <a:rPr lang="en-US" sz="1400" b="0" dirty="0"/>
              <a:t>Hỏi: 'Trong một ngày có thể đo gì cho câu hỏi dịch truyền?' Mong đợi: cân bằng dịch và chức năng thận hôm nay của mọi người bệnh.</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Lần theo mũi tên từ phải sang trái. Phù hợp với kết cục hiếm. Điểm yếu: sai lệch nhớ lại, khó chọn nhóm chứng, chỉ tính được OR.</a:t>
            </a:r>
          </a:p>
          <a:p>
            <a:r>
              <a:rPr lang="en-US" sz="1400" b="0" dirty="0"/>
              <a:t>Bệnh-chứng chọn theo kết cục, thuần tập chọn theo phơi nhiễm.</a:t>
            </a:r>
          </a:p>
          <a:p>
            <a:r>
              <a:rPr lang="en-US" sz="1400" b="0" dirty="0"/>
              <a:t>Hỏi: 'Vì sao không tính được nguy cơ nhiễm nấm Candida máu ở đây?' Mong đợi: mình tự chọn số ca bệnh và ca chứng.</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chậm: Buổi 4 dùng lại các số này để tính OR.</a:t>
            </a:r>
          </a:p>
          <a:p>
            <a:r>
              <a:rPr lang="en-US" sz="1400" b="0" dirty="0"/>
              <a:t>Nhóm chứng phải đến từ cùng quần thể sinh ra ca bệnh, không phải người tình nguyện khỏe mạnh.</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Mũi tên từ trái sang phải. Đây là Bài báo 2. Thuần tập hồi cứu vẫn đi từ phơi nhiễm đến kết cục.</a:t>
            </a:r>
          </a:p>
          <a:p>
            <a:r>
              <a:rPr lang="en-US" sz="1400" b="0" dirty="0"/>
              <a:t>Hỏi: 'Trong Hyun, ai quyết định người bệnh nào được truyền nhiều dịch hơn?' Mong đợi: bác sĩ điều trị, theo mức độ nặng. Giữ ý này cho Buổi 4.</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Kết quả ngày 2: HR 2.13 (KTC 95% 1.48-3.06). Ngày 1: không khác biệt rõ. Nói HR bằng lời thường. HR học ở Buổi 6.</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RCT là một thuần tập mà phơi nhiễm do ngẫu nhiên quyết định, nên hai nhóm giống nhau cả về yếu tố đo được và không đo được.</a:t>
            </a:r>
          </a:p>
          <a:p>
            <a:r>
              <a:rPr lang="en-US" sz="1400" b="0" dirty="0"/>
              <a:t>Mỗi nhóm 6 ca tử vong: gần như không nói được gì về tử vong. Nghiên cứu thí điểm được tính lực mẫu cho cân bằng dịch.</a:t>
            </a:r>
          </a:p>
          <a:p>
            <a:r>
              <a:rPr lang="en-US" sz="1400" b="0" dirty="0"/>
              <a:t>Hỏi: 'Sao không phân nhóm ngẫu nhiên mọi thứ?' Mong đợi: đạo đức, kết cục hiếm hoặc lâu, chi phí.</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Bác sĩ biết người bệnh thuộc nhóm nào. Chỉ người bệnh và người phân tích thống kê bị làm mù.</a:t>
            </a:r>
          </a:p>
          <a:p>
            <a:r>
              <a:rPr lang="en-US" sz="1400" b="0" dirty="0"/>
              <a:t>Bình chọn: 'Bước nào làm đây thành thực nghiệm?' Mong đợi: bước 3, phân nhóm ngẫu nhiên.</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Biểu đồ rừng minh họa. Phân tích gộp chỉ tốt bằng các nghiên cứu được gộp.</a:t>
            </a:r>
          </a:p>
          <a:p>
            <a:r>
              <a:rPr lang="en-US" sz="1400" b="0" dirty="0"/>
              <a:t>Hỏi: 'Tổng quan tường thuật khác tổng quan hệ thống thế nào?' Mong đợi: tổng quan hệ thống có cách tìm và chọn bài nêu rõ, lặp lại được.</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Thử nghiệm thí điểm 48 người không thể bác bỏ một thuần tập cẩn thận về tử vong.</a:t>
            </a:r>
          </a:p>
          <a:p>
            <a:r>
              <a:rPr lang="en-US" sz="1400" b="0" dirty="0"/>
              <a:t>Bình chọn: 'Bài nào cao hơn, và có hữu ích hơn cho câu hỏi tử vong không?' Mong đợi: Boulet cao hơn, nhưng không đủ lực mẫu cho tử vong.</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cây một lần với Boulet (được phân nhóm, ngẫu nhiên: RCT) và một lần với Hyun (không phân nhóm, có so sánh, phơi nhiễm trước: thuần tập). Đừng gọi tên thiết kế theo từ trong tiêu đề.</a:t>
            </a:r>
          </a:p>
          <a:p>
            <a:r>
              <a:rPr lang="en-US" sz="1400" b="0" dirty="0"/>
              <a:t>Bình chọn: 'Cân bằng dịch và chức năng thận của mọi người bệnh trong một ngày?' Mong đợi: cắt ngang. 'Áp dụng quy trình từ một ngày, so sánh trước và sau?' Mong đợi: không ngẫu nhiên (bán thực nghiệm).</a:t>
            </a:r>
          </a:p>
          <a:p>
            <a:r>
              <a:rPr lang="en-US" sz="1400" b="0" dirty="0"/>
              <a:t>Thời gian: 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Mỗi thẻ chọn một điểm mạnh và một điểm yếu. RCT cân bằng được yếu tố nhiễu chưa biết, nhưng người bệnh được chọn lọc (Boulet loại người trên 85 tuổi).</a:t>
            </a:r>
          </a:p>
          <a:p>
            <a:r>
              <a:rPr lang="en-US" sz="1400" b="0" dirty="0"/>
              <a:t>Hỏi: 'Thiết kế nào để tìm yếu tố nguy cơ của một phản ứng thuốc hiếm?' Mong đợi: bệnh-chứng.</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Hiệu chỉnh hay ghép cặp chỉ giảm nhiễu đã đo được.</a:t>
            </a:r>
          </a:p>
          <a:p>
            <a:r>
              <a:rPr lang="en-US" sz="1400" b="0" dirty="0"/>
              <a:t>Hỏi mỗi bài một câu kết luận trung thực. Mong đợi: Boulet 'không giảm rõ cân bằng dịch ngày 5'. Hyun 'cân bằng dịch dương ngày 2-3 có liên quan với tử vong cao hơn'.</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Ba câu bình chọn. Đáp án: A đúng. B sai, thuần tập chỉ nói 'có liên quan'. C đúng.</a:t>
            </a:r>
          </a:p>
          <a:p>
            <a:r>
              <a:rPr lang="en-US" sz="1400" b="0" dirty="0"/>
              <a:t>Thời gian: 3 phút. Kết thúc phần 3.1.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Khoảng 2.5 phút mỗi tóm tắt: đọc, bình chọn, mời một người nêu cụm từ chứng minh, gõ lên màn hình.</a:t>
            </a:r>
          </a:p>
          <a:p>
            <a:r>
              <a:rPr lang="en-US" sz="1400" b="0" dirty="0"/>
              <a:t>Tóm tắt 3 và 4 khó nhất. Nếu có người nói 'dùng hồ sơ cũ nên là bệnh-chứng', hỏi: chọn theo kết cục hay theo phơi nhiễm?</a:t>
            </a:r>
          </a:p>
          <a:p>
            <a:r>
              <a:rPr lang="en-US" sz="1400" b="0" dirty="0"/>
              <a:t>Đáp án: s3_solutions_VN, Phần A. Cuối slide thông báo giải lao.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lao 20:40-20:55. Chiếu đồng hồ đếm ngược. Bắt đầu lại đúng giờ.</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3.2: 30 phút. Phần lớn dự án ở bệnh viện là thay đổi cấp khoa, cải tiến chất lượng, thí điểm hoặc phỏng vấn.</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Bắt chéo chỉ dùng cho bệnh mạn tính ổn định, không dùng cho sốc nhiễm khuẩn. Thử nghiệm theo cụm vẫn là RCT, phân tích có tính đến cụm.</a:t>
            </a:r>
          </a:p>
          <a:p>
            <a:r>
              <a:rPr lang="en-US" sz="1400" b="0" dirty="0"/>
              <a:t>Bình chọn: 'Quy trình ghi cân bằng dịch do điều dưỡng thực hiện: cách bố trí nào?' Mong đợi: theo cụm, phân nhóm ngẫu nhiên các ICU.</a:t>
            </a:r>
          </a:p>
          <a:p>
            <a:r>
              <a:rPr lang="en-US" sz="1400" b="0" dirty="0"/>
              <a:t>Thời gian: 5.5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Ngưỡng được định trong đề cương, trước khi có dữ liệu. A vượt trội, B không kém hơn, C chưa kết luận được, D kém hơn.</a:t>
            </a:r>
          </a:p>
          <a:p>
            <a:r>
              <a:rPr lang="en-US" sz="1400" b="0" dirty="0"/>
              <a:t>p = 0.42 của Boulet không chứng minh hạn chế dịch tốt ngang chăm sóc thường quy.</a:t>
            </a:r>
          </a:p>
          <a:p>
            <a:r>
              <a:rPr lang="en-US" sz="1400" b="0" dirty="0"/>
              <a:t>Bình chọn: 'Ai quyết định ngưỡng?' Mong đợi: bác sĩ lâm sàng và người bệnh, cùng người làm thống kê.</a:t>
            </a:r>
          </a:p>
          <a:p>
            <a:r>
              <a:rPr lang="en-US" sz="1400" b="0" dirty="0"/>
              <a:t>Thời gian: 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Boulet: sàng lọc 1201, phân nhóm 50, khoảng 3 người bệnh mỗi tháng. Nghiên cứu thí điểm đánh giá tính khả thi, không đánh giá hiệu quả, và phải được lên kế hoạch là thí điểm ngay từ đầu.</a:t>
            </a:r>
          </a:p>
          <a:p>
            <a:r>
              <a:rPr lang="en-US" sz="1400" b="0" dirty="0"/>
              <a:t>Bình chọn: 'Có nên làm thử nghiệm 1000 người ở cùng 3 ICU không?' Mong đợi: không như thiết kế hiện tại. Sẽ mất hàng chục năm.</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Trước-sau là thiết kế yếu: tỷ lệ thường tự giảm. Chuỗi thời gian ngắt quãng so sánh dữ liệu sau thay đổi với xu hướng trước đó (mức và độ dốc).</a:t>
            </a:r>
          </a:p>
          <a:p>
            <a:r>
              <a:rPr lang="en-US" sz="1400" b="0" dirty="0"/>
              <a:t>Hỏi: 'Trong tháng làm dự án cải tiến gần nhất, bệnh viện còn thay đổi gì khác?' Mong đợi: thường là có.</a:t>
            </a:r>
          </a:p>
          <a:p>
            <a:r>
              <a:rPr lang="en-US" sz="1400" b="0" dirty="0"/>
              <a:t>Thời gian: 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Lấy mẫu có chủ đích, đến khi không có chủ đề mới (bão hòa). Hướng dẫn báo cáo: COREQ hoặc SRQR.</a:t>
            </a:r>
          </a:p>
          <a:p>
            <a:r>
              <a:rPr lang="en-US" sz="1400" b="0" dirty="0"/>
              <a:t>Hỏi: 'Một câu hỏi về dịch truyền chỉ phỏng vấn mới trả lời được?' Mong đợi: vì sao phiếu theo dõi dịch không đầy đủ, vì sao bác sĩ ngại ngừng dịch duy trì.</a:t>
            </a:r>
          </a:p>
          <a:p>
            <a:r>
              <a:rPr lang="en-US" sz="1400" b="0" dirty="0"/>
              <a:t>Thời gian: 4.5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Trong phần xây dựng đề cương, mỗi người giải thích thiết kế theo cách này: 'câu hỏi của tôi về X, nên thiết kế khả thi tốt nhất là Y'. Thuần tập hồi cứu nêu rõ hạn chế vẫn được chấp nhận.</a:t>
            </a:r>
          </a:p>
          <a:p>
            <a:r>
              <a:rPr lang="en-US" sz="1400" b="0" dirty="0"/>
              <a:t>Bình chọn: 'Hôm nay bao nhiêu người bệnh ICU có cân bằng dịch dương?' Mong đợi: cắt ngang.</a:t>
            </a:r>
          </a:p>
          <a:p>
            <a:r>
              <a:rPr lang="en-US" sz="1400" b="0" dirty="0"/>
              <a:t>Thời gian: 5.5 phút. Kết thúc phần 3.2.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Khoảng 2 phút mỗi câu, rồi 5 phút cho câu hỏi của chính học viên.</a:t>
            </a:r>
          </a:p>
          <a:p>
            <a:r>
              <a:rPr lang="en-US" sz="1400" b="0" dirty="0"/>
              <a:t>Đáp án: 1 RCT không kém hơn. 2 RCT theo cụm. 3 chuỗi thời gian ngắt quãng. 4 phỏng vấn sâu hoặc thảo luận nhóm. 5 nghiên cứu thí điểm hoặc khả thi.</a:t>
            </a:r>
          </a:p>
          <a:p>
            <a:r>
              <a:rPr lang="en-US" sz="1400" b="0" dirty="0"/>
              <a:t>Sau đó mời 4-5 người nói: 'thiết kế của tôi là ..., nên tôi được nói gây ra / có liên quan'.</a:t>
            </a:r>
          </a:p>
          <a:p>
            <a:r>
              <a:rPr lang="en-US" sz="1400" b="0" dirty="0"/>
              <a:t>Chú ý: chọn RCT cho câu hỏi về tác hại hay tiên lượng. Hỏi: có thể phân nhóm phơi nhiễm này một cách có đạo đức không?</a:t>
            </a:r>
          </a:p>
          <a:p>
            <a:r>
              <a:rPr lang="en-US" sz="1400" b="0" dirty="0"/>
              <a:t>Đáp án: s3_solutions_VN, Phần B.</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dựng đề cương 3 bắt đầu ở đây (slide này 3 phút, rồi 42 phút).</a:t>
            </a:r>
          </a:p>
          <a:p>
            <a:r>
              <a:rPr lang="en-US" sz="1400" b="0" dirty="0"/>
              <a:t>Boulet chọn người 18-85 tuổi trong vòng 24 giờ dùng vận mạch, loại người cần lọc máu trong 24 giờ, bệnh thận giai đoạn cuối và BMI dưới 18.</a:t>
            </a:r>
          </a:p>
          <a:p>
            <a:r>
              <a:rPr lang="en-US" sz="1400" b="0" dirty="0"/>
              <a:t>'Dưới 18 tuổi' không phải tiêu chuẩn loại trừ, chỉ là không được chọn.</a:t>
            </a:r>
          </a:p>
          <a:p>
            <a:r>
              <a:rPr lang="en-US" sz="1400" b="0" dirty="0"/>
              <a:t>Hỏi: 'Một tiêu chuẩn loại trừ tốt cho nghiên cứu dịch truyền?' Mong đợi: lọc máu mạn tính, chỉ chăm sóc giảm nhẹ.</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15 phút: điền Phần 2a cho ví dụ xuyên suốt trên màn hình, vừa làm vừa nói. 20 phút: mỗi người tự viết. 7 phút: ba bạn tình nguyện đọc thiết kế và lý do chọn.</a:t>
            </a:r>
          </a:p>
          <a:p>
            <a:r>
              <a:rPr lang="en-US" sz="1400" b="0" dirty="0"/>
              <a:t>Mẫu: thuần tập hồi cứu, một ICU người lớn, 3 năm. RCT không khả thi khi không có kinh phí, nên viết 'có liên quan'. Bản đầy đủ trong s3_solutions_VN, Phần C.</a:t>
            </a:r>
          </a:p>
          <a:p>
            <a:r>
              <a:rPr lang="en-US" sz="1400" b="0" dirty="0"/>
              <a:t>Chú ý: chọn RCT cho phơi nhiễm không thể phân nhóm, bối cảnh quá lớn, tiêu chuẩn loại trừ lặp lại tiêu chuẩn chọn.</a:t>
            </a:r>
          </a:p>
          <a:p>
            <a:r>
              <a:rPr lang="en-US" sz="1400" b="0" dirty="0"/>
              <a:t>Nhắc khi còn 10 phút và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Mời ba bạn tình nguyện giải thích mỗi người một thẻ. Nếu thiếu thời gian, chỉ đọc thông điệp chính.</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câu hỏi cuối buổi: thuần tập. Chỉ được nói 'có liên quan' (nhiễu do chỉ định, thứ Bảy tuần sau).</a:t>
            </a:r>
          </a:p>
          <a:p>
            <a:r>
              <a:rPr lang="en-US" sz="1400" b="0" dirty="0"/>
              <a:t>Mở đầu Buổi 4 bằng ba câu trả lời (ẩn tên).</a:t>
            </a:r>
          </a:p>
          <a:p>
            <a:r>
              <a:rPr lang="en-US" sz="1400" b="0" dirty="0"/>
              <a:t>Thời gian: 3 phút. Kết thúc lúc 22:30.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Tùy chọn. Dùng nếu còn thời gian, hoặc để tự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Dùng nếu bài Gọi tên thiết kế cho thấy lớp còn lúng túng. Sau đó nhờ học viên thử với một bài trong danh sách tài liệu của mình.</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Chú ý tình huống C: có hai nhóm, nhưng chuyên viên vật lý trị liệu quyết định, không phải ngẫu nhiên.</a:t>
            </a:r>
          </a:p>
          <a:p>
            <a:r>
              <a:rPr lang="en-US" sz="1400" b="0" dirty="0"/>
              <a:t>Thời gian: 3 phút kể cả đáp án,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Có hai nhóm chưa phải là thử nghiệm. Chọn theo kết cục = bệnh-chứng, theo phơi nhiễm = thuần tập.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A thử nghiệm không kém hơn, ngưỡng định trước. B RCT theo cụm. C phỏng vấn sâu hoặc thảo luận nhóm.</a:t>
            </a:r>
          </a:p>
          <a:p>
            <a:r>
              <a:rPr lang="en-US" sz="1400" b="0" dirty="0"/>
              <a:t>Thời gian: 3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Nhóm chứng từ cùng khoa, cùng thời gian. Đo phơi nhiễm như nhau ở hai nhóm. Không ghép cặp quá mức.</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Thử nghiệm vượt trội thất bại không chứng minh tương đương: không có ngưỡng.</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Nhiều điểm dữ liệu hơn, chuỗi đối chứng và ghi lại các thay đổi khác. Hướng dẫn báo cáo: SQUIRE 2.0.</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Để trên màn hình khi học viên rời phòng họp.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2.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3.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 Id="rId4" Type="http://schemas.openxmlformats.org/officeDocument/2006/relationships/image" Target="../media/image4.pn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5.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6.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7.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8.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9.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0.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11.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768613" y="4410394"/>
            <a:ext cx="2566257" cy="2447606"/>
          </a:xfrm>
          <a:prstGeom prst="rect">
            <a:avLst/>
          </a:prstGeom>
        </p:spPr>
      </p:pic>
      <p:sp>
        <p:nvSpPr>
          <p:cNvPr id="3" name="Title"/>
          <p:cNvSpPr txBox="1"/>
          <p:nvPr/>
        </p:nvSpPr>
        <p:spPr>
          <a:xfrm>
            <a:off x="0" y="1500000"/>
            <a:ext cx="12192000" cy="1700000"/>
          </a:xfrm>
          <a:prstGeom prst="rect">
            <a:avLst/>
          </a:prstGeom>
          <a:noFill/>
          <a:ln>
            <a:noFill/>
          </a:ln>
        </p:spPr>
        <p:txBody>
          <a:bodyPr wrap="square" lIns="457200" tIns="0" rIns="457200" bIns="0" rtlCol="0" anchor="ctr"/>
          <a:lstStyle/>
          <a:p>
            <a:pPr marL="0" indent="0" algn="ctr">
              <a:buNone/>
            </a:pPr>
            <a:r>
              <a:rPr lang="en-US" sz="4000" b="1" dirty="0">
                <a:solidFill>
                  <a:srgbClr val="006666"/>
                </a:solidFill>
                <a:latin typeface="Arial"/>
                <a:cs typeface="Arial"/>
              </a:rPr>
              <a:t>Nền tảng Nghiên cứu Lâm sàng</a:t>
            </a:r>
          </a:p>
        </p:txBody>
      </p:sp>
      <p:sp>
        <p:nvSpPr>
          <p:cNvPr id="5" name="Subtitle"/>
          <p:cNvSpPr txBox="1"/>
          <p:nvPr/>
        </p:nvSpPr>
        <p:spPr>
          <a:xfrm>
            <a:off x="0" y="3250000"/>
            <a:ext cx="12192000" cy="1000000"/>
          </a:xfrm>
          <a:prstGeom prst="rect">
            <a:avLst/>
          </a:prstGeom>
          <a:noFill/>
          <a:ln>
            <a:noFill/>
          </a:ln>
        </p:spPr>
        <p:txBody>
          <a:bodyPr wrap="square" lIns="457200" tIns="45720" rIns="457200" bIns="45720" rtlCol="0" anchor="t"/>
          <a:lstStyle/>
          <a:p>
            <a:pPr marL="0" indent="0" algn="ctr">
              <a:spcBef>
                <a:spcPts val="440"/>
              </a:spcBef>
              <a:buNone/>
            </a:pPr>
            <a:r>
              <a:rPr lang="en-US" sz="2000" dirty="0">
                <a:solidFill>
                  <a:srgbClr val="000000"/>
                </a:solidFill>
                <a:latin typeface="Arial"/>
                <a:cs typeface="Arial"/>
              </a:rPr>
              <a:t>Cấp độ 1: Từ câu hỏi lâm sàng đến công bố</a:t>
            </a:r>
          </a:p>
          <a:p>
            <a:pPr marL="0" indent="0" algn="ctr">
              <a:spcBef>
                <a:spcPts val="440"/>
              </a:spcBef>
              <a:buNone/>
            </a:pPr>
            <a:r>
              <a:rPr lang="en-US" sz="2000" dirty="0">
                <a:solidFill>
                  <a:srgbClr val="000000"/>
                </a:solidFill>
                <a:latin typeface="Arial"/>
                <a:cs typeface="Arial"/>
              </a:rPr>
              <a:t>8 buổi tối trực tuyến, 19:30 đến 22:30, 24 giờ học</a:t>
            </a:r>
          </a:p>
          <a:p>
            <a:pPr marL="0" indent="0" algn="ctr">
              <a:spcBef>
                <a:spcPts val="440"/>
              </a:spcBef>
              <a:buNone/>
            </a:pPr>
            <a:r>
              <a:rPr lang="en-US" sz="2000" dirty="0">
                <a:solidFill>
                  <a:srgbClr val="000000"/>
                </a:solidFill>
                <a:latin typeface="Arial"/>
                <a:cs typeface="Arial"/>
              </a:rPr>
              <a:t>Giảng viên: Vương Mỹ Lượng &amp; Bernard Osang'ir</a:t>
            </a:r>
          </a:p>
        </p:txBody>
      </p:sp>
      <p:sp>
        <p:nvSpPr>
          <p:cNvPr id="6" name="Date"/>
          <p:cNvSpPr txBox="1"/>
          <p:nvPr/>
        </p:nvSpPr>
        <p:spPr>
          <a:xfrm>
            <a:off x="7902094" y="5833766"/>
            <a:ext cx="3465009" cy="326571"/>
          </a:xfrm>
          <a:prstGeom prst="rect">
            <a:avLst/>
          </a:prstGeom>
          <a:noFill/>
          <a:ln>
            <a:noFill/>
          </a:ln>
        </p:spPr>
        <p:txBody>
          <a:bodyPr wrap="square" lIns="0" tIns="0" rIns="0" bIns="0" rtlCol="0" anchor="b"/>
          <a:lstStyle/>
          <a:p>
            <a:pPr marL="0" indent="0" algn="r">
              <a:buNone/>
            </a:pPr>
            <a:r>
              <a:rPr lang="en-US" sz="1400" b="1" dirty="0">
                <a:solidFill>
                  <a:srgbClr val="000000"/>
                </a:solidFill>
                <a:latin typeface="Arial"/>
                <a:cs typeface="Arial"/>
              </a:rPr>
              <a:t>Ngày: 14/11/2026</a:t>
            </a:r>
          </a:p>
        </p:txBody>
      </p:sp>
      <p:sp>
        <p:nvSpPr>
          <p:cNvPr id="7"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Buổi 3 · Thiết kế: chọn đúng loại nghiên cứu</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3 · Thứ Bảy · trực tuyến, 19:30-22:30</a:t>
            </a:r>
          </a:p>
          <a:p>
            <a:pPr>
              <a:buNone/>
            </a:pPr>
            <a:endParaRPr sz="800"/>
          </a:p>
          <a:p>
            <a:pPr marL="274320" indent="-274320" algn="l">
              <a:spcBef>
                <a:spcPts val="440"/>
              </a:spcBef>
              <a:buFont typeface="Arial"/>
              <a:buChar char="•"/>
            </a:pPr>
            <a:r>
              <a:rPr lang="en-US" sz="1900" dirty="0">
                <a:solidFill>
                  <a:srgbClr val="000000"/>
                </a:solidFill>
                <a:latin typeface="Arial"/>
                <a:cs typeface="Arial"/>
              </a:rPr>
              <a:t>Câu hỏi ôn tập Buổi 2 (10 phút)</a:t>
            </a:r>
          </a:p>
          <a:p>
            <a:pPr marL="274320" indent="-274320" algn="l">
              <a:spcBef>
                <a:spcPts val="440"/>
              </a:spcBef>
              <a:buFont typeface="Arial"/>
              <a:buChar char="•"/>
            </a:pPr>
            <a:r>
              <a:rPr lang="en-US" sz="1900" dirty="0">
                <a:solidFill>
                  <a:srgbClr val="000000"/>
                </a:solidFill>
                <a:latin typeface="Arial"/>
                <a:cs typeface="Arial"/>
              </a:rPr>
              <a:t>3.1  Thiết kế nghiên cứu qua hình ảnh (45 phút)</a:t>
            </a:r>
          </a:p>
          <a:p>
            <a:pPr marL="274320" indent="-274320" algn="l">
              <a:spcBef>
                <a:spcPts val="440"/>
              </a:spcBef>
              <a:buFont typeface="Arial"/>
              <a:buChar char="•"/>
            </a:pPr>
            <a:r>
              <a:rPr lang="en-US" sz="1900" dirty="0">
                <a:solidFill>
                  <a:srgbClr val="000000"/>
                </a:solidFill>
                <a:latin typeface="Arial"/>
                <a:cs typeface="Arial"/>
              </a:rPr>
              <a:t>Bài tập cả lớp: Gọi tên thiết kế (15 phút)</a:t>
            </a:r>
          </a:p>
          <a:p>
            <a:pPr marL="274320" indent="-274320" algn="l">
              <a:spcBef>
                <a:spcPts val="440"/>
              </a:spcBef>
              <a:buFont typeface="Arial"/>
              <a:buChar char="•"/>
            </a:pPr>
            <a:r>
              <a:rPr lang="en-US" sz="1900" dirty="0">
                <a:solidFill>
                  <a:srgbClr val="000000"/>
                </a:solidFill>
                <a:latin typeface="Arial"/>
                <a:cs typeface="Arial"/>
              </a:rPr>
              <a:t>Giải lao (15 phút)</a:t>
            </a:r>
          </a:p>
          <a:p>
            <a:pPr marL="274320" indent="-274320" algn="l">
              <a:spcBef>
                <a:spcPts val="440"/>
              </a:spcBef>
              <a:buFont typeface="Arial"/>
              <a:buChar char="•"/>
            </a:pPr>
            <a:r>
              <a:rPr lang="en-US" sz="1900" dirty="0">
                <a:solidFill>
                  <a:srgbClr val="000000"/>
                </a:solidFill>
                <a:latin typeface="Arial"/>
                <a:cs typeface="Arial"/>
              </a:rPr>
              <a:t>3.2  Các thiết kế khác: biến thể thử nghiệm, thí điểm, cải tiến chất lượng, định tính (30 phút)</a:t>
            </a:r>
          </a:p>
          <a:p>
            <a:pPr marL="274320" indent="-274320" algn="l">
              <a:spcBef>
                <a:spcPts val="440"/>
              </a:spcBef>
              <a:buFont typeface="Arial"/>
              <a:buChar char="•"/>
            </a:pPr>
            <a:r>
              <a:rPr lang="en-US" sz="1900" dirty="0">
                <a:solidFill>
                  <a:srgbClr val="000000"/>
                </a:solidFill>
                <a:latin typeface="Arial"/>
                <a:cs typeface="Arial"/>
              </a:rPr>
              <a:t>Bài tập cả lớp: chọn thiết kế (15 phút)</a:t>
            </a:r>
          </a:p>
          <a:p>
            <a:pPr marL="274320" indent="-274320" algn="l">
              <a:spcBef>
                <a:spcPts val="440"/>
              </a:spcBef>
              <a:buFont typeface="Arial"/>
              <a:buChar char="•"/>
            </a:pPr>
            <a:r>
              <a:rPr lang="en-US" sz="1900" dirty="0">
                <a:solidFill>
                  <a:srgbClr val="000000"/>
                </a:solidFill>
                <a:latin typeface="Arial"/>
                <a:cs typeface="Arial"/>
              </a:rPr>
              <a:t>Xây dựng đề cương 3: thiết kế, bối cảnh và đối tượng (45 phút), rồi tổng kết (5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Ôn tập: ba câu hỏi về Buổi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9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C1. Tìm kiếm PubMed ra 3000 bài. Thêm một khái niệm bằng AND, hay một từ đồng nghĩa bằng OR?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C2. Sau tiêu đề và tóm tắt, đọc phần nào tiếp theo trong bài báo?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C3. Một tóm tắt viết 'có xu hướng giảm tử vong (p = 0.42)'. Điều này gọi là gì?</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Sau đó đọc lại câu hỏi nghiên cứu của chính bạn (Phần 1 đề cương, làm ở Buổi 1 và 2): 3 phút</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Cách thực hiện</a:t>
            </a:r>
          </a:p>
          <a:p>
            <a:pPr marL="0" indent="0" algn="ctr">
              <a:lnSpc>
                <a:spcPct val="104000"/>
              </a:lnSpc>
              <a:spcBef>
                <a:spcPts val="300"/>
              </a:spcBef>
              <a:buNone/>
            </a:pPr>
            <a:r>
              <a:rPr lang="en-US" sz="1500" dirty="0">
                <a:solidFill>
                  <a:srgbClr val="000000"/>
                </a:solidFill>
                <a:latin typeface="Arial"/>
                <a:cs typeface="Arial"/>
              </a:rPr>
              <a:t>Trả lời qua bình chọn (30 giây/câu)</a:t>
            </a:r>
          </a:p>
          <a:p>
            <a:pPr marL="0" indent="0" algn="ctr">
              <a:lnSpc>
                <a:spcPct val="104000"/>
              </a:lnSpc>
              <a:spcBef>
                <a:spcPts val="300"/>
              </a:spcBef>
              <a:buNone/>
            </a:pPr>
            <a:r>
              <a:rPr lang="en-US" sz="1500" dirty="0">
                <a:solidFill>
                  <a:srgbClr val="000000"/>
                </a:solidFill>
                <a:latin typeface="Arial"/>
                <a:cs typeface="Arial"/>
              </a:rPr>
              <a:t>Xem kết quả, rồi công bố đáp án</a:t>
            </a:r>
          </a:p>
          <a:p>
            <a:pPr marL="0" indent="0" algn="ctr">
              <a:lnSpc>
                <a:spcPct val="104000"/>
              </a:lnSpc>
              <a:spcBef>
                <a:spcPts val="300"/>
              </a:spcBef>
              <a:buNone/>
            </a:pPr>
            <a:r>
              <a:rPr lang="en-US" sz="1500" dirty="0">
                <a:solidFill>
                  <a:srgbClr val="000000"/>
                </a:solidFill>
                <a:latin typeface="Arial"/>
                <a:cs typeface="Arial"/>
              </a:rPr>
              <a:t>Không chấm điểm, chỉ khởi động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Câu trả lời bình chọn, và câu hỏi của bạn đã được đọc lại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ngày hôm nay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Những từ sẽ dùng hôm nay (không cần học thuộc định nghĩa)</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Các thành phần</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Phơi nhiễm: điều có trước</a:t>
            </a:r>
          </a:p>
          <a:p>
            <a:pPr marL="0" indent="0" algn="ctr">
              <a:lnSpc>
                <a:spcPct val="104000"/>
              </a:lnSpc>
              <a:spcBef>
                <a:spcPts val="400"/>
              </a:spcBef>
              <a:buNone/>
            </a:pPr>
            <a:r>
              <a:rPr lang="en-US" sz="1600" dirty="0">
                <a:solidFill>
                  <a:srgbClr val="000000"/>
                </a:solidFill>
                <a:latin typeface="Arial"/>
                <a:cs typeface="Arial"/>
              </a:rPr>
              <a:t>Kết cục: điều đếm sau đó</a:t>
            </a:r>
          </a:p>
          <a:p>
            <a:pPr marL="0" indent="0" algn="ctr">
              <a:lnSpc>
                <a:spcPct val="104000"/>
              </a:lnSpc>
              <a:spcBef>
                <a:spcPts val="400"/>
              </a:spcBef>
              <a:buNone/>
            </a:pPr>
            <a:r>
              <a:rPr lang="en-US" sz="1600" dirty="0">
                <a:solidFill>
                  <a:srgbClr val="000000"/>
                </a:solidFill>
                <a:latin typeface="Arial"/>
                <a:cs typeface="Arial"/>
              </a:rPr>
              <a:t>Nhóm so sánh</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Ai quyết định?</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Quan sát: chỉ theo dõi</a:t>
            </a:r>
          </a:p>
          <a:p>
            <a:pPr marL="0" indent="0" algn="ctr">
              <a:lnSpc>
                <a:spcPct val="104000"/>
              </a:lnSpc>
              <a:spcBef>
                <a:spcPts val="400"/>
              </a:spcBef>
              <a:buNone/>
            </a:pPr>
            <a:r>
              <a:rPr lang="en-US" sz="1600" dirty="0">
                <a:solidFill>
                  <a:srgbClr val="000000"/>
                </a:solidFill>
                <a:latin typeface="Arial"/>
                <a:cs typeface="Arial"/>
              </a:rPr>
              <a:t>Thực nghiệm: nhà nghiên cứu chỉ định</a:t>
            </a:r>
          </a:p>
          <a:p>
            <a:pPr marL="0" indent="0" algn="ctr">
              <a:lnSpc>
                <a:spcPct val="104000"/>
              </a:lnSpc>
              <a:spcBef>
                <a:spcPts val="400"/>
              </a:spcBef>
              <a:buNone/>
            </a:pPr>
            <a:r>
              <a:rPr lang="en-US" sz="1600" dirty="0">
                <a:solidFill>
                  <a:srgbClr val="000000"/>
                </a:solidFill>
                <a:latin typeface="Arial"/>
                <a:cs typeface="Arial"/>
              </a:rPr>
              <a:t>Ngẫu nhiên: may rủi chỉ định</a:t>
            </a:r>
          </a:p>
        </p:txBody>
      </p:sp>
      <p:sp>
        <p:nvSpPr>
          <p:cNvPr id="74" name="CardHead"/>
          <p:cNvSpPr/>
          <p:nvPr/>
        </p:nvSpPr>
        <p:spPr>
          <a:xfrm>
            <a:off x="61960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Theo chiều thời gian nào?</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Cắt ngang: đo tại một thời điểm</a:t>
            </a:r>
          </a:p>
          <a:p>
            <a:pPr marL="0" indent="0" algn="ctr">
              <a:lnSpc>
                <a:spcPct val="104000"/>
              </a:lnSpc>
              <a:spcBef>
                <a:spcPts val="400"/>
              </a:spcBef>
              <a:buNone/>
            </a:pPr>
            <a:r>
              <a:rPr lang="en-US" sz="1600" dirty="0">
                <a:solidFill>
                  <a:srgbClr val="000000"/>
                </a:solidFill>
                <a:latin typeface="Arial"/>
                <a:cs typeface="Arial"/>
              </a:rPr>
              <a:t>Bệnh–chứng: nhìn ngược lại</a:t>
            </a:r>
          </a:p>
          <a:p>
            <a:pPr marL="0" indent="0" algn="ctr">
              <a:lnSpc>
                <a:spcPct val="104000"/>
              </a:lnSpc>
              <a:spcBef>
                <a:spcPts val="400"/>
              </a:spcBef>
              <a:buNone/>
            </a:pPr>
            <a:r>
              <a:rPr lang="en-US" sz="1600" dirty="0">
                <a:solidFill>
                  <a:srgbClr val="000000"/>
                </a:solidFill>
                <a:latin typeface="Arial"/>
                <a:cs typeface="Arial"/>
              </a:rPr>
              <a:t>Thuần tập: theo dõi về sau</a:t>
            </a:r>
          </a:p>
        </p:txBody>
      </p:sp>
      <p:sp>
        <p:nvSpPr>
          <p:cNvPr id="76" name="CardHead"/>
          <p:cNvSpPr/>
          <p:nvPr/>
        </p:nvSpPr>
        <p:spPr>
          <a:xfrm>
            <a:off x="9065400" y="1973573"/>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Sau giải lao</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Thử nghiệm theo cụm, bắt chéo</a:t>
            </a:r>
          </a:p>
          <a:p>
            <a:pPr marL="0" indent="0" algn="ctr">
              <a:lnSpc>
                <a:spcPct val="104000"/>
              </a:lnSpc>
              <a:spcBef>
                <a:spcPts val="400"/>
              </a:spcBef>
              <a:buNone/>
            </a:pPr>
            <a:r>
              <a:rPr lang="en-US" sz="1600" dirty="0">
                <a:solidFill>
                  <a:srgbClr val="000000"/>
                </a:solidFill>
                <a:latin typeface="Arial"/>
                <a:cs typeface="Arial"/>
              </a:rPr>
              <a:t>Thử nghiệm không kém hơn, thí điểm</a:t>
            </a:r>
          </a:p>
          <a:p>
            <a:pPr marL="0" indent="0" algn="ctr">
              <a:lnSpc>
                <a:spcPct val="104000"/>
              </a:lnSpc>
              <a:spcBef>
                <a:spcPts val="400"/>
              </a:spcBef>
              <a:buNone/>
            </a:pPr>
            <a:r>
              <a:rPr lang="en-US" sz="1600" dirty="0">
                <a:solidFill>
                  <a:srgbClr val="000000"/>
                </a:solidFill>
                <a:latin typeface="Arial"/>
                <a:cs typeface="Arial"/>
              </a:rPr>
              <a:t>Chuỗi thời gian, định tính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Hai câu hỏi gọi tên hầu hết thiết kế: ai quyết định phơi nhiễm, và theo chiều thời gian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Một câu hỏi, hai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Ở người lớn bị sốc nhiễm khuẩn, hạn chế dịch truyền có giảm tử vong ngày 28 không? Cả hai bài đã gửi qua email trước Buổi 1</a:t>
            </a:r>
          </a:p>
        </p:txBody>
      </p:sp>
      <p:sp>
        <p:nvSpPr>
          <p:cNvPr id="70" name="CardHead"/>
          <p:cNvSpPr/>
          <p:nvPr/>
        </p:nvSpPr>
        <p:spPr>
          <a:xfrm>
            <a:off x="457200" y="2006879"/>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báo 1: Boulet 2024, thử nghiệm ngẫu nhiên</a:t>
            </a:r>
          </a:p>
        </p:txBody>
      </p:sp>
      <p:sp>
        <p:nvSpPr>
          <p:cNvPr id="71" name="CardBody"/>
          <p:cNvSpPr/>
          <p:nvPr/>
        </p:nvSpPr>
        <p:spPr>
          <a:xfrm>
            <a:off x="457200" y="2646879"/>
            <a:ext cx="5538800"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50 người bệnh được phân nhóm ngẫu nhiên, 48 được phân tích</a:t>
            </a:r>
          </a:p>
          <a:p>
            <a:pPr marL="0" indent="0" algn="ctr">
              <a:lnSpc>
                <a:spcPct val="104000"/>
              </a:lnSpc>
              <a:spcBef>
                <a:spcPts val="400"/>
              </a:spcBef>
              <a:buNone/>
            </a:pPr>
            <a:r>
              <a:rPr lang="en-US" sz="1750" dirty="0">
                <a:solidFill>
                  <a:srgbClr val="000000"/>
                </a:solidFill>
                <a:latin typeface="Arial"/>
                <a:cs typeface="Arial"/>
              </a:rPr>
              <a:t>Hạn chế dịch (không phải dịch hồi sức) so với thường quy</a:t>
            </a:r>
          </a:p>
          <a:p>
            <a:pPr marL="0" indent="0" algn="ctr">
              <a:lnSpc>
                <a:spcPct val="104000"/>
              </a:lnSpc>
              <a:spcBef>
                <a:spcPts val="400"/>
              </a:spcBef>
              <a:buNone/>
            </a:pPr>
            <a:r>
              <a:rPr lang="en-US" sz="1750" dirty="0">
                <a:solidFill>
                  <a:srgbClr val="000000"/>
                </a:solidFill>
                <a:latin typeface="Arial"/>
                <a:cs typeface="Arial"/>
              </a:rPr>
              <a:t>Kết cục chính: cân bằng dịch ngày 5</a:t>
            </a:r>
          </a:p>
          <a:p>
            <a:pPr marL="0" indent="0" algn="ctr">
              <a:lnSpc>
                <a:spcPct val="104000"/>
              </a:lnSpc>
              <a:spcBef>
                <a:spcPts val="400"/>
              </a:spcBef>
              <a:buNone/>
            </a:pPr>
            <a:r>
              <a:rPr lang="en-US" sz="1750" b="1" dirty="0">
                <a:solidFill>
                  <a:srgbClr val="000000"/>
                </a:solidFill>
                <a:latin typeface="Arial"/>
                <a:cs typeface="Arial"/>
              </a:rPr>
              <a:t>Nhà nghiên cứu chỉ định chiến lược</a:t>
            </a:r>
          </a:p>
        </p:txBody>
      </p:sp>
      <p:sp>
        <p:nvSpPr>
          <p:cNvPr id="72" name="CardHead"/>
          <p:cNvSpPr/>
          <p:nvPr/>
        </p:nvSpPr>
        <p:spPr>
          <a:xfrm>
            <a:off x="6196000" y="2006879"/>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báo 2: Hyun 2023, nghiên cứu thuần tập</a:t>
            </a:r>
          </a:p>
        </p:txBody>
      </p:sp>
      <p:sp>
        <p:nvSpPr>
          <p:cNvPr id="73" name="CardBody"/>
          <p:cNvSpPr/>
          <p:nvPr/>
        </p:nvSpPr>
        <p:spPr>
          <a:xfrm>
            <a:off x="6196000" y="2646879"/>
            <a:ext cx="5538800"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Sổ bộ nhiễm khuẩn huyết: 11981 người bệnh, 20 bệnh viện</a:t>
            </a:r>
          </a:p>
          <a:p>
            <a:pPr marL="0" indent="0" algn="ctr">
              <a:lnSpc>
                <a:spcPct val="104000"/>
              </a:lnSpc>
              <a:spcBef>
                <a:spcPts val="400"/>
              </a:spcBef>
              <a:buNone/>
            </a:pPr>
            <a:r>
              <a:rPr lang="en-US" sz="1750" dirty="0">
                <a:solidFill>
                  <a:srgbClr val="000000"/>
                </a:solidFill>
                <a:latin typeface="Arial"/>
                <a:cs typeface="Arial"/>
              </a:rPr>
              <a:t>Cân bằng dịch dương so với âm, ngày 1-3</a:t>
            </a:r>
          </a:p>
          <a:p>
            <a:pPr marL="0" indent="0" algn="ctr">
              <a:lnSpc>
                <a:spcPct val="104000"/>
              </a:lnSpc>
              <a:spcBef>
                <a:spcPts val="400"/>
              </a:spcBef>
              <a:buNone/>
            </a:pPr>
            <a:r>
              <a:rPr lang="en-US" sz="1750" dirty="0">
                <a:solidFill>
                  <a:srgbClr val="000000"/>
                </a:solidFill>
                <a:latin typeface="Arial"/>
                <a:cs typeface="Arial"/>
              </a:rPr>
              <a:t>Kết cục: tử vong ngày 28 (các cặp đã ghép)</a:t>
            </a:r>
          </a:p>
          <a:p>
            <a:pPr marL="0" indent="0" algn="ctr">
              <a:lnSpc>
                <a:spcPct val="104000"/>
              </a:lnSpc>
              <a:spcBef>
                <a:spcPts val="400"/>
              </a:spcBef>
              <a:buNone/>
            </a:pPr>
            <a:r>
              <a:rPr lang="en-US" sz="1750" b="1" dirty="0">
                <a:solidFill>
                  <a:srgbClr val="000000"/>
                </a:solidFill>
                <a:latin typeface="Arial"/>
                <a:cs typeface="Arial"/>
              </a:rPr>
              <a:t>Nhà nghiên cứu quan sát điều đã xảy ra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Cùng câu hỏi, hai thiết kế: thiết kế quyết định điều được phép kết luận.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3.1  Thiết kế nghiên cứu qua hình ảnh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Nhà nghiên cứu chỉ định phơi nhiễm, hay chỉ quan sát?</a:t>
            </a:r>
          </a:p>
          <a:p>
            <a:pPr marL="0" indent="0" algn="ctr">
              <a:spcBef>
                <a:spcPts val="1200"/>
              </a:spcBef>
              <a:buNone/>
            </a:pPr>
            <a:r>
              <a:rPr lang="en-US" sz="1900" i="1" dirty="0">
                <a:solidFill>
                  <a:srgbClr val="595959"/>
                </a:solidFill>
                <a:latin typeface="Arial"/>
                <a:cs typeface="Arial"/>
              </a:rPr>
              <a:t>Một câu hỏi đó phân loại được gần như mọi thiết kế. (45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Bốn họ thiết kế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80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Mô tả</a:t>
            </a:r>
          </a:p>
        </p:txBody>
      </p:sp>
      <p:sp>
        <p:nvSpPr>
          <p:cNvPr id="71" name="CardBody"/>
          <p:cNvSpPr/>
          <p:nvPr/>
        </p:nvSpPr>
        <p:spPr>
          <a:xfrm>
            <a:off x="4572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Mô tả, không so sánh</a:t>
            </a:r>
          </a:p>
          <a:p>
            <a:pPr marL="0" indent="0" algn="ctr">
              <a:lnSpc>
                <a:spcPct val="104000"/>
              </a:lnSpc>
              <a:spcBef>
                <a:spcPts val="400"/>
              </a:spcBef>
              <a:buNone/>
            </a:pPr>
            <a:r>
              <a:rPr lang="en-US" sz="1600" dirty="0">
                <a:solidFill>
                  <a:srgbClr val="000000"/>
                </a:solidFill>
                <a:latin typeface="Arial"/>
                <a:cs typeface="Arial"/>
              </a:rPr>
              <a:t>Báo cáo ca hoặc loạt ca</a:t>
            </a:r>
          </a:p>
          <a:p>
            <a:pPr marL="0" indent="0" algn="ctr">
              <a:lnSpc>
                <a:spcPct val="104000"/>
              </a:lnSpc>
              <a:spcBef>
                <a:spcPts val="400"/>
              </a:spcBef>
              <a:buNone/>
            </a:pPr>
            <a:r>
              <a:rPr lang="en-US" sz="1600" dirty="0">
                <a:solidFill>
                  <a:srgbClr val="000000"/>
                </a:solidFill>
                <a:latin typeface="Arial"/>
                <a:cs typeface="Arial"/>
              </a:rPr>
              <a:t>Khảo sát cắt ngang</a:t>
            </a:r>
          </a:p>
        </p:txBody>
      </p:sp>
      <p:sp>
        <p:nvSpPr>
          <p:cNvPr id="72" name="CardHead"/>
          <p:cNvSpPr/>
          <p:nvPr/>
        </p:nvSpPr>
        <p:spPr>
          <a:xfrm>
            <a:off x="3326600" y="1680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Quan sát</a:t>
            </a:r>
          </a:p>
        </p:txBody>
      </p:sp>
      <p:sp>
        <p:nvSpPr>
          <p:cNvPr id="73" name="CardBody"/>
          <p:cNvSpPr/>
          <p:nvPr/>
        </p:nvSpPr>
        <p:spPr>
          <a:xfrm>
            <a:off x="33266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So sánh các nhóm, chỉ theo dõi</a:t>
            </a:r>
          </a:p>
          <a:p>
            <a:pPr marL="0" indent="0" algn="ctr">
              <a:lnSpc>
                <a:spcPct val="104000"/>
              </a:lnSpc>
              <a:spcBef>
                <a:spcPts val="400"/>
              </a:spcBef>
              <a:buNone/>
            </a:pPr>
            <a:r>
              <a:rPr lang="en-US" sz="1600" dirty="0">
                <a:solidFill>
                  <a:srgbClr val="000000"/>
                </a:solidFill>
                <a:latin typeface="Arial"/>
                <a:cs typeface="Arial"/>
              </a:rPr>
              <a:t>Bệnh–chứng</a:t>
            </a:r>
          </a:p>
          <a:p>
            <a:pPr marL="0" indent="0" algn="ctr">
              <a:lnSpc>
                <a:spcPct val="104000"/>
              </a:lnSpc>
              <a:spcBef>
                <a:spcPts val="400"/>
              </a:spcBef>
              <a:buNone/>
            </a:pPr>
            <a:r>
              <a:rPr lang="en-US" sz="1600" dirty="0">
                <a:solidFill>
                  <a:srgbClr val="000000"/>
                </a:solidFill>
                <a:latin typeface="Arial"/>
                <a:cs typeface="Arial"/>
              </a:rPr>
              <a:t>Thuần tập (tiến cứu hoặc hồi cứu)</a:t>
            </a:r>
          </a:p>
        </p:txBody>
      </p:sp>
      <p:sp>
        <p:nvSpPr>
          <p:cNvPr id="74" name="CardHead"/>
          <p:cNvSpPr/>
          <p:nvPr/>
        </p:nvSpPr>
        <p:spPr>
          <a:xfrm>
            <a:off x="6196000" y="1680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Thực nghiệm</a:t>
            </a:r>
          </a:p>
        </p:txBody>
      </p:sp>
      <p:sp>
        <p:nvSpPr>
          <p:cNvPr id="75" name="CardBody"/>
          <p:cNvSpPr/>
          <p:nvPr/>
        </p:nvSpPr>
        <p:spPr>
          <a:xfrm>
            <a:off x="61960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So sánh các nhóm, nhà nghiên cứu chỉ định</a:t>
            </a:r>
          </a:p>
          <a:p>
            <a:pPr marL="0" indent="0" algn="ctr">
              <a:lnSpc>
                <a:spcPct val="104000"/>
              </a:lnSpc>
              <a:spcBef>
                <a:spcPts val="400"/>
              </a:spcBef>
              <a:buNone/>
            </a:pPr>
            <a:r>
              <a:rPr lang="en-US" sz="1600" dirty="0">
                <a:solidFill>
                  <a:srgbClr val="000000"/>
                </a:solidFill>
                <a:latin typeface="Arial"/>
                <a:cs typeface="Arial"/>
              </a:rPr>
              <a:t>Thử nghiệm ngẫu nhiên có đối chứng (RCT)</a:t>
            </a:r>
          </a:p>
          <a:p>
            <a:pPr marL="0" indent="0" algn="ctr">
              <a:lnSpc>
                <a:spcPct val="104000"/>
              </a:lnSpc>
              <a:spcBef>
                <a:spcPts val="400"/>
              </a:spcBef>
              <a:buNone/>
            </a:pPr>
            <a:r>
              <a:rPr lang="en-US" sz="1600" dirty="0">
                <a:solidFill>
                  <a:srgbClr val="000000"/>
                </a:solidFill>
                <a:latin typeface="Arial"/>
                <a:cs typeface="Arial"/>
              </a:rPr>
              <a:t>Thử nghiệm không ngẫu nhiên</a:t>
            </a:r>
          </a:p>
        </p:txBody>
      </p:sp>
      <p:sp>
        <p:nvSpPr>
          <p:cNvPr id="76" name="CardHead"/>
          <p:cNvSpPr/>
          <p:nvPr/>
        </p:nvSpPr>
        <p:spPr>
          <a:xfrm>
            <a:off x="9065400" y="1680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Nghiên cứu về các nghiên cứu</a:t>
            </a:r>
          </a:p>
        </p:txBody>
      </p:sp>
      <p:sp>
        <p:nvSpPr>
          <p:cNvPr id="77" name="CardBody"/>
          <p:cNvSpPr/>
          <p:nvPr/>
        </p:nvSpPr>
        <p:spPr>
          <a:xfrm>
            <a:off x="90654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Tổng hợp nhiều nghiên cứu</a:t>
            </a:r>
          </a:p>
          <a:p>
            <a:pPr marL="0" indent="0" algn="ctr">
              <a:lnSpc>
                <a:spcPct val="104000"/>
              </a:lnSpc>
              <a:spcBef>
                <a:spcPts val="400"/>
              </a:spcBef>
              <a:buNone/>
            </a:pPr>
            <a:r>
              <a:rPr lang="en-US" sz="1600" dirty="0">
                <a:solidFill>
                  <a:srgbClr val="000000"/>
                </a:solidFill>
                <a:latin typeface="Arial"/>
                <a:cs typeface="Arial"/>
              </a:rPr>
              <a:t>Tổng quan hệ thống</a:t>
            </a:r>
          </a:p>
          <a:p>
            <a:pPr marL="0" indent="0" algn="ctr">
              <a:lnSpc>
                <a:spcPct val="104000"/>
              </a:lnSpc>
              <a:spcBef>
                <a:spcPts val="400"/>
              </a:spcBef>
              <a:buNone/>
            </a:pPr>
            <a:r>
              <a:rPr lang="en-US" sz="1600" dirty="0">
                <a:solidFill>
                  <a:srgbClr val="000000"/>
                </a:solidFill>
                <a:latin typeface="Arial"/>
                <a:cs typeface="Arial"/>
              </a:rPr>
              <a:t>Phân tích gộp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Thiết kế mô tả thì mô tả. Thiết kế phân tích (quan sát và thực nghiệm) thì so sánh các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Phơi nhiễm và kết cục: hai từ bạn cần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955750"/>
          <a:ext cx="11277600" cy="182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Ví dụ</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Phơi nhiễm (có trước)</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Kết cục (đếm sau đó)</a:t>
                      </a:r>
                    </a:p>
                  </a:txBody>
                  <a:tcPr marL="73152" marR="73152" marT="45720" marB="45720" anchor="ctr">
                    <a:solidFill>
                      <a:srgbClr val="0D7377"/>
                    </a:solidFill>
                  </a:tcPr>
                </a:tc>
              </a:tr>
              <a:tr h="360000">
                <a:tc>
                  <a:txBody>
                    <a:bodyPr/>
                    <a:lstStyle/>
                    <a:p>
                      <a:pPr algn="l"/>
                      <a:r>
                        <a:rPr lang="en-US" sz="1500" dirty="0">
                          <a:solidFill>
                            <a:srgbClr val="000000"/>
                          </a:solidFill>
                          <a:latin typeface="Arial"/>
                          <a:cs typeface="Arial"/>
                        </a:rPr>
                        <a:t>Bài báo 2: Hyun 2023, thuần tập</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Cân bằng dịch dương đến ngày 3</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Tử vong ngày 28</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Bài báo 1: Boulet 2024, RCT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Chiến lược hạn chế dịch</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Cân bằng dịch ngày 5</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Ví dụ khác: nhiễm khuẩn ở ICU</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Nuôi ăn tĩnh mạch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Nhiễm nấm Candida máu</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Ví dụ khác: tại khoa</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Đệm khí</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Loét do tì đè</a:t>
                      </a:r>
                    </a:p>
                  </a:txBody>
                  <a:tcPr marL="73152" marR="73152" marT="45720" marB="45720" anchor="ctr">
                    <a:solidFill>
                      <a:srgbClr val="F5F9FA"/>
                    </a:solidFill>
                  </a:tcPr>
                </a:tc>
              </a:tr>
            </a:tbl>
          </a:graphicData>
        </a:graphic>
      </p:graphicFrame>
      <p:sp>
        <p:nvSpPr>
          <p:cNvPr id="31" name="Caption"/>
          <p:cNvSpPr txBox="1"/>
          <p:nvPr/>
        </p:nvSpPr>
        <p:spPr>
          <a:xfrm>
            <a:off x="457200" y="386575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Phơi nhiễm: một điều trị, chiến lược hoặc yếu tố nguy cơ. Kết cục: tử vong, nhiễm khuẩn, tổn thương, một chỉ số xét nghiệm. Nhóm so sánh: người không có phơi nhiễm, hoặc được chăm sóc thường quy.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Thiết kế mô tả: mô tả, không so sánh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08286"/>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Báo cáo ca hoặc loạt ca</a:t>
            </a:r>
          </a:p>
        </p:txBody>
      </p:sp>
      <p:sp>
        <p:nvSpPr>
          <p:cNvPr id="71" name="CardBody"/>
          <p:cNvSpPr/>
          <p:nvPr/>
        </p:nvSpPr>
        <p:spPr>
          <a:xfrm>
            <a:off x="457200" y="2348286"/>
            <a:ext cx="5538800" cy="19251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Vài người bệnh đặc biệt, mô tả chi tiết</a:t>
            </a:r>
          </a:p>
          <a:p>
            <a:pPr marL="0" indent="0" algn="ctr">
              <a:lnSpc>
                <a:spcPct val="104000"/>
              </a:lnSpc>
              <a:spcBef>
                <a:spcPts val="400"/>
              </a:spcBef>
              <a:buNone/>
            </a:pPr>
            <a:r>
              <a:rPr lang="en-US" sz="1750" dirty="0">
                <a:solidFill>
                  <a:srgbClr val="000000"/>
                </a:solidFill>
                <a:latin typeface="Arial"/>
                <a:cs typeface="Arial"/>
              </a:rPr>
              <a:t>Không có nhóm so sánh</a:t>
            </a:r>
          </a:p>
          <a:p>
            <a:pPr marL="0" indent="0" algn="ctr">
              <a:lnSpc>
                <a:spcPct val="104000"/>
              </a:lnSpc>
              <a:spcBef>
                <a:spcPts val="400"/>
              </a:spcBef>
              <a:buNone/>
            </a:pPr>
            <a:r>
              <a:rPr lang="en-US" sz="1750" dirty="0">
                <a:solidFill>
                  <a:srgbClr val="000000"/>
                </a:solidFill>
                <a:latin typeface="Arial"/>
                <a:cs typeface="Arial"/>
              </a:rPr>
              <a:t>Gợi ý tưởng nhưng không kiểm định được</a:t>
            </a:r>
          </a:p>
          <a:p>
            <a:pPr marL="0" indent="0" algn="ctr">
              <a:lnSpc>
                <a:spcPct val="104000"/>
              </a:lnSpc>
              <a:spcBef>
                <a:spcPts val="400"/>
              </a:spcBef>
              <a:buNone/>
            </a:pPr>
            <a:r>
              <a:rPr lang="en-US" sz="1750" dirty="0">
                <a:solidFill>
                  <a:srgbClr val="000000"/>
                </a:solidFill>
                <a:latin typeface="Arial"/>
                <a:cs typeface="Arial"/>
              </a:rPr>
              <a:t>vd. những báo cáo đầu tiên về tác hại của thalidomide</a:t>
            </a:r>
          </a:p>
        </p:txBody>
      </p:sp>
      <p:sp>
        <p:nvSpPr>
          <p:cNvPr id="72" name="CardHead"/>
          <p:cNvSpPr/>
          <p:nvPr/>
        </p:nvSpPr>
        <p:spPr>
          <a:xfrm>
            <a:off x="6196000" y="1708286"/>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Nghiên cứu cắt ngang</a:t>
            </a:r>
          </a:p>
        </p:txBody>
      </p:sp>
      <p:sp>
        <p:nvSpPr>
          <p:cNvPr id="73" name="CardBody"/>
          <p:cNvSpPr/>
          <p:nvPr/>
        </p:nvSpPr>
        <p:spPr>
          <a:xfrm>
            <a:off x="6196000" y="2348286"/>
            <a:ext cx="5538800" cy="19251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Khảo sát cả khoa trong một ngày</a:t>
            </a:r>
          </a:p>
          <a:p>
            <a:pPr marL="0" indent="0" algn="ctr">
              <a:lnSpc>
                <a:spcPct val="104000"/>
              </a:lnSpc>
              <a:spcBef>
                <a:spcPts val="400"/>
              </a:spcBef>
              <a:buNone/>
            </a:pPr>
            <a:r>
              <a:rPr lang="en-US" sz="1750" dirty="0">
                <a:solidFill>
                  <a:srgbClr val="000000"/>
                </a:solidFill>
                <a:latin typeface="Arial"/>
                <a:cs typeface="Arial"/>
              </a:rPr>
              <a:t>Cho tỷ lệ hiện mắc: bao nhiêu người đang mắc</a:t>
            </a:r>
          </a:p>
          <a:p>
            <a:pPr marL="0" indent="0" algn="ctr">
              <a:lnSpc>
                <a:spcPct val="104000"/>
              </a:lnSpc>
              <a:spcBef>
                <a:spcPts val="400"/>
              </a:spcBef>
              <a:buNone/>
            </a:pPr>
            <a:r>
              <a:rPr lang="en-US" sz="1750" dirty="0">
                <a:solidFill>
                  <a:srgbClr val="000000"/>
                </a:solidFill>
                <a:latin typeface="Arial"/>
                <a:cs typeface="Arial"/>
              </a:rPr>
              <a:t>Phơi nhiễm và kết cục đo cùng lúc</a:t>
            </a:r>
          </a:p>
          <a:p>
            <a:pPr marL="0" indent="0" algn="ctr">
              <a:lnSpc>
                <a:spcPct val="104000"/>
              </a:lnSpc>
              <a:spcBef>
                <a:spcPts val="400"/>
              </a:spcBef>
              <a:buNone/>
            </a:pPr>
            <a:r>
              <a:rPr lang="en-US" sz="1750" dirty="0">
                <a:solidFill>
                  <a:srgbClr val="000000"/>
                </a:solidFill>
                <a:latin typeface="Arial"/>
                <a:cs typeface="Arial"/>
              </a:rPr>
              <a:t>Không cho biết cái nào có trước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Nghiên cứu mô tả gợi câu hỏi. Không trả lời được 'X có gây ra Y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khác: khảo sát hiện mắc trong một ngày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Một nghiên cứu cắt ngang có thể làm ngay tuần tới</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Chọn ngày</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Mọi người bệnh nội trú ở mọi khoa, một ngày trong tuần</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Khám tất cả</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Hai điều dưỡng được tập huấn, một phiếu chuẩn</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Ghi cả hai</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Loét tì đè (có hoặc không) và loại đệm, trong cùng một lần khám</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Đếm</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vd. 37/412 người bệnh = 9% hiện mắc hôm nay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Đo tại một thời điểm cho tỷ lệ hiện mắc. Không cho biết cái nào có trước.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Bệnh–chứng: bắt đầu từ kết cục, nhìn ngược lại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ICU: đơn vị hồi sức tích cực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Bệnh–chứng: chọn người theo kết cục, rồi so sánh phơi nhiễm trong quá khứ.</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khác: một nghiên cứu bệnh–chứng ở 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Câu hỏi: nuôi ăn tĩnh mạch có phải yếu tố nguy cơ của nhiễm Candida máu ở ICU?</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Tìm ca bệnh</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40 người bệnh ICU nhiễm Candida máu, từ hồ sơ xét nghiệm</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Tìm ca chứng</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80 người bệnh ICU không bị, cùng khoa và cùng tháng</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Nhìn lại</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Có nuôi ăn tĩnh mạch trong 14 ngày trước đó?</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So sánh</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Có phơi nhiễm: 24/40 ca bệnh so với 16/80 ca chứng</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Báo cáo</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Một tỷ số chênh (OR), sẽ tính ở Buổi 4</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Ca bệnh và ca chứng được chọn theo kết cục. Phơi nhiễm đo bằng cách nhìn lại.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Thuần tập: bắt đầu từ phơi nhiễm, theo dõi về sau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Thuần tập: phơi nhiễm trước, kết cục sau, nên trình tự thời gian đúng.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Bài báo 2 (Hyun 2023), từng bước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Đọc như ở Buổi 2. Câu hỏi: cân bằng dịch dương có liên quan với tử vong ngày 28 không?</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Xác định nhóm</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Người lớn nhiễm khuẩn huyết ở 20 bệnh viện, nằm ICU từ 3 ngày trở lên</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Đo phơi nhiễm</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Cân bằng dịch tích lũy ngày 1-3 ở ICU: dương hay âm</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Theo dõi</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Ghi nhận ai tử vong đến ngày 28</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So sánh</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Các cặp đã ghép. Ngày 2: tử vong gấp khoảng 2 lần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Thuần tập chia người theo phơi nhiễm rồi theo dõi đến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RCT (thử nghiệm ngẫu nhiên có đối chứng): phân nhóm ngẫu nhiên, rồi theo dõi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 phân nhóm ngẫu nhiên bằng máy tính trung tâm, tỷ lệ 1:1</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Trong RCT, may rủi (không phải bác sĩ) quyết định ai nhận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Bài báo 1 (Boulet 2024), từng bước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Câu hỏi: hạn chế dịch không phải hồi sức có giảm cân bằng dịch ngày 5 không?</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Tiêu chuẩn</a:t>
            </a:r>
          </a:p>
        </p:txBody>
      </p:sp>
      <p:sp>
        <p:nvSpPr>
          <p:cNvPr id="81" name="StepText"/>
          <p:cNvSpPr/>
          <p:nvPr/>
        </p:nvSpPr>
        <p:spPr>
          <a:xfrm>
            <a:off x="497200" y="2580000"/>
            <a:ext cx="216352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Sốc nhiễm khuẩn, 18-85 tuổi, bắt đầu vận mạch chưa đến 24 giờ</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Đồng ý</a:t>
            </a:r>
          </a:p>
        </p:txBody>
      </p:sp>
      <p:sp>
        <p:nvSpPr>
          <p:cNvPr id="83" name="StepText"/>
          <p:cNvSpPr/>
          <p:nvPr/>
        </p:nvSpPr>
        <p:spPr>
          <a:xfrm>
            <a:off x="2740720" y="2580000"/>
            <a:ext cx="216352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Người bệnh hoặc người đại diện hợp pháp</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Ngẫu nhiên</a:t>
            </a:r>
          </a:p>
        </p:txBody>
      </p:sp>
      <p:sp>
        <p:nvSpPr>
          <p:cNvPr id="85" name="StepText"/>
          <p:cNvSpPr/>
          <p:nvPr/>
        </p:nvSpPr>
        <p:spPr>
          <a:xfrm>
            <a:off x="4984240" y="2580000"/>
            <a:ext cx="216352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Máy tính trung tâm, 1:1, nên không ai đoán được</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Điều trị</a:t>
            </a:r>
          </a:p>
        </p:txBody>
      </p:sp>
      <p:sp>
        <p:nvSpPr>
          <p:cNvPr id="87" name="StepText"/>
          <p:cNvSpPr/>
          <p:nvPr/>
        </p:nvSpPr>
        <p:spPr>
          <a:xfrm>
            <a:off x="7227760" y="2580000"/>
            <a:ext cx="216352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Hạn chế dịch so với thường quy trong 7 ngày</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Đo</a:t>
            </a:r>
          </a:p>
        </p:txBody>
      </p:sp>
      <p:sp>
        <p:nvSpPr>
          <p:cNvPr id="89" name="StepText"/>
          <p:cNvSpPr/>
          <p:nvPr/>
        </p:nvSpPr>
        <p:spPr>
          <a:xfrm>
            <a:off x="9471280" y="2580000"/>
            <a:ext cx="216352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Cân bằng dịch ngày 5. Tử vong ngày 28</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Trong thử nghiệm, nhà nghiên cứu chỉ định phơi nhiễm bằng may rủi.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Tổng quan hệ thống và phân tích gộp: nghiên cứu về các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Tổng quan hệ thống tìm kiếm và thẩm định. Phân tích gộp gộp các con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Hai bài báo nằm ở đâu trên tháp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Đọc một cách thận trọng</a:t>
            </a:r>
          </a:p>
          <a:p>
            <a:pPr marL="274320" indent="-274320" algn="l">
              <a:spcBef>
                <a:spcPts val="440"/>
              </a:spcBef>
              <a:buFont typeface="Arial"/>
              <a:buChar char="•"/>
            </a:pPr>
            <a:r>
              <a:rPr lang="en-US" sz="1450" dirty="0">
                <a:solidFill>
                  <a:srgbClr val="000000"/>
                </a:solidFill>
                <a:latin typeface="Arial"/>
                <a:cs typeface="Arial"/>
              </a:rPr>
              <a:t>TQHT / PTG: tổng quan hệ thống và phân tích gộp</a:t>
            </a:r>
          </a:p>
          <a:p>
            <a:pPr marL="274320" indent="-274320" algn="l">
              <a:spcBef>
                <a:spcPts val="440"/>
              </a:spcBef>
              <a:buFont typeface="Arial"/>
              <a:buChar char="•"/>
            </a:pPr>
            <a:r>
              <a:rPr lang="en-US" sz="1450" dirty="0">
                <a:solidFill>
                  <a:srgbClr val="000000"/>
                </a:solidFill>
                <a:latin typeface="Arial"/>
                <a:cs typeface="Arial"/>
              </a:rPr>
              <a:t>Càng cao = trung bình càng ít sai lệch</a:t>
            </a:r>
          </a:p>
          <a:p>
            <a:pPr marL="274320" indent="-274320" algn="l">
              <a:spcBef>
                <a:spcPts val="440"/>
              </a:spcBef>
              <a:buFont typeface="Arial"/>
              <a:buChar char="•"/>
            </a:pPr>
            <a:r>
              <a:rPr lang="en-US" sz="1450" dirty="0">
                <a:solidFill>
                  <a:srgbClr val="000000"/>
                </a:solidFill>
                <a:latin typeface="Arial"/>
                <a:cs typeface="Arial"/>
              </a:rPr>
              <a:t>Quy tắc kinh nghiệm, không phải định luật</a:t>
            </a:r>
          </a:p>
          <a:p>
            <a:pPr marL="274320" indent="-274320" algn="l">
              <a:spcBef>
                <a:spcPts val="440"/>
              </a:spcBef>
              <a:buFont typeface="Arial"/>
              <a:buChar char="•"/>
            </a:pPr>
            <a:r>
              <a:rPr lang="en-US" sz="1450" dirty="0">
                <a:solidFill>
                  <a:srgbClr val="000000"/>
                </a:solidFill>
                <a:latin typeface="Arial"/>
                <a:cs typeface="Arial"/>
              </a:rPr>
              <a:t>Thuần tập tốt có thể hơn RCT kém</a:t>
            </a:r>
          </a:p>
          <a:p>
            <a:pPr marL="274320" indent="-274320" algn="l">
              <a:spcBef>
                <a:spcPts val="440"/>
              </a:spcBef>
              <a:buFont typeface="Arial"/>
              <a:buChar char="•"/>
            </a:pPr>
            <a:r>
              <a:rPr lang="en-US" sz="1450" dirty="0">
                <a:solidFill>
                  <a:srgbClr val="000000"/>
                </a:solidFill>
                <a:latin typeface="Arial"/>
                <a:cs typeface="Arial"/>
              </a:rPr>
              <a:t>Thiết kế tốt nhất là thiết kế hợp với câu hỏi</a:t>
            </a:r>
          </a:p>
        </p:txBody>
      </p:sp>
      <p:pic>
        <p:nvPicPr>
          <p:cNvPr id="25" name="Figure"/>
          <p:cNvPicPr>
            <a:picLocks noChangeAspect="1"/>
          </p:cNvPicPr>
          <p:nvPr/>
        </p:nvPicPr>
        <p:blipFill>
          <a:blip r:embed="rId4"/>
          <a:stretch>
            <a:fillRect/>
          </a:stretch>
        </p:blipFill>
        <p:spPr>
          <a:xfrm>
            <a:off x="4307200" y="1150000"/>
            <a:ext cx="7275000"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Gọi tên thiết kế bằng ba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Có chỉ định? Có ngẫu nhiên? Theo chiều thời gian nào? Ba câu gọi tên thiết kế.</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Thiết kế nào cũng có đánh đổi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Tóm tắt điểm mạnh và điểm yếu</a:t>
            </a:r>
          </a:p>
        </p:txBody>
      </p:sp>
      <p:sp>
        <p:nvSpPr>
          <p:cNvPr id="70" name="CardHead"/>
          <p:cNvSpPr/>
          <p:nvPr/>
        </p:nvSpPr>
        <p:spPr>
          <a:xfrm>
            <a:off x="457200" y="17873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Cắt ngang</a:t>
            </a:r>
          </a:p>
        </p:txBody>
      </p:sp>
      <p:sp>
        <p:nvSpPr>
          <p:cNvPr id="71" name="CardBody"/>
          <p:cNvSpPr/>
          <p:nvPr/>
        </p:nvSpPr>
        <p:spPr>
          <a:xfrm>
            <a:off x="457200" y="2427306"/>
            <a:ext cx="2669400" cy="2568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2E8B57"/>
                </a:solidFill>
                <a:latin typeface="Arial"/>
                <a:cs typeface="Arial"/>
              </a:rPr>
              <a:t>+ nhanh, rẻ</a:t>
            </a:r>
          </a:p>
          <a:p>
            <a:pPr marL="0" indent="0" algn="ctr">
              <a:lnSpc>
                <a:spcPct val="104000"/>
              </a:lnSpc>
              <a:spcBef>
                <a:spcPts val="400"/>
              </a:spcBef>
              <a:buNone/>
            </a:pPr>
            <a:r>
              <a:rPr lang="en-US" sz="1600" dirty="0">
                <a:solidFill>
                  <a:srgbClr val="2E8B57"/>
                </a:solidFill>
                <a:latin typeface="Arial"/>
                <a:cs typeface="Arial"/>
              </a:rPr>
              <a:t>+ cho tỷ lệ hiện mắc</a:t>
            </a:r>
          </a:p>
          <a:p>
            <a:pPr marL="0" indent="0" algn="ctr">
              <a:lnSpc>
                <a:spcPct val="104000"/>
              </a:lnSpc>
              <a:spcBef>
                <a:spcPts val="400"/>
              </a:spcBef>
              <a:buNone/>
            </a:pPr>
            <a:r>
              <a:rPr lang="en-US" sz="1600" dirty="0">
                <a:solidFill>
                  <a:srgbClr val="B23B2E"/>
                </a:solidFill>
                <a:latin typeface="Arial"/>
                <a:cs typeface="Arial"/>
              </a:rPr>
              <a:t>- cái nào có trước?</a:t>
            </a:r>
          </a:p>
        </p:txBody>
      </p:sp>
      <p:sp>
        <p:nvSpPr>
          <p:cNvPr id="72" name="CardHead"/>
          <p:cNvSpPr/>
          <p:nvPr/>
        </p:nvSpPr>
        <p:spPr>
          <a:xfrm>
            <a:off x="3326600" y="17873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Bệnh–chứng</a:t>
            </a:r>
          </a:p>
        </p:txBody>
      </p:sp>
      <p:sp>
        <p:nvSpPr>
          <p:cNvPr id="73" name="CardBody"/>
          <p:cNvSpPr/>
          <p:nvPr/>
        </p:nvSpPr>
        <p:spPr>
          <a:xfrm>
            <a:off x="3326600" y="2427306"/>
            <a:ext cx="2669400" cy="2568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2E8B57"/>
                </a:solidFill>
                <a:latin typeface="Arial"/>
                <a:cs typeface="Arial"/>
              </a:rPr>
              <a:t>+ kết cục hiếm</a:t>
            </a:r>
          </a:p>
          <a:p>
            <a:pPr marL="0" indent="0" algn="ctr">
              <a:lnSpc>
                <a:spcPct val="104000"/>
              </a:lnSpc>
              <a:spcBef>
                <a:spcPts val="400"/>
              </a:spcBef>
              <a:buNone/>
            </a:pPr>
            <a:r>
              <a:rPr lang="en-US" sz="1600" dirty="0">
                <a:solidFill>
                  <a:srgbClr val="2E8B57"/>
                </a:solidFill>
                <a:latin typeface="Arial"/>
                <a:cs typeface="Arial"/>
              </a:rPr>
              <a:t>+ ít người bệnh, nhanh</a:t>
            </a:r>
          </a:p>
          <a:p>
            <a:pPr marL="0" indent="0" algn="ctr">
              <a:lnSpc>
                <a:spcPct val="104000"/>
              </a:lnSpc>
              <a:spcBef>
                <a:spcPts val="400"/>
              </a:spcBef>
              <a:buNone/>
            </a:pPr>
            <a:r>
              <a:rPr lang="en-US" sz="1600" dirty="0">
                <a:solidFill>
                  <a:srgbClr val="B23B2E"/>
                </a:solidFill>
                <a:latin typeface="Arial"/>
                <a:cs typeface="Arial"/>
              </a:rPr>
              <a:t>- sai lệch nhớ lại</a:t>
            </a:r>
          </a:p>
          <a:p>
            <a:pPr marL="0" indent="0" algn="ctr">
              <a:lnSpc>
                <a:spcPct val="104000"/>
              </a:lnSpc>
              <a:spcBef>
                <a:spcPts val="400"/>
              </a:spcBef>
              <a:buNone/>
            </a:pPr>
            <a:r>
              <a:rPr lang="en-US" sz="1600" dirty="0">
                <a:solidFill>
                  <a:srgbClr val="B23B2E"/>
                </a:solidFill>
                <a:latin typeface="Arial"/>
                <a:cs typeface="Arial"/>
              </a:rPr>
              <a:t>- chỉ có tỷ số chênh</a:t>
            </a:r>
          </a:p>
        </p:txBody>
      </p:sp>
      <p:sp>
        <p:nvSpPr>
          <p:cNvPr id="74" name="CardHead"/>
          <p:cNvSpPr/>
          <p:nvPr/>
        </p:nvSpPr>
        <p:spPr>
          <a:xfrm>
            <a:off x="6196000" y="17873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Thuần tập</a:t>
            </a:r>
          </a:p>
        </p:txBody>
      </p:sp>
      <p:sp>
        <p:nvSpPr>
          <p:cNvPr id="75" name="CardBody"/>
          <p:cNvSpPr/>
          <p:nvPr/>
        </p:nvSpPr>
        <p:spPr>
          <a:xfrm>
            <a:off x="6196000" y="2427306"/>
            <a:ext cx="2669400" cy="2568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2E8B57"/>
                </a:solidFill>
                <a:latin typeface="Arial"/>
                <a:cs typeface="Arial"/>
              </a:rPr>
              <a:t>+ trình tự thời gian rõ</a:t>
            </a:r>
          </a:p>
          <a:p>
            <a:pPr marL="0" indent="0" algn="ctr">
              <a:lnSpc>
                <a:spcPct val="104000"/>
              </a:lnSpc>
              <a:spcBef>
                <a:spcPts val="400"/>
              </a:spcBef>
              <a:buNone/>
            </a:pPr>
            <a:r>
              <a:rPr lang="en-US" sz="1600" dirty="0">
                <a:solidFill>
                  <a:srgbClr val="2E8B57"/>
                </a:solidFill>
                <a:latin typeface="Arial"/>
                <a:cs typeface="Arial"/>
              </a:rPr>
              <a:t>+ nguy cơ, nhiều kết cục</a:t>
            </a:r>
          </a:p>
          <a:p>
            <a:pPr marL="0" indent="0" algn="ctr">
              <a:lnSpc>
                <a:spcPct val="104000"/>
              </a:lnSpc>
              <a:spcBef>
                <a:spcPts val="400"/>
              </a:spcBef>
              <a:buNone/>
            </a:pPr>
            <a:r>
              <a:rPr lang="en-US" sz="1600" dirty="0">
                <a:solidFill>
                  <a:srgbClr val="B23B2E"/>
                </a:solidFill>
                <a:latin typeface="Arial"/>
                <a:cs typeface="Arial"/>
              </a:rPr>
              <a:t>- chậm nếu tiến cứu</a:t>
            </a:r>
          </a:p>
          <a:p>
            <a:pPr marL="0" indent="0" algn="ctr">
              <a:lnSpc>
                <a:spcPct val="104000"/>
              </a:lnSpc>
              <a:spcBef>
                <a:spcPts val="400"/>
              </a:spcBef>
              <a:buNone/>
            </a:pPr>
            <a:r>
              <a:rPr lang="en-US" sz="1600" dirty="0">
                <a:solidFill>
                  <a:srgbClr val="B23B2E"/>
                </a:solidFill>
                <a:latin typeface="Arial"/>
                <a:cs typeface="Arial"/>
              </a:rPr>
              <a:t>- yếu tố nhiễu</a:t>
            </a:r>
          </a:p>
        </p:txBody>
      </p:sp>
      <p:sp>
        <p:nvSpPr>
          <p:cNvPr id="76" name="CardHead"/>
          <p:cNvSpPr/>
          <p:nvPr/>
        </p:nvSpPr>
        <p:spPr>
          <a:xfrm>
            <a:off x="9065400" y="17873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RCT</a:t>
            </a:r>
          </a:p>
        </p:txBody>
      </p:sp>
      <p:sp>
        <p:nvSpPr>
          <p:cNvPr id="77" name="CardBody"/>
          <p:cNvSpPr/>
          <p:nvPr/>
        </p:nvSpPr>
        <p:spPr>
          <a:xfrm>
            <a:off x="9065400" y="2427306"/>
            <a:ext cx="2669400" cy="2568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2E8B57"/>
                </a:solidFill>
                <a:latin typeface="Arial"/>
                <a:cs typeface="Arial"/>
              </a:rPr>
              <a:t>+ cân bằng cả yếu tố chưa biết</a:t>
            </a:r>
          </a:p>
          <a:p>
            <a:pPr marL="0" indent="0" algn="ctr">
              <a:lnSpc>
                <a:spcPct val="104000"/>
              </a:lnSpc>
              <a:spcBef>
                <a:spcPts val="400"/>
              </a:spcBef>
              <a:buNone/>
            </a:pPr>
            <a:r>
              <a:rPr lang="en-US" sz="1600" dirty="0">
                <a:solidFill>
                  <a:srgbClr val="2E8B57"/>
                </a:solidFill>
                <a:latin typeface="Arial"/>
                <a:cs typeface="Arial"/>
              </a:rPr>
              <a:t>+ mạnh nhất cho nhân quả</a:t>
            </a:r>
          </a:p>
          <a:p>
            <a:pPr marL="0" indent="0" algn="ctr">
              <a:lnSpc>
                <a:spcPct val="104000"/>
              </a:lnSpc>
              <a:spcBef>
                <a:spcPts val="400"/>
              </a:spcBef>
              <a:buNone/>
            </a:pPr>
            <a:r>
              <a:rPr lang="en-US" sz="1600" dirty="0">
                <a:solidFill>
                  <a:srgbClr val="B23B2E"/>
                </a:solidFill>
                <a:latin typeface="Arial"/>
                <a:cs typeface="Arial"/>
              </a:rPr>
              <a:t>- tốn kém, giới hạn đạo đức</a:t>
            </a:r>
          </a:p>
          <a:p>
            <a:pPr marL="0" indent="0" algn="ctr">
              <a:lnSpc>
                <a:spcPct val="104000"/>
              </a:lnSpc>
              <a:spcBef>
                <a:spcPts val="400"/>
              </a:spcBef>
              <a:buNone/>
            </a:pPr>
            <a:r>
              <a:rPr lang="en-US" sz="1600" dirty="0">
                <a:solidFill>
                  <a:srgbClr val="B23B2E"/>
                </a:solidFill>
                <a:latin typeface="Arial"/>
                <a:cs typeface="Arial"/>
              </a:rPr>
              <a:t>- người bệnh được chọn lọc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Không thiết kế nào hoàn hảo: chọn thiết kế có điểm yếu ít hại câu hỏi nhất.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Mỗi thiết kế được kết luận điều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304003"/>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RCT: Bài báo 1, Boulet 2024 (48 người bệnh)</a:t>
            </a:r>
          </a:p>
        </p:txBody>
      </p:sp>
      <p:sp>
        <p:nvSpPr>
          <p:cNvPr id="71" name="CardBody"/>
          <p:cNvSpPr/>
          <p:nvPr/>
        </p:nvSpPr>
        <p:spPr>
          <a:xfrm>
            <a:off x="457200" y="1944003"/>
            <a:ext cx="5538800" cy="313799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2E8B57"/>
                </a:solidFill>
                <a:latin typeface="Arial"/>
                <a:cs typeface="Arial"/>
              </a:rPr>
              <a:t>Có thể kết luận</a:t>
            </a:r>
          </a:p>
          <a:p>
            <a:pPr marL="0" indent="0" algn="ctr">
              <a:lnSpc>
                <a:spcPct val="104000"/>
              </a:lnSpc>
              <a:spcBef>
                <a:spcPts val="400"/>
              </a:spcBef>
              <a:buNone/>
            </a:pPr>
            <a:r>
              <a:rPr lang="en-US" sz="1750" dirty="0">
                <a:solidFill>
                  <a:srgbClr val="000000"/>
                </a:solidFill>
                <a:latin typeface="Arial"/>
                <a:cs typeface="Arial"/>
              </a:rPr>
              <a:t>Hai nhóm giống nhau từ đầu (nhờ ngẫu nhiên)</a:t>
            </a:r>
          </a:p>
          <a:p>
            <a:pPr marL="0" indent="0" algn="ctr">
              <a:lnSpc>
                <a:spcPct val="104000"/>
              </a:lnSpc>
              <a:spcBef>
                <a:spcPts val="400"/>
              </a:spcBef>
              <a:buNone/>
            </a:pPr>
            <a:r>
              <a:rPr lang="en-US" sz="1750" dirty="0">
                <a:solidFill>
                  <a:srgbClr val="000000"/>
                </a:solidFill>
                <a:latin typeface="Arial"/>
                <a:cs typeface="Arial"/>
              </a:rPr>
              <a:t>Khác biệt có thể quy cho chiến lược</a:t>
            </a:r>
          </a:p>
          <a:p>
            <a:pPr marL="0" indent="0" algn="ctr">
              <a:lnSpc>
                <a:spcPct val="104000"/>
              </a:lnSpc>
              <a:spcBef>
                <a:spcPts val="400"/>
              </a:spcBef>
              <a:buNone/>
            </a:pPr>
            <a:r>
              <a:rPr lang="en-US" sz="1750" b="1" dirty="0">
                <a:solidFill>
                  <a:srgbClr val="B23B2E"/>
                </a:solidFill>
                <a:latin typeface="Arial"/>
                <a:cs typeface="Arial"/>
              </a:rPr>
              <a:t>Giới hạn</a:t>
            </a:r>
          </a:p>
          <a:p>
            <a:pPr marL="0" indent="0" algn="ctr">
              <a:lnSpc>
                <a:spcPct val="104000"/>
              </a:lnSpc>
              <a:spcBef>
                <a:spcPts val="400"/>
              </a:spcBef>
              <a:buNone/>
            </a:pPr>
            <a:r>
              <a:rPr lang="en-US" sz="1750" dirty="0">
                <a:solidFill>
                  <a:srgbClr val="000000"/>
                </a:solidFill>
                <a:latin typeface="Arial"/>
                <a:cs typeface="Arial"/>
              </a:rPr>
              <a:t>Quá nhỏ để nói về tử vong (6 so với 6 ca)</a:t>
            </a:r>
          </a:p>
          <a:p>
            <a:pPr marL="0" indent="0" algn="ctr">
              <a:lnSpc>
                <a:spcPct val="104000"/>
              </a:lnSpc>
              <a:spcBef>
                <a:spcPts val="400"/>
              </a:spcBef>
              <a:buNone/>
            </a:pPr>
            <a:r>
              <a:rPr lang="en-US" sz="1750" dirty="0">
                <a:solidFill>
                  <a:srgbClr val="000000"/>
                </a:solidFill>
                <a:latin typeface="Arial"/>
                <a:cs typeface="Arial"/>
              </a:rPr>
              <a:t>Bác sĩ biết nhóm (mù đơn)</a:t>
            </a:r>
          </a:p>
        </p:txBody>
      </p:sp>
      <p:sp>
        <p:nvSpPr>
          <p:cNvPr id="72" name="CardHead"/>
          <p:cNvSpPr/>
          <p:nvPr/>
        </p:nvSpPr>
        <p:spPr>
          <a:xfrm>
            <a:off x="6196000" y="1304003"/>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Thuần tập: Bài báo 2, Hyun 2023 (hàng nghìn người bệnh)</a:t>
            </a:r>
          </a:p>
        </p:txBody>
      </p:sp>
      <p:sp>
        <p:nvSpPr>
          <p:cNvPr id="73" name="CardBody"/>
          <p:cNvSpPr/>
          <p:nvPr/>
        </p:nvSpPr>
        <p:spPr>
          <a:xfrm>
            <a:off x="6196000" y="1944003"/>
            <a:ext cx="5538800" cy="313799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2E8B57"/>
                </a:solidFill>
                <a:latin typeface="Arial"/>
                <a:cs typeface="Arial"/>
              </a:rPr>
              <a:t>Có thể kết luận</a:t>
            </a:r>
          </a:p>
          <a:p>
            <a:pPr marL="0" indent="0" algn="ctr">
              <a:lnSpc>
                <a:spcPct val="104000"/>
              </a:lnSpc>
              <a:spcBef>
                <a:spcPts val="400"/>
              </a:spcBef>
              <a:buNone/>
            </a:pPr>
            <a:r>
              <a:rPr lang="en-US" sz="1750" dirty="0">
                <a:solidFill>
                  <a:srgbClr val="000000"/>
                </a:solidFill>
                <a:latin typeface="Arial"/>
                <a:cs typeface="Arial"/>
              </a:rPr>
              <a:t>Cỡ mẫu lớn, người bệnh thực tế, tử vong ngày 28</a:t>
            </a:r>
          </a:p>
          <a:p>
            <a:pPr marL="0" indent="0" algn="ctr">
              <a:lnSpc>
                <a:spcPct val="104000"/>
              </a:lnSpc>
              <a:spcBef>
                <a:spcPts val="400"/>
              </a:spcBef>
              <a:buNone/>
            </a:pPr>
            <a:r>
              <a:rPr lang="en-US" sz="1750" dirty="0">
                <a:solidFill>
                  <a:srgbClr val="000000"/>
                </a:solidFill>
                <a:latin typeface="Arial"/>
                <a:cs typeface="Arial"/>
              </a:rPr>
              <a:t>'Có liên quan' (ngày 2: tử vong gấp khoảng 2 lần)</a:t>
            </a:r>
          </a:p>
          <a:p>
            <a:pPr marL="0" indent="0" algn="ctr">
              <a:lnSpc>
                <a:spcPct val="104000"/>
              </a:lnSpc>
              <a:spcBef>
                <a:spcPts val="400"/>
              </a:spcBef>
              <a:buNone/>
            </a:pPr>
            <a:r>
              <a:rPr lang="en-US" sz="1750" b="1" dirty="0">
                <a:solidFill>
                  <a:srgbClr val="B23B2E"/>
                </a:solidFill>
                <a:latin typeface="Arial"/>
                <a:cs typeface="Arial"/>
              </a:rPr>
              <a:t>Giới hạn</a:t>
            </a:r>
          </a:p>
          <a:p>
            <a:pPr marL="0" indent="0" algn="ctr">
              <a:lnSpc>
                <a:spcPct val="104000"/>
              </a:lnSpc>
              <a:spcBef>
                <a:spcPts val="400"/>
              </a:spcBef>
              <a:buNone/>
            </a:pPr>
            <a:r>
              <a:rPr lang="en-US" sz="1750" dirty="0">
                <a:solidFill>
                  <a:srgbClr val="000000"/>
                </a:solidFill>
                <a:latin typeface="Arial"/>
                <a:cs typeface="Arial"/>
              </a:rPr>
              <a:t>Không chứng minh được dịch gây tử vong</a:t>
            </a:r>
          </a:p>
          <a:p>
            <a:pPr marL="0" indent="0" algn="ctr">
              <a:lnSpc>
                <a:spcPct val="104000"/>
              </a:lnSpc>
              <a:spcBef>
                <a:spcPts val="400"/>
              </a:spcBef>
              <a:buNone/>
            </a:pPr>
            <a:r>
              <a:rPr lang="en-US" sz="1750" dirty="0">
                <a:solidFill>
                  <a:srgbClr val="000000"/>
                </a:solidFill>
                <a:latin typeface="Arial"/>
                <a:cs typeface="Arial"/>
              </a:rPr>
              <a:t>Người bệnh nặng hơn được truyền nhiều dịch hơn (nhiễu)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RCT có thể nói 'gây ra'. Thuần tập nên nói 'có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nhanh: gây ra hay có liên quan?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Bài báo 1, Boulet (RCT): 'Chiến lược hạn chế không làm giảm cân bằng dịch ngày 5'</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Bài báo 2, Hyun (thuần tập): 'Cân bằng dịch dương gây ra tử vong ngày 28 cao hơn'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Khảo sát một ngày ở ICU: 'Cân bằng dịch dương hôm nay có liên quan với tổn thương thận hôm nay'</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Với mỗi câu</a:t>
            </a:r>
          </a:p>
          <a:p>
            <a:pPr marL="0" indent="0" algn="ctr">
              <a:lnSpc>
                <a:spcPct val="104000"/>
              </a:lnSpc>
              <a:spcBef>
                <a:spcPts val="300"/>
              </a:spcBef>
              <a:buNone/>
            </a:pPr>
            <a:r>
              <a:rPr lang="en-US" sz="1500" dirty="0">
                <a:solidFill>
                  <a:srgbClr val="000000"/>
                </a:solidFill>
                <a:latin typeface="Arial"/>
                <a:cs typeface="Arial"/>
              </a:rPr>
              <a:t>Lời lẽ có hợp với thiết kế không?</a:t>
            </a:r>
          </a:p>
          <a:p>
            <a:pPr marL="0" indent="0" algn="ctr">
              <a:lnSpc>
                <a:spcPct val="104000"/>
              </a:lnSpc>
              <a:spcBef>
                <a:spcPts val="300"/>
              </a:spcBef>
              <a:buNone/>
            </a:pPr>
            <a:r>
              <a:rPr lang="en-US" sz="1500" dirty="0">
                <a:solidFill>
                  <a:srgbClr val="000000"/>
                </a:solidFill>
                <a:latin typeface="Arial"/>
                <a:cs typeface="Arial"/>
              </a:rPr>
              <a:t>Bình chọn: đúng hay sai</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Một phiếu bình chọn (đúng hay sai) cho mỗi câu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tập: Gọi tên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Sáu tóm tắt ngắn về câu hỏi dịch truyền: phiếu bài tập Buổi 3 (file PDF gửi trước buổi học), Phần A</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Giảng viên chiếu từng tóm tắt lên màn hình chia sẻ</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Bình chọn thiết kế</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Một bạn tình nguyện nói cụm từ làm bằng chứng, bật micro</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Dùng ba câu hỏi: có chỉ định? có ngẫu nhiên? theo chiều thời gian nào?</a:t>
            </a:r>
          </a:p>
        </p:txBody>
      </p:sp>
      <p:sp>
        <p:nvSpPr>
          <p:cNvPr id="52" name="Side"/>
          <p:cNvSpPr/>
          <p:nvPr/>
        </p:nvSpPr>
        <p:spPr>
          <a:xfrm>
            <a:off x="7423760" y="1720000"/>
            <a:ext cx="4311040" cy="19680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Dùng cây quyết định</a:t>
            </a:r>
          </a:p>
          <a:p>
            <a:pPr marL="0" indent="0" algn="ctr">
              <a:lnSpc>
                <a:spcPct val="104000"/>
              </a:lnSpc>
              <a:spcBef>
                <a:spcPts val="300"/>
              </a:spcBef>
              <a:buNone/>
            </a:pPr>
            <a:r>
              <a:rPr lang="en-US" sz="1500" dirty="0">
                <a:solidFill>
                  <a:srgbClr val="000000"/>
                </a:solidFill>
                <a:latin typeface="Arial"/>
                <a:cs typeface="Arial"/>
              </a:rPr>
              <a:t>Có chỉ định và ngẫu nhiên: RCT</a:t>
            </a:r>
          </a:p>
          <a:p>
            <a:pPr marL="0" indent="0" algn="ctr">
              <a:lnSpc>
                <a:spcPct val="104000"/>
              </a:lnSpc>
              <a:spcBef>
                <a:spcPts val="300"/>
              </a:spcBef>
              <a:buNone/>
            </a:pPr>
            <a:r>
              <a:rPr lang="en-US" sz="1500" dirty="0">
                <a:solidFill>
                  <a:srgbClr val="000000"/>
                </a:solidFill>
                <a:latin typeface="Arial"/>
                <a:cs typeface="Arial"/>
              </a:rPr>
              <a:t>Kết cục trước, nhìn lại: bệnh–chứng</a:t>
            </a:r>
          </a:p>
          <a:p>
            <a:pPr marL="0" indent="0" algn="ctr">
              <a:lnSpc>
                <a:spcPct val="104000"/>
              </a:lnSpc>
              <a:spcBef>
                <a:spcPts val="300"/>
              </a:spcBef>
              <a:buNone/>
            </a:pPr>
            <a:r>
              <a:rPr lang="en-US" sz="1500" dirty="0">
                <a:solidFill>
                  <a:srgbClr val="000000"/>
                </a:solidFill>
                <a:latin typeface="Arial"/>
                <a:cs typeface="Arial"/>
              </a:rPr>
              <a:t>Phơi nhiễm trước, theo dõi về sau: thuần tập</a:t>
            </a:r>
          </a:p>
          <a:p>
            <a:pPr marL="0" indent="0" algn="ctr">
              <a:lnSpc>
                <a:spcPct val="104000"/>
              </a:lnSpc>
              <a:spcBef>
                <a:spcPts val="300"/>
              </a:spcBef>
              <a:buNone/>
            </a:pPr>
            <a:r>
              <a:rPr lang="en-US" sz="1500" dirty="0">
                <a:solidFill>
                  <a:srgbClr val="000000"/>
                </a:solidFill>
                <a:latin typeface="Arial"/>
                <a:cs typeface="Arial"/>
              </a:rPr>
              <a:t>Cùng thời điểm: cắt ngang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Cả lớp gọi tên sáu thiết kế, mỗi thiết kế có một cụm từ làm bằng chứng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Giải lao</a:t>
            </a:r>
          </a:p>
          <a:p>
            <a:pPr marL="0" indent="0" algn="ctr">
              <a:spcBef>
                <a:spcPts val="600"/>
              </a:spcBef>
              <a:buNone/>
            </a:pPr>
            <a:r>
              <a:rPr lang="en-US" sz="2400" dirty="0">
                <a:solidFill>
                  <a:srgbClr val="595959"/>
                </a:solidFill>
                <a:latin typeface="Arial"/>
                <a:cs typeface="Arial"/>
              </a:rPr>
              <a:t>15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3.2  Các thiết kế khác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Dự án thực tế thường biến đổi các thiết kế cơ bản.</a:t>
            </a:r>
          </a:p>
          <a:p>
            <a:pPr marL="0" indent="0" algn="ctr">
              <a:spcBef>
                <a:spcPts val="1200"/>
              </a:spcBef>
              <a:buNone/>
            </a:pPr>
            <a:r>
              <a:rPr lang="en-US" sz="1900" i="1" dirty="0">
                <a:solidFill>
                  <a:srgbClr val="595959"/>
                </a:solidFill>
                <a:latin typeface="Arial"/>
                <a:cs typeface="Arial"/>
              </a:rPr>
              <a:t>Biến thể thử nghiệm, không kém hơn, thí điểm, thiết kế cải tiến chất lượng và nghiên cứu định tính. (30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Không phải thử nghiệm nào cũng song song: bốn cách bố trí</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479673" y="1150000"/>
            <a:ext cx="9232653"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 phân nhóm ngẫu nhiên. A và B: hai điều trị</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Chọn cách bố trí thử nghiệm phù hợp với can thiệp và đơn vị chăm sóc.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Vượt trội hay không kém hơn (non-inferiority)? Đọc theo ngưỡng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283234" y="1150000"/>
            <a:ext cx="9625531"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KTC: khoảng tin cậy. Kết quả giả định.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Không kém hơn: toàn bộ KTC phải nằm dưới ngưỡng định trước.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Nghiên cứu thí điểm và khả thi: chạy thử trước thử nghiệm lớn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91353"/>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báo 1, Boulet 2024: thử nghiệm thí điểm</a:t>
            </a:r>
          </a:p>
        </p:txBody>
      </p:sp>
      <p:sp>
        <p:nvSpPr>
          <p:cNvPr id="71" name="CardBody"/>
          <p:cNvSpPr/>
          <p:nvPr/>
        </p:nvSpPr>
        <p:spPr>
          <a:xfrm>
            <a:off x="457200" y="2331353"/>
            <a:ext cx="5538800" cy="197594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1201 người bệnh được sàng lọc</a:t>
            </a:r>
          </a:p>
          <a:p>
            <a:pPr marL="0" indent="0" algn="ctr">
              <a:lnSpc>
                <a:spcPct val="104000"/>
              </a:lnSpc>
              <a:spcBef>
                <a:spcPts val="400"/>
              </a:spcBef>
              <a:buNone/>
            </a:pPr>
            <a:r>
              <a:rPr lang="en-US" sz="1750" dirty="0">
                <a:solidFill>
                  <a:srgbClr val="000000"/>
                </a:solidFill>
                <a:latin typeface="Arial"/>
                <a:cs typeface="Arial"/>
              </a:rPr>
              <a:t>50 được phân nhóm ngẫu nhiên (4%)</a:t>
            </a:r>
          </a:p>
          <a:p>
            <a:pPr marL="0" indent="0" algn="ctr">
              <a:lnSpc>
                <a:spcPct val="104000"/>
              </a:lnSpc>
              <a:spcBef>
                <a:spcPts val="400"/>
              </a:spcBef>
              <a:buNone/>
            </a:pPr>
            <a:r>
              <a:rPr lang="en-US" sz="1750" dirty="0">
                <a:solidFill>
                  <a:srgbClr val="000000"/>
                </a:solidFill>
                <a:latin typeface="Arial"/>
                <a:cs typeface="Arial"/>
              </a:rPr>
              <a:t>48 được phân tích (96%)</a:t>
            </a:r>
          </a:p>
          <a:p>
            <a:pPr marL="0" indent="0" algn="ctr">
              <a:lnSpc>
                <a:spcPct val="104000"/>
              </a:lnSpc>
              <a:spcBef>
                <a:spcPts val="400"/>
              </a:spcBef>
              <a:buNone/>
            </a:pPr>
            <a:r>
              <a:rPr lang="en-US" sz="1750" dirty="0">
                <a:solidFill>
                  <a:srgbClr val="000000"/>
                </a:solidFill>
                <a:latin typeface="Arial"/>
                <a:cs typeface="Arial"/>
              </a:rPr>
              <a:t>Khoảng 3 người bệnh mỗi tháng tại 3 ICU</a:t>
            </a:r>
          </a:p>
        </p:txBody>
      </p:sp>
      <p:sp>
        <p:nvSpPr>
          <p:cNvPr id="72" name="CardHead"/>
          <p:cNvSpPr/>
          <p:nvPr/>
        </p:nvSpPr>
        <p:spPr>
          <a:xfrm>
            <a:off x="6196000" y="1691353"/>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Thí điểm hỏi: có làm được thử nghiệm lớn không?</a:t>
            </a:r>
          </a:p>
        </p:txBody>
      </p:sp>
      <p:sp>
        <p:nvSpPr>
          <p:cNvPr id="73" name="CardBody"/>
          <p:cNvSpPr/>
          <p:nvPr/>
        </p:nvSpPr>
        <p:spPr>
          <a:xfrm>
            <a:off x="6196000" y="2331353"/>
            <a:ext cx="5538800" cy="197594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Có tuyển đủ người bệnh không?</a:t>
            </a:r>
          </a:p>
          <a:p>
            <a:pPr marL="0" indent="0" algn="ctr">
              <a:lnSpc>
                <a:spcPct val="104000"/>
              </a:lnSpc>
              <a:spcBef>
                <a:spcPts val="400"/>
              </a:spcBef>
              <a:buNone/>
            </a:pPr>
            <a:r>
              <a:rPr lang="en-US" sz="1750" dirty="0">
                <a:solidFill>
                  <a:srgbClr val="000000"/>
                </a:solidFill>
                <a:latin typeface="Arial"/>
                <a:cs typeface="Arial"/>
              </a:rPr>
              <a:t>Người bệnh hoặc gia đình có đồng ý không?</a:t>
            </a:r>
          </a:p>
          <a:p>
            <a:pPr marL="0" indent="0" algn="ctr">
              <a:lnSpc>
                <a:spcPct val="104000"/>
              </a:lnSpc>
              <a:spcBef>
                <a:spcPts val="400"/>
              </a:spcBef>
              <a:buNone/>
            </a:pPr>
            <a:r>
              <a:rPr lang="en-US" sz="1750" dirty="0">
                <a:solidFill>
                  <a:srgbClr val="000000"/>
                </a:solidFill>
                <a:latin typeface="Arial"/>
                <a:cs typeface="Arial"/>
              </a:rPr>
              <a:t>Nhân viên có thực hiện được can thiệp không?</a:t>
            </a:r>
          </a:p>
          <a:p>
            <a:pPr marL="0" indent="0" algn="ctr">
              <a:lnSpc>
                <a:spcPct val="104000"/>
              </a:lnSpc>
              <a:spcBef>
                <a:spcPts val="400"/>
              </a:spcBef>
              <a:buNone/>
            </a:pPr>
            <a:r>
              <a:rPr lang="en-US" sz="1750" dirty="0">
                <a:solidFill>
                  <a:srgbClr val="000000"/>
                </a:solidFill>
                <a:latin typeface="Arial"/>
                <a:cs typeface="Arial"/>
              </a:rPr>
              <a:t>Kết cục có đo được và đầy đủ không?</a:t>
            </a:r>
          </a:p>
          <a:p>
            <a:pPr marL="0" indent="0" algn="ctr">
              <a:lnSpc>
                <a:spcPct val="104000"/>
              </a:lnSpc>
              <a:spcBef>
                <a:spcPts val="400"/>
              </a:spcBef>
              <a:buNone/>
            </a:pPr>
            <a:r>
              <a:rPr lang="en-US" sz="1750" dirty="0">
                <a:solidFill>
                  <a:srgbClr val="000000"/>
                </a:solidFill>
                <a:latin typeface="Arial"/>
                <a:cs typeface="Arial"/>
              </a:rPr>
              <a:t>Cần số liệu gì cho thử nghiệm lớn?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Thí điểm hỏi 'có làm được không?', không phải 'có hiệu quả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Thiết kế bán thực nghiệm: trước-sau và chuỗi thời gian ngắt quãng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283234" y="1150000"/>
            <a:ext cx="9625531"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Dữ liệu mô phỏng dùng cho giảng dạy. ITS: chuỗi thời gian ngắt quãng. QI: cải tiến chất lượng.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So sánh với xu hướng dự kiến, không phải với một giá trị trung bình 'trước'.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Thiết kế định tính: khi con số không trả lời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Vì sao? Như thế nào? Cảm nhận ra sao? Lời nói, không phải con số, được phân tích theo chủ đề</a:t>
            </a:r>
          </a:p>
        </p:txBody>
      </p:sp>
      <p:sp>
        <p:nvSpPr>
          <p:cNvPr id="70" name="CardHead"/>
          <p:cNvSpPr/>
          <p:nvPr/>
        </p:nvSpPr>
        <p:spPr>
          <a:xfrm>
            <a:off x="457200" y="211115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Phỏng vấn sâu</a:t>
            </a:r>
          </a:p>
        </p:txBody>
      </p:sp>
      <p:sp>
        <p:nvSpPr>
          <p:cNvPr id="71" name="CardBody"/>
          <p:cNvSpPr/>
          <p:nvPr/>
        </p:nvSpPr>
        <p:spPr>
          <a:xfrm>
            <a:off x="457200"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Một người, câu hỏi mở</a:t>
            </a:r>
          </a:p>
          <a:p>
            <a:pPr marL="0" indent="0" algn="ctr">
              <a:lnSpc>
                <a:spcPct val="104000"/>
              </a:lnSpc>
              <a:spcBef>
                <a:spcPts val="400"/>
              </a:spcBef>
              <a:buNone/>
            </a:pPr>
            <a:r>
              <a:rPr lang="en-US" sz="1750" dirty="0">
                <a:solidFill>
                  <a:srgbClr val="000000"/>
                </a:solidFill>
                <a:latin typeface="Arial"/>
                <a:cs typeface="Arial"/>
              </a:rPr>
              <a:t>Thường 30-60 phút</a:t>
            </a:r>
          </a:p>
          <a:p>
            <a:pPr marL="0" indent="0" algn="ctr">
              <a:lnSpc>
                <a:spcPct val="104000"/>
              </a:lnSpc>
              <a:spcBef>
                <a:spcPts val="400"/>
              </a:spcBef>
              <a:buNone/>
            </a:pPr>
            <a:r>
              <a:rPr lang="en-US" sz="1750" dirty="0">
                <a:solidFill>
                  <a:srgbClr val="000000"/>
                </a:solidFill>
                <a:latin typeface="Arial"/>
                <a:cs typeface="Arial"/>
              </a:rPr>
              <a:t>vd. vì sao lượng nước tiểu ban đêm không được ghi</a:t>
            </a:r>
          </a:p>
        </p:txBody>
      </p:sp>
      <p:sp>
        <p:nvSpPr>
          <p:cNvPr id="72" name="CardHead"/>
          <p:cNvSpPr/>
          <p:nvPr/>
        </p:nvSpPr>
        <p:spPr>
          <a:xfrm>
            <a:off x="4283066" y="211115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Thảo luận nhóm</a:t>
            </a:r>
          </a:p>
        </p:txBody>
      </p:sp>
      <p:sp>
        <p:nvSpPr>
          <p:cNvPr id="73" name="CardBody"/>
          <p:cNvSpPr/>
          <p:nvPr/>
        </p:nvSpPr>
        <p:spPr>
          <a:xfrm>
            <a:off x="4283066"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6-8 người cùng thảo luận</a:t>
            </a:r>
          </a:p>
          <a:p>
            <a:pPr marL="0" indent="0" algn="ctr">
              <a:lnSpc>
                <a:spcPct val="104000"/>
              </a:lnSpc>
              <a:spcBef>
                <a:spcPts val="400"/>
              </a:spcBef>
              <a:buNone/>
            </a:pPr>
            <a:r>
              <a:rPr lang="en-US" sz="1750" dirty="0">
                <a:solidFill>
                  <a:srgbClr val="000000"/>
                </a:solidFill>
                <a:latin typeface="Arial"/>
                <a:cs typeface="Arial"/>
              </a:rPr>
              <a:t>Ý kiến này gợi ý kiến khác</a:t>
            </a:r>
          </a:p>
          <a:p>
            <a:pPr marL="0" indent="0" algn="ctr">
              <a:lnSpc>
                <a:spcPct val="104000"/>
              </a:lnSpc>
              <a:spcBef>
                <a:spcPts val="400"/>
              </a:spcBef>
              <a:buNone/>
            </a:pPr>
            <a:r>
              <a:rPr lang="en-US" sz="1750" dirty="0">
                <a:solidFill>
                  <a:srgbClr val="000000"/>
                </a:solidFill>
                <a:latin typeface="Arial"/>
                <a:cs typeface="Arial"/>
              </a:rPr>
              <a:t>vd. gia đình trải qua việc đồng ý ở ICU ra sao</a:t>
            </a:r>
          </a:p>
        </p:txBody>
      </p:sp>
      <p:sp>
        <p:nvSpPr>
          <p:cNvPr id="74" name="CardHead"/>
          <p:cNvSpPr/>
          <p:nvPr/>
        </p:nvSpPr>
        <p:spPr>
          <a:xfrm>
            <a:off x="8108932" y="211115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Quan sát</a:t>
            </a:r>
          </a:p>
        </p:txBody>
      </p:sp>
      <p:sp>
        <p:nvSpPr>
          <p:cNvPr id="75" name="CardBody"/>
          <p:cNvSpPr/>
          <p:nvPr/>
        </p:nvSpPr>
        <p:spPr>
          <a:xfrm>
            <a:off x="8108932"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Xem mọi người thực sự làm gì</a:t>
            </a:r>
          </a:p>
          <a:p>
            <a:pPr marL="0" indent="0" algn="ctr">
              <a:lnSpc>
                <a:spcPct val="104000"/>
              </a:lnSpc>
              <a:spcBef>
                <a:spcPts val="400"/>
              </a:spcBef>
              <a:buNone/>
            </a:pPr>
            <a:r>
              <a:rPr lang="en-US" sz="1750" dirty="0">
                <a:solidFill>
                  <a:srgbClr val="000000"/>
                </a:solidFill>
                <a:latin typeface="Arial"/>
                <a:cs typeface="Arial"/>
              </a:rPr>
              <a:t>Có thể khác với điều họ nói</a:t>
            </a:r>
          </a:p>
          <a:p>
            <a:pPr marL="0" indent="0" algn="ctr">
              <a:lnSpc>
                <a:spcPct val="104000"/>
              </a:lnSpc>
              <a:spcBef>
                <a:spcPts val="400"/>
              </a:spcBef>
              <a:buNone/>
            </a:pPr>
            <a:r>
              <a:rPr lang="en-US" sz="1750" dirty="0">
                <a:solidFill>
                  <a:srgbClr val="000000"/>
                </a:solidFill>
                <a:latin typeface="Arial"/>
                <a:cs typeface="Arial"/>
              </a:rPr>
              <a:t>vd. phiếu theo dõi dịch được ghi thế nào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Nghiên cứu định tính giải thích vì sao và như thế nào. Nó bổ sung cho con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Chọn thiết kế phù hợp với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75808"/>
          <a:ext cx="11277600" cy="43662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Nếu câu hỏi của bạn là...</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Bắt đầu với</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Ví dụ với câu hỏi dịch truyền</a:t>
                      </a:r>
                    </a:p>
                  </a:txBody>
                  <a:tcPr marL="73152" marR="73152" marT="45720" marB="45720" anchor="ctr">
                    <a:solidFill>
                      <a:srgbClr val="0D7377"/>
                    </a:solidFill>
                  </a:tcPr>
                </a:tc>
              </a:tr>
              <a:tr h="797240">
                <a:tc>
                  <a:txBody>
                    <a:bodyPr/>
                    <a:lstStyle/>
                    <a:p>
                      <a:pPr algn="l"/>
                      <a:r>
                        <a:rPr lang="en-US" sz="1500" dirty="0">
                          <a:solidFill>
                            <a:srgbClr val="000000"/>
                          </a:solidFill>
                          <a:latin typeface="Arial"/>
                          <a:cs typeface="Arial"/>
                        </a:rPr>
                        <a:t>Hiện nay phổ biến thế nào?</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Cắt ngang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Người bệnh có cân bằng dịch dương ở ICU hôm nay</a:t>
                      </a:r>
                    </a:p>
                  </a:txBody>
                  <a:tcPr marL="73152" marR="73152" marT="45720" marB="45720" anchor="ctr">
                    <a:solidFill>
                      <a:srgbClr val="FFFFFF"/>
                    </a:solidFill>
                  </a:tcPr>
                </a:tc>
              </a:tr>
              <a:tr h="797240">
                <a:tc>
                  <a:txBody>
                    <a:bodyPr/>
                    <a:lstStyle/>
                    <a:p>
                      <a:pPr algn="l"/>
                      <a:r>
                        <a:rPr lang="en-US" sz="1500" dirty="0">
                          <a:solidFill>
                            <a:srgbClr val="000000"/>
                          </a:solidFill>
                          <a:latin typeface="Arial"/>
                          <a:cs typeface="Arial"/>
                        </a:rPr>
                        <a:t>Kết cục hiếm: yếu tố nào làm tăng nguy cơ?</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Bệnh–chứng</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Người bệnh nhiễm khuẩn huyết phải lọc máu mới, nhìn lại lượng dịch đã nhận</a:t>
                      </a:r>
                    </a:p>
                  </a:txBody>
                  <a:tcPr marL="73152" marR="73152" marT="45720" marB="45720" anchor="ctr">
                    <a:solidFill>
                      <a:srgbClr val="F5F9FA"/>
                    </a:solidFill>
                  </a:tcPr>
                </a:tc>
              </a:tr>
              <a:tr h="797240">
                <a:tc>
                  <a:txBody>
                    <a:bodyPr/>
                    <a:lstStyle/>
                    <a:p>
                      <a:pPr algn="l"/>
                      <a:r>
                        <a:rPr lang="en-US" sz="1500" dirty="0">
                          <a:solidFill>
                            <a:srgbClr val="000000"/>
                          </a:solidFill>
                          <a:latin typeface="Arial"/>
                          <a:cs typeface="Arial"/>
                        </a:rPr>
                        <a:t>Điều gì xảy ra sau một phơi nhiễm?</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Thuần tập</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Cân bằng dịch dương và tử vong ngày 28 (Bài báo 2)</a:t>
                      </a:r>
                    </a:p>
                  </a:txBody>
                  <a:tcPr marL="73152" marR="73152" marT="45720" marB="45720" anchor="ctr">
                    <a:solidFill>
                      <a:srgbClr val="FFFFFF"/>
                    </a:solidFill>
                  </a:tcPr>
                </a:tc>
              </a:tr>
              <a:tr h="797240">
                <a:tc>
                  <a:txBody>
                    <a:bodyPr/>
                    <a:lstStyle/>
                    <a:p>
                      <a:pPr algn="l"/>
                      <a:r>
                        <a:rPr lang="en-US" sz="1500" dirty="0">
                          <a:solidFill>
                            <a:srgbClr val="000000"/>
                          </a:solidFill>
                          <a:latin typeface="Arial"/>
                          <a:cs typeface="Arial"/>
                        </a:rPr>
                        <a:t>Điều trị này có hiệu quả không?</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RCT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Hạn chế dịch so với thường quy (Bài báo 1)</a:t>
                      </a:r>
                    </a:p>
                  </a:txBody>
                  <a:tcPr marL="73152" marR="73152" marT="45720" marB="45720" anchor="ctr">
                    <a:solidFill>
                      <a:srgbClr val="F5F9FA"/>
                    </a:solidFill>
                  </a:tcPr>
                </a:tc>
              </a:tr>
              <a:tr h="797240">
                <a:tc>
                  <a:txBody>
                    <a:bodyPr/>
                    <a:lstStyle/>
                    <a:p>
                      <a:pPr algn="l"/>
                      <a:r>
                        <a:rPr lang="en-US" sz="1500" dirty="0">
                          <a:solidFill>
                            <a:srgbClr val="000000"/>
                          </a:solidFill>
                          <a:latin typeface="Arial"/>
                          <a:cs typeface="Arial"/>
                        </a:rPr>
                        <a:t>Tất cả nghiên cứu nói gì?</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Tổng quan hệ thống và phân tích gộp</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Gộp mọi thử nghiệm hạn chế dịch</a:t>
                      </a:r>
                    </a:p>
                  </a:txBody>
                  <a:tcPr marL="73152" marR="73152" marT="45720" marB="45720" anchor="ctr">
                    <a:solidFill>
                      <a:srgbClr val="FFFFFF"/>
                    </a:solidFill>
                  </a:tcPr>
                </a:tc>
              </a:tr>
            </a:tbl>
          </a:graphicData>
        </a:graphic>
      </p:graphicFrame>
      <p:sp>
        <p:nvSpPr>
          <p:cNvPr id="31" name="Caption"/>
          <p:cNvSpPr txBox="1"/>
          <p:nvPr/>
        </p:nvSpPr>
        <p:spPr>
          <a:xfrm>
            <a:off x="457200" y="5632008"/>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Bắt đầu từ câu hỏi, thiết kế sẽ theo sau. Rồi kiểm tra xem thiết kế đó có khả thi ở nơi bạn làm việc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tập: chọn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Năm câu hỏi lập kế hoạch về câu hỏi dịch truyền: phiếu bài tập, Phần B</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Với mỗi câu: bình chọn thiết kế khả thi tốt nhất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Một bạn tình nguyện nêu một lý do và điểm yếu chính. Giảng viên gõ lên màn hình chia sẻ</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Rồi đến câu hỏi của bạn: hai ba người nói thiết kế mình chọn, và 'gây ra' hay 'có liên quan'</a:t>
            </a:r>
          </a:p>
        </p:txBody>
      </p:sp>
      <p:sp>
        <p:nvSpPr>
          <p:cNvPr id="52" name="Side"/>
          <p:cNvSpPr/>
          <p:nvPr/>
        </p:nvSpPr>
        <p:spPr>
          <a:xfrm>
            <a:off x="7423760" y="1720000"/>
            <a:ext cx="4311040" cy="22442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Ghi nhớ</a:t>
            </a:r>
          </a:p>
          <a:p>
            <a:pPr marL="0" indent="0" algn="ctr">
              <a:lnSpc>
                <a:spcPct val="104000"/>
              </a:lnSpc>
              <a:spcBef>
                <a:spcPts val="300"/>
              </a:spcBef>
              <a:buNone/>
            </a:pPr>
            <a:r>
              <a:rPr lang="en-US" sz="1500" dirty="0">
                <a:solidFill>
                  <a:srgbClr val="000000"/>
                </a:solidFill>
                <a:latin typeface="Arial"/>
                <a:cs typeface="Arial"/>
              </a:rPr>
              <a:t>Có hiệu quả? RCT hoặc thử nghiệm theo cụm</a:t>
            </a:r>
          </a:p>
          <a:p>
            <a:pPr marL="0" indent="0" algn="ctr">
              <a:lnSpc>
                <a:spcPct val="104000"/>
              </a:lnSpc>
              <a:spcBef>
                <a:spcPts val="300"/>
              </a:spcBef>
              <a:buNone/>
            </a:pPr>
            <a:r>
              <a:rPr lang="en-US" sz="1500" dirty="0">
                <a:solidFill>
                  <a:srgbClr val="000000"/>
                </a:solidFill>
                <a:latin typeface="Arial"/>
                <a:cs typeface="Arial"/>
              </a:rPr>
              <a:t>Không kém hơn? Thử nghiệm không kém hơn</a:t>
            </a:r>
          </a:p>
          <a:p>
            <a:pPr marL="0" indent="0" algn="ctr">
              <a:lnSpc>
                <a:spcPct val="104000"/>
              </a:lnSpc>
              <a:spcBef>
                <a:spcPts val="300"/>
              </a:spcBef>
              <a:buNone/>
            </a:pPr>
            <a:r>
              <a:rPr lang="en-US" sz="1500" dirty="0">
                <a:solidFill>
                  <a:srgbClr val="000000"/>
                </a:solidFill>
                <a:latin typeface="Arial"/>
                <a:cs typeface="Arial"/>
              </a:rPr>
              <a:t>Đã thay đổi rồi? Chuỗi thời gian</a:t>
            </a:r>
          </a:p>
          <a:p>
            <a:pPr marL="0" indent="0" algn="ctr">
              <a:lnSpc>
                <a:spcPct val="104000"/>
              </a:lnSpc>
              <a:spcBef>
                <a:spcPts val="300"/>
              </a:spcBef>
              <a:buNone/>
            </a:pPr>
            <a:r>
              <a:rPr lang="en-US" sz="1500" dirty="0">
                <a:solidFill>
                  <a:srgbClr val="000000"/>
                </a:solidFill>
                <a:latin typeface="Arial"/>
                <a:cs typeface="Arial"/>
              </a:rPr>
              <a:t>Vì sao, thế nào? Định tính</a:t>
            </a:r>
          </a:p>
          <a:p>
            <a:pPr marL="0" indent="0" algn="ctr">
              <a:lnSpc>
                <a:spcPct val="104000"/>
              </a:lnSpc>
              <a:spcBef>
                <a:spcPts val="300"/>
              </a:spcBef>
              <a:buNone/>
            </a:pPr>
            <a:r>
              <a:rPr lang="en-US" sz="1500" dirty="0">
                <a:solidFill>
                  <a:srgbClr val="000000"/>
                </a:solidFill>
                <a:latin typeface="Arial"/>
                <a:cs typeface="Arial"/>
              </a:rPr>
              <a:t>Có làm được không? Thí điểm</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Cả lớp chọn năm thiết kế, rồi vài người chia sẻ thiết kế và kết luận của mình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Ai trong nghiên cứu của bạn? Tiêu chuẩn chọn và loại trừ</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Tiêu chuẩn chọn mô tả chữ P (Đối tượng). Tiêu chuẩn loại trừ loại người đủ tiêu chuẩn vì một lý do nêu rõ.</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3: thiết kế, bối cảnh và đối tượng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XÂY DỰNG ĐỀ CƯƠNG   |   45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Theo dõi: giảng viên viết trực tiếp Phần 2a cho ví dụ xuyên suốt (15 phút)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Thiết kế và 3-5 câu biện luận, chọn bằng cây quyết định</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Bối cảnh: ở đâu, khi nào, những khoa nào, nguồn dữ liệu nào</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Đối tượng: 3-5 tiêu chuẩn chọn và 3-5 tiêu chuẩn loại trừ, mỗi tiêu chuẩn loại trừ có lý do</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Đến lượt bạn: viết nháp phần này cho câu hỏi của chính mình (20 phút, làm riêng, yên lặng)</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Ba bạn tình nguyện đọc to câu thiết kế của mình để nhận góp ý (7 phút)</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Tự kiểm tra bản nháp</a:t>
            </a:r>
          </a:p>
          <a:p>
            <a:pPr marL="0" indent="0" algn="ctr">
              <a:lnSpc>
                <a:spcPct val="104000"/>
              </a:lnSpc>
              <a:spcBef>
                <a:spcPts val="300"/>
              </a:spcBef>
              <a:buNone/>
            </a:pPr>
            <a:r>
              <a:rPr lang="en-US" sz="1500" dirty="0">
                <a:solidFill>
                  <a:srgbClr val="000000"/>
                </a:solidFill>
                <a:latin typeface="Arial"/>
                <a:cs typeface="Arial"/>
              </a:rPr>
              <a:t>Thiết kế hợp với câu hỏi?</a:t>
            </a:r>
          </a:p>
          <a:p>
            <a:pPr marL="0" indent="0" algn="ctr">
              <a:lnSpc>
                <a:spcPct val="104000"/>
              </a:lnSpc>
              <a:spcBef>
                <a:spcPts val="300"/>
              </a:spcBef>
              <a:buNone/>
            </a:pPr>
            <a:r>
              <a:rPr lang="en-US" sz="1500" dirty="0">
                <a:solidFill>
                  <a:srgbClr val="000000"/>
                </a:solidFill>
                <a:latin typeface="Arial"/>
                <a:cs typeface="Arial"/>
              </a:rPr>
              <a:t>Khả thi ở khoa bạn?</a:t>
            </a:r>
          </a:p>
          <a:p>
            <a:pPr marL="0" indent="0" algn="ctr">
              <a:lnSpc>
                <a:spcPct val="104000"/>
              </a:lnSpc>
              <a:spcBef>
                <a:spcPts val="300"/>
              </a:spcBef>
              <a:buNone/>
            </a:pPr>
            <a:r>
              <a:rPr lang="en-US" sz="1500" dirty="0">
                <a:solidFill>
                  <a:srgbClr val="000000"/>
                </a:solidFill>
                <a:latin typeface="Arial"/>
                <a:cs typeface="Arial"/>
              </a:rPr>
              <a:t>Tiêu chuẩn chọn = chữ P (Đối tượng)?</a:t>
            </a:r>
          </a:p>
          <a:p>
            <a:pPr marL="0" indent="0" algn="ctr">
              <a:lnSpc>
                <a:spcPct val="104000"/>
              </a:lnSpc>
              <a:spcBef>
                <a:spcPts val="300"/>
              </a:spcBef>
              <a:buNone/>
            </a:pPr>
            <a:r>
              <a:rPr lang="en-US" sz="1500" dirty="0">
                <a:solidFill>
                  <a:srgbClr val="000000"/>
                </a:solidFill>
                <a:latin typeface="Arial"/>
                <a:cs typeface="Arial"/>
              </a:rPr>
              <a:t>Mỗi loại trừ có lý do?</a:t>
            </a:r>
          </a:p>
          <a:p>
            <a:pPr marL="0" indent="0" algn="ctr">
              <a:lnSpc>
                <a:spcPct val="104000"/>
              </a:lnSpc>
              <a:spcBef>
                <a:spcPts val="300"/>
              </a:spcBef>
              <a:buNone/>
            </a:pPr>
            <a:r>
              <a:rPr lang="en-US" sz="1500" dirty="0">
                <a:solidFill>
                  <a:srgbClr val="000000"/>
                </a:solidFill>
                <a:latin typeface="Arial"/>
                <a:cs typeface="Arial"/>
              </a:rPr>
              <a:t>'Gây ra' hay 'có liên quan'?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SẢN PHẨM   </a:t>
            </a:r>
            <a:r>
              <a:rPr lang="en-US" sz="1500" dirty="0">
                <a:solidFill>
                  <a:srgbClr val="000000"/>
                </a:solidFill>
                <a:latin typeface="Arial"/>
                <a:cs typeface="Arial"/>
              </a:rPr>
              <a:t>Bản nháp Phần 2a đề cương của chính bạn (hoàn thành ở nhà)</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Buổi 3 trong một slide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326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3.1 Thiết kế cơ bản</a:t>
            </a:r>
          </a:p>
        </p:txBody>
      </p:sp>
      <p:sp>
        <p:nvSpPr>
          <p:cNvPr id="71" name="CardBody"/>
          <p:cNvSpPr/>
          <p:nvPr/>
        </p:nvSpPr>
        <p:spPr>
          <a:xfrm>
            <a:off x="457200" y="2272615"/>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Một thời điểm, nhìn lại, theo dõi về sau</a:t>
            </a:r>
          </a:p>
          <a:p>
            <a:pPr marL="0" indent="0" algn="ctr">
              <a:lnSpc>
                <a:spcPct val="104000"/>
              </a:lnSpc>
              <a:spcBef>
                <a:spcPts val="400"/>
              </a:spcBef>
              <a:buNone/>
            </a:pPr>
            <a:r>
              <a:rPr lang="en-US" sz="1750" dirty="0">
                <a:solidFill>
                  <a:srgbClr val="000000"/>
                </a:solidFill>
                <a:latin typeface="Arial"/>
                <a:cs typeface="Arial"/>
              </a:rPr>
              <a:t>RCT: may rủi chỉ định phơi nhiễm</a:t>
            </a:r>
          </a:p>
          <a:p>
            <a:pPr marL="0" indent="0" algn="ctr">
              <a:lnSpc>
                <a:spcPct val="104000"/>
              </a:lnSpc>
              <a:spcBef>
                <a:spcPts val="400"/>
              </a:spcBef>
              <a:buNone/>
            </a:pPr>
            <a:r>
              <a:rPr lang="en-US" sz="1750" dirty="0">
                <a:solidFill>
                  <a:srgbClr val="000000"/>
                </a:solidFill>
                <a:latin typeface="Arial"/>
                <a:cs typeface="Arial"/>
              </a:rPr>
              <a:t>RCT nói 'gây ra'. Thuần tập nói 'có liên quan'</a:t>
            </a:r>
          </a:p>
        </p:txBody>
      </p:sp>
      <p:sp>
        <p:nvSpPr>
          <p:cNvPr id="72" name="CardHead"/>
          <p:cNvSpPr/>
          <p:nvPr/>
        </p:nvSpPr>
        <p:spPr>
          <a:xfrm>
            <a:off x="4283066" y="16326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3.2 Thiết kế khác</a:t>
            </a:r>
          </a:p>
        </p:txBody>
      </p:sp>
      <p:sp>
        <p:nvSpPr>
          <p:cNvPr id="73" name="CardBody"/>
          <p:cNvSpPr/>
          <p:nvPr/>
        </p:nvSpPr>
        <p:spPr>
          <a:xfrm>
            <a:off x="4283066" y="2272615"/>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Theo cụm, bắt chéo, giai thừa</a:t>
            </a:r>
          </a:p>
          <a:p>
            <a:pPr marL="0" indent="0" algn="ctr">
              <a:lnSpc>
                <a:spcPct val="104000"/>
              </a:lnSpc>
              <a:spcBef>
                <a:spcPts val="400"/>
              </a:spcBef>
              <a:buNone/>
            </a:pPr>
            <a:r>
              <a:rPr lang="en-US" sz="1750" dirty="0">
                <a:solidFill>
                  <a:srgbClr val="000000"/>
                </a:solidFill>
                <a:latin typeface="Arial"/>
                <a:cs typeface="Arial"/>
              </a:rPr>
              <a:t>Không kém hơn cần ngưỡng</a:t>
            </a:r>
          </a:p>
          <a:p>
            <a:pPr marL="0" indent="0" algn="ctr">
              <a:lnSpc>
                <a:spcPct val="104000"/>
              </a:lnSpc>
              <a:spcBef>
                <a:spcPts val="400"/>
              </a:spcBef>
              <a:buNone/>
            </a:pPr>
            <a:r>
              <a:rPr lang="en-US" sz="1750" dirty="0">
                <a:solidFill>
                  <a:srgbClr val="000000"/>
                </a:solidFill>
                <a:latin typeface="Arial"/>
                <a:cs typeface="Arial"/>
              </a:rPr>
              <a:t>Thí điểm, chuỗi thời gian, định tính</a:t>
            </a:r>
          </a:p>
        </p:txBody>
      </p:sp>
      <p:sp>
        <p:nvSpPr>
          <p:cNvPr id="74" name="CardHead"/>
          <p:cNvSpPr/>
          <p:nvPr/>
        </p:nvSpPr>
        <p:spPr>
          <a:xfrm>
            <a:off x="8108932" y="1632615"/>
            <a:ext cx="3625866"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Đề cương của bạn</a:t>
            </a:r>
          </a:p>
        </p:txBody>
      </p:sp>
      <p:sp>
        <p:nvSpPr>
          <p:cNvPr id="75" name="CardBody"/>
          <p:cNvSpPr/>
          <p:nvPr/>
        </p:nvSpPr>
        <p:spPr>
          <a:xfrm>
            <a:off x="8108932" y="2272615"/>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Thiết kế và biện luận</a:t>
            </a:r>
          </a:p>
          <a:p>
            <a:pPr marL="0" indent="0" algn="ctr">
              <a:lnSpc>
                <a:spcPct val="104000"/>
              </a:lnSpc>
              <a:spcBef>
                <a:spcPts val="400"/>
              </a:spcBef>
              <a:buNone/>
            </a:pPr>
            <a:r>
              <a:rPr lang="en-US" sz="1750" dirty="0">
                <a:solidFill>
                  <a:srgbClr val="000000"/>
                </a:solidFill>
                <a:latin typeface="Arial"/>
                <a:cs typeface="Arial"/>
              </a:rPr>
              <a:t>Bối cảnh</a:t>
            </a:r>
          </a:p>
          <a:p>
            <a:pPr marL="0" indent="0" algn="ctr">
              <a:lnSpc>
                <a:spcPct val="104000"/>
              </a:lnSpc>
              <a:spcBef>
                <a:spcPts val="400"/>
              </a:spcBef>
              <a:buNone/>
            </a:pPr>
            <a:r>
              <a:rPr lang="en-US" sz="1750" dirty="0">
                <a:solidFill>
                  <a:srgbClr val="000000"/>
                </a:solidFill>
                <a:latin typeface="Arial"/>
                <a:cs typeface="Arial"/>
              </a:rPr>
              <a:t>Tiêu chuẩn chọn và loại trừ</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Câu hỏi chọn thiết kế. Thiết kế quyết định điều được phép kết luận.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Tổng kết và bài về nhà</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THẢO LUẬN   |   5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Câu hỏi cuối buổi (trong chat): bác sĩ chọn hạn chế dịch cho một số người bệnh sốc nhiễm khuẩn và không cho số khác. Cả hai nhóm được theo dõi đến ngày 28. Thiết kế gì? 'Gây ra' hay 'có liên quan'?</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Bài về nhà: hoàn thành Phần 2a đề cương của bạn (thiết kế, bối cảnh, đối tượng)</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Đọc: đoạn 'Patients' của Bài báo 1 (Boulet) và 'Data source' của Bài báo 2 (Hyun)</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Thứ Bảy tuần sau (Buổi 4): có tin được kết quả không, và tác động lớn đến đâu?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SẢN PHẨM   </a:t>
            </a:r>
            <a:r>
              <a:rPr lang="en-US" sz="1500" dirty="0">
                <a:solidFill>
                  <a:srgbClr val="000000"/>
                </a:solidFill>
                <a:latin typeface="Arial"/>
                <a:cs typeface="Arial"/>
              </a:rPr>
              <a:t>Mỗi người một câu trả lời cuối buổi, trong khung chat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Slide bổ sung: Buổi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Slide bổ sung: Buổi 3</a:t>
            </a:r>
          </a:p>
          <a:p>
            <a:pPr marL="0" indent="0" algn="ctr">
              <a:spcBef>
                <a:spcPts val="1200"/>
              </a:spcBef>
              <a:buNone/>
            </a:pPr>
            <a:r>
              <a:rPr lang="en-US" sz="1900" i="1" dirty="0">
                <a:solidFill>
                  <a:srgbClr val="595959"/>
                </a:solidFill>
                <a:latin typeface="Arial"/>
                <a:cs typeface="Arial"/>
              </a:rPr>
              <a:t>Dùng nếu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Cây quyết định trong thực tế: Bài báo 1 (Boulet) và Bài báo 2 (Hyun)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Chỉ định?</a:t>
            </a:r>
          </a:p>
        </p:txBody>
      </p:sp>
      <p:sp>
        <p:nvSpPr>
          <p:cNvPr id="81" name="StepText"/>
          <p:cNvSpPr/>
          <p:nvPr/>
        </p:nvSpPr>
        <p:spPr>
          <a:xfrm>
            <a:off x="49720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Boulet: có, thử nghiệm chỉ định chiến lược</a:t>
            </a:r>
          </a:p>
          <a:p>
            <a:pPr marL="0" indent="0" algn="ctr">
              <a:lnSpc>
                <a:spcPct val="104000"/>
              </a:lnSpc>
              <a:spcBef>
                <a:spcPts val="200"/>
              </a:spcBef>
              <a:buNone/>
            </a:pPr>
            <a:r>
              <a:rPr lang="en-US" sz="1500" dirty="0">
                <a:solidFill>
                  <a:srgbClr val="000000"/>
                </a:solidFill>
                <a:latin typeface="Arial"/>
                <a:cs typeface="Arial"/>
              </a:rPr>
              <a:t>Hyun: không, bác sĩ quyết định</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Ngẫu nhiên?</a:t>
            </a:r>
          </a:p>
        </p:txBody>
      </p:sp>
      <p:sp>
        <p:nvSpPr>
          <p:cNvPr id="83" name="StepText"/>
          <p:cNvSpPr/>
          <p:nvPr/>
        </p:nvSpPr>
        <p:spPr>
          <a:xfrm>
            <a:off x="274072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Boulet: có, bằng máy tính trung tâm</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So sánh?</a:t>
            </a:r>
          </a:p>
        </p:txBody>
      </p:sp>
      <p:sp>
        <p:nvSpPr>
          <p:cNvPr id="85" name="StepText"/>
          <p:cNvSpPr/>
          <p:nvPr/>
        </p:nvSpPr>
        <p:spPr>
          <a:xfrm>
            <a:off x="498424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Hyun: có, cân bằng dương so với âm</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Thứ tự?</a:t>
            </a:r>
          </a:p>
        </p:txBody>
      </p:sp>
      <p:sp>
        <p:nvSpPr>
          <p:cNvPr id="87" name="StepText"/>
          <p:cNvSpPr/>
          <p:nvPr/>
        </p:nvSpPr>
        <p:spPr>
          <a:xfrm>
            <a:off x="722776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Hyun: phơi nhiễm ngày 1-3, rồi tử vong ngày 28</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Thiết kế</a:t>
            </a:r>
          </a:p>
        </p:txBody>
      </p:sp>
      <p:sp>
        <p:nvSpPr>
          <p:cNvPr id="89" name="StepText"/>
          <p:cNvSpPr/>
          <p:nvPr/>
        </p:nvSpPr>
        <p:spPr>
          <a:xfrm>
            <a:off x="947128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Boulet: RCT</a:t>
            </a:r>
          </a:p>
          <a:p>
            <a:pPr marL="0" indent="0" algn="ctr">
              <a:lnSpc>
                <a:spcPct val="104000"/>
              </a:lnSpc>
              <a:spcBef>
                <a:spcPts val="200"/>
              </a:spcBef>
              <a:buNone/>
            </a:pPr>
            <a:r>
              <a:rPr lang="en-US" sz="1500" dirty="0">
                <a:solidFill>
                  <a:srgbClr val="000000"/>
                </a:solidFill>
                <a:latin typeface="Arial"/>
                <a:cs typeface="Arial"/>
              </a:rPr>
              <a:t>Hyun: thuần tập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Hỏi các câu này với mọi bài báo trước khi đọc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Luyện thêm (ví dụ khác): gọi tên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Hôm nay kiểm tra cả 300 người bệnh nội trú: có ống thông tiểu không, có nhiễm khuẩn tiết niệu không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Người bệnh viêm phổi liên quan thở máy được so sánh với người bệnh không viêm phổi về việc dùng an thần trước đó</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Người bệnh được vận động sớm (do chuyên viên vật lý trị liệu quyết định) và người bệnh không được, theo dõi đến khi ra viện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Chọn</a:t>
            </a:r>
          </a:p>
          <a:p>
            <a:pPr marL="0" indent="0" algn="ctr">
              <a:lnSpc>
                <a:spcPct val="104000"/>
              </a:lnSpc>
              <a:spcBef>
                <a:spcPts val="300"/>
              </a:spcBef>
              <a:buNone/>
            </a:pPr>
            <a:r>
              <a:rPr lang="en-US" sz="1500" dirty="0">
                <a:solidFill>
                  <a:srgbClr val="000000"/>
                </a:solidFill>
                <a:latin typeface="Arial"/>
                <a:cs typeface="Arial"/>
              </a:rPr>
              <a:t>Cắt ngang</a:t>
            </a:r>
          </a:p>
          <a:p>
            <a:pPr marL="0" indent="0" algn="ctr">
              <a:lnSpc>
                <a:spcPct val="104000"/>
              </a:lnSpc>
              <a:spcBef>
                <a:spcPts val="300"/>
              </a:spcBef>
              <a:buNone/>
            </a:pPr>
            <a:r>
              <a:rPr lang="en-US" sz="1500" dirty="0">
                <a:solidFill>
                  <a:srgbClr val="000000"/>
                </a:solidFill>
                <a:latin typeface="Arial"/>
                <a:cs typeface="Arial"/>
              </a:rPr>
              <a:t>Bệnh–chứng</a:t>
            </a:r>
          </a:p>
          <a:p>
            <a:pPr marL="0" indent="0" algn="ctr">
              <a:lnSpc>
                <a:spcPct val="104000"/>
              </a:lnSpc>
              <a:spcBef>
                <a:spcPts val="300"/>
              </a:spcBef>
              <a:buNone/>
            </a:pPr>
            <a:r>
              <a:rPr lang="en-US" sz="1500" dirty="0">
                <a:solidFill>
                  <a:srgbClr val="000000"/>
                </a:solidFill>
                <a:latin typeface="Arial"/>
                <a:cs typeface="Arial"/>
              </a:rPr>
              <a:t>Thuần tập</a:t>
            </a:r>
          </a:p>
          <a:p>
            <a:pPr marL="0" indent="0" algn="ctr">
              <a:lnSpc>
                <a:spcPct val="104000"/>
              </a:lnSpc>
              <a:spcBef>
                <a:spcPts val="300"/>
              </a:spcBef>
              <a:buNone/>
            </a:pPr>
            <a:r>
              <a:rPr lang="en-US" sz="1500" dirty="0">
                <a:solidFill>
                  <a:srgbClr val="000000"/>
                </a:solidFill>
                <a:latin typeface="Arial"/>
                <a:cs typeface="Arial"/>
              </a:rPr>
              <a:t>RCT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Mỗi tình huống một thiết kế (đáp án ở slide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Đáp án: gọi tên thiết kế (ví dụ khác)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521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 Cắt ngang</a:t>
            </a:r>
          </a:p>
        </p:txBody>
      </p:sp>
      <p:sp>
        <p:nvSpPr>
          <p:cNvPr id="71" name="CardBody"/>
          <p:cNvSpPr/>
          <p:nvPr/>
        </p:nvSpPr>
        <p:spPr>
          <a:xfrm>
            <a:off x="457200"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Một ngày, tất cả mọi người</a:t>
            </a:r>
          </a:p>
          <a:p>
            <a:pPr marL="0" indent="0" algn="ctr">
              <a:lnSpc>
                <a:spcPct val="104000"/>
              </a:lnSpc>
              <a:spcBef>
                <a:spcPts val="400"/>
              </a:spcBef>
              <a:buNone/>
            </a:pPr>
            <a:r>
              <a:rPr lang="en-US" sz="1750" dirty="0">
                <a:solidFill>
                  <a:srgbClr val="000000"/>
                </a:solidFill>
                <a:latin typeface="Arial"/>
                <a:cs typeface="Arial"/>
              </a:rPr>
              <a:t>Phơi nhiễm và kết cục đo cùng lúc</a:t>
            </a:r>
          </a:p>
          <a:p>
            <a:pPr marL="0" indent="0" algn="ctr">
              <a:lnSpc>
                <a:spcPct val="104000"/>
              </a:lnSpc>
              <a:spcBef>
                <a:spcPts val="400"/>
              </a:spcBef>
              <a:buNone/>
            </a:pPr>
            <a:r>
              <a:rPr lang="en-US" sz="1750" dirty="0">
                <a:solidFill>
                  <a:srgbClr val="000000"/>
                </a:solidFill>
                <a:latin typeface="Arial"/>
                <a:cs typeface="Arial"/>
              </a:rPr>
              <a:t>Cho tỷ lệ hiện mắc</a:t>
            </a:r>
          </a:p>
        </p:txBody>
      </p:sp>
      <p:sp>
        <p:nvSpPr>
          <p:cNvPr id="72" name="CardHead"/>
          <p:cNvSpPr/>
          <p:nvPr/>
        </p:nvSpPr>
        <p:spPr>
          <a:xfrm>
            <a:off x="4283066" y="1725219"/>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 Bệnh–chứng</a:t>
            </a:r>
          </a:p>
        </p:txBody>
      </p:sp>
      <p:sp>
        <p:nvSpPr>
          <p:cNvPr id="73" name="CardBody"/>
          <p:cNvSpPr/>
          <p:nvPr/>
        </p:nvSpPr>
        <p:spPr>
          <a:xfrm>
            <a:off x="4283066"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Chọn theo kết cục (viêm phổi)</a:t>
            </a:r>
          </a:p>
          <a:p>
            <a:pPr marL="0" indent="0" algn="ctr">
              <a:lnSpc>
                <a:spcPct val="104000"/>
              </a:lnSpc>
              <a:spcBef>
                <a:spcPts val="400"/>
              </a:spcBef>
              <a:buNone/>
            </a:pPr>
            <a:r>
              <a:rPr lang="en-US" sz="1750" dirty="0">
                <a:solidFill>
                  <a:srgbClr val="000000"/>
                </a:solidFill>
                <a:latin typeface="Arial"/>
                <a:cs typeface="Arial"/>
              </a:rPr>
              <a:t>Nhìn lại phơi nhiễm (an thần)</a:t>
            </a:r>
          </a:p>
          <a:p>
            <a:pPr marL="0" indent="0" algn="ctr">
              <a:lnSpc>
                <a:spcPct val="104000"/>
              </a:lnSpc>
              <a:spcBef>
                <a:spcPts val="400"/>
              </a:spcBef>
              <a:buNone/>
            </a:pPr>
            <a:r>
              <a:rPr lang="en-US" sz="1750" dirty="0">
                <a:solidFill>
                  <a:srgbClr val="000000"/>
                </a:solidFill>
                <a:latin typeface="Arial"/>
                <a:cs typeface="Arial"/>
              </a:rPr>
              <a:t>Cho tỷ số chênh</a:t>
            </a:r>
          </a:p>
        </p:txBody>
      </p:sp>
      <p:sp>
        <p:nvSpPr>
          <p:cNvPr id="74" name="CardHead"/>
          <p:cNvSpPr/>
          <p:nvPr/>
        </p:nvSpPr>
        <p:spPr>
          <a:xfrm>
            <a:off x="8108932" y="172521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 Thuần tập</a:t>
            </a:r>
          </a:p>
        </p:txBody>
      </p:sp>
      <p:sp>
        <p:nvSpPr>
          <p:cNvPr id="75" name="CardBody"/>
          <p:cNvSpPr/>
          <p:nvPr/>
        </p:nvSpPr>
        <p:spPr>
          <a:xfrm>
            <a:off x="8108932"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Chia theo phơi nhiễm (vận động)</a:t>
            </a:r>
          </a:p>
          <a:p>
            <a:pPr marL="0" indent="0" algn="ctr">
              <a:lnSpc>
                <a:spcPct val="104000"/>
              </a:lnSpc>
              <a:spcBef>
                <a:spcPts val="400"/>
              </a:spcBef>
              <a:buNone/>
            </a:pPr>
            <a:r>
              <a:rPr lang="en-US" sz="1750" dirty="0">
                <a:solidFill>
                  <a:srgbClr val="000000"/>
                </a:solidFill>
                <a:latin typeface="Arial"/>
                <a:cs typeface="Arial"/>
              </a:rPr>
              <a:t>Theo dõi đến khi ra viện</a:t>
            </a:r>
          </a:p>
          <a:p>
            <a:pPr marL="0" indent="0" algn="ctr">
              <a:lnSpc>
                <a:spcPct val="104000"/>
              </a:lnSpc>
              <a:spcBef>
                <a:spcPts val="400"/>
              </a:spcBef>
              <a:buNone/>
            </a:pPr>
            <a:r>
              <a:rPr lang="en-US" sz="1750" dirty="0">
                <a:solidFill>
                  <a:srgbClr val="000000"/>
                </a:solidFill>
                <a:latin typeface="Arial"/>
                <a:cs typeface="Arial"/>
              </a:rPr>
              <a:t>Không phải RCT: không ngẫu nhiên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Hỏi: chọn theo phơi nhiễm hay theo kết cục? Có do may rủi chỉ định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Luyện thêm (ví dụ khác): thiết kế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Một phác đồ kháng sinh rẻ hơn. Chỉ cần chứng minh nó không kém hơn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Chương trình vệ sinh tay áp dụng cho cả khoa</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Vì sao gia đình từ chối đồng ý tham gia nghiên cứu ở ICU?</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Chọn</a:t>
            </a:r>
          </a:p>
          <a:p>
            <a:pPr marL="0" indent="0" algn="ctr">
              <a:lnSpc>
                <a:spcPct val="104000"/>
              </a:lnSpc>
              <a:spcBef>
                <a:spcPts val="300"/>
              </a:spcBef>
              <a:buNone/>
            </a:pPr>
            <a:r>
              <a:rPr lang="en-US" sz="1500" dirty="0">
                <a:solidFill>
                  <a:srgbClr val="000000"/>
                </a:solidFill>
                <a:latin typeface="Arial"/>
                <a:cs typeface="Arial"/>
              </a:rPr>
              <a:t>Thử nghiệm theo cụm</a:t>
            </a:r>
          </a:p>
          <a:p>
            <a:pPr marL="0" indent="0" algn="ctr">
              <a:lnSpc>
                <a:spcPct val="104000"/>
              </a:lnSpc>
              <a:spcBef>
                <a:spcPts val="300"/>
              </a:spcBef>
              <a:buNone/>
            </a:pPr>
            <a:r>
              <a:rPr lang="en-US" sz="1500" dirty="0">
                <a:solidFill>
                  <a:srgbClr val="000000"/>
                </a:solidFill>
                <a:latin typeface="Arial"/>
                <a:cs typeface="Arial"/>
              </a:rPr>
              <a:t>Thử nghiệm không kém hơn</a:t>
            </a:r>
          </a:p>
          <a:p>
            <a:pPr marL="0" indent="0" algn="ctr">
              <a:lnSpc>
                <a:spcPct val="104000"/>
              </a:lnSpc>
              <a:spcBef>
                <a:spcPts val="300"/>
              </a:spcBef>
              <a:buNone/>
            </a:pPr>
            <a:r>
              <a:rPr lang="en-US" sz="1500" dirty="0">
                <a:solidFill>
                  <a:srgbClr val="000000"/>
                </a:solidFill>
                <a:latin typeface="Arial"/>
                <a:cs typeface="Arial"/>
              </a:rPr>
              <a:t>Phỏng vấn định tính</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Mỗi câu một thiết kế (đáp án trong ghi chú)</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Chọn ca chứng tốt trong nghiên cứu bệnh–chứng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3475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Cùng nguồn</a:t>
            </a:r>
          </a:p>
        </p:txBody>
      </p:sp>
      <p:sp>
        <p:nvSpPr>
          <p:cNvPr id="71" name="CardBody"/>
          <p:cNvSpPr/>
          <p:nvPr/>
        </p:nvSpPr>
        <p:spPr>
          <a:xfrm>
            <a:off x="457200" y="2474756"/>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Cùng bệnh viện, khoa và thời gian với ca bệnh</a:t>
            </a:r>
          </a:p>
          <a:p>
            <a:pPr marL="0" indent="0" algn="ctr">
              <a:lnSpc>
                <a:spcPct val="104000"/>
              </a:lnSpc>
              <a:spcBef>
                <a:spcPts val="400"/>
              </a:spcBef>
              <a:buNone/>
            </a:pPr>
            <a:r>
              <a:rPr lang="en-US" sz="1750" dirty="0">
                <a:solidFill>
                  <a:srgbClr val="000000"/>
                </a:solidFill>
                <a:latin typeface="Arial"/>
                <a:cs typeface="Arial"/>
              </a:rPr>
              <a:t>Sẽ thành ca bệnh nếu có kết cục</a:t>
            </a:r>
          </a:p>
        </p:txBody>
      </p:sp>
      <p:sp>
        <p:nvSpPr>
          <p:cNvPr id="72" name="CardHead"/>
          <p:cNvSpPr/>
          <p:nvPr/>
        </p:nvSpPr>
        <p:spPr>
          <a:xfrm>
            <a:off x="4283066" y="183475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Cùng cách đo</a:t>
            </a:r>
          </a:p>
        </p:txBody>
      </p:sp>
      <p:sp>
        <p:nvSpPr>
          <p:cNvPr id="73" name="CardBody"/>
          <p:cNvSpPr/>
          <p:nvPr/>
        </p:nvSpPr>
        <p:spPr>
          <a:xfrm>
            <a:off x="4283066" y="2474756"/>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Cùng hồ sơ, cùng câu hỏi</a:t>
            </a:r>
          </a:p>
          <a:p>
            <a:pPr marL="0" indent="0" algn="ctr">
              <a:lnSpc>
                <a:spcPct val="104000"/>
              </a:lnSpc>
              <a:spcBef>
                <a:spcPts val="400"/>
              </a:spcBef>
              <a:buNone/>
            </a:pPr>
            <a:r>
              <a:rPr lang="en-US" sz="1750" dirty="0">
                <a:solidFill>
                  <a:srgbClr val="000000"/>
                </a:solidFill>
                <a:latin typeface="Arial"/>
                <a:cs typeface="Arial"/>
              </a:rPr>
              <a:t>Tốt nhất người đánh giá không biết ai là ca bệnh</a:t>
            </a:r>
          </a:p>
        </p:txBody>
      </p:sp>
      <p:sp>
        <p:nvSpPr>
          <p:cNvPr id="74" name="CardHead"/>
          <p:cNvSpPr/>
          <p:nvPr/>
        </p:nvSpPr>
        <p:spPr>
          <a:xfrm>
            <a:off x="8108932" y="1834756"/>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Ghép cặp (tùy chọn)</a:t>
            </a:r>
          </a:p>
        </p:txBody>
      </p:sp>
      <p:sp>
        <p:nvSpPr>
          <p:cNvPr id="75" name="CardBody"/>
          <p:cNvSpPr/>
          <p:nvPr/>
        </p:nvSpPr>
        <p:spPr>
          <a:xfrm>
            <a:off x="8108932" y="2474756"/>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vd. tuổi, tháng nhập viện</a:t>
            </a:r>
          </a:p>
          <a:p>
            <a:pPr marL="0" indent="0" algn="ctr">
              <a:lnSpc>
                <a:spcPct val="104000"/>
              </a:lnSpc>
              <a:spcBef>
                <a:spcPts val="400"/>
              </a:spcBef>
              <a:buNone/>
            </a:pPr>
            <a:r>
              <a:rPr lang="en-US" sz="1750" dirty="0">
                <a:solidFill>
                  <a:srgbClr val="000000"/>
                </a:solidFill>
                <a:latin typeface="Arial"/>
                <a:cs typeface="Arial"/>
              </a:rPr>
              <a:t>Không ghép theo chính phơi nhiễm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Ca chứng kém làm mọi nghiên cứu bệnh–chứng trở nên vô nghĩa.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Vượt trội, tương đương và không kém hơn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KTC: khoảng tin cậy. Ngưỡng: mức khác biệt lớn nhất chấp nhận được, định trước</a:t>
            </a:r>
          </a:p>
        </p:txBody>
      </p:sp>
      <p:sp>
        <p:nvSpPr>
          <p:cNvPr id="70" name="CardHead"/>
          <p:cNvSpPr/>
          <p:nvPr/>
        </p:nvSpPr>
        <p:spPr>
          <a:xfrm>
            <a:off x="457200" y="2128090"/>
            <a:ext cx="3625866"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Vượt trội</a:t>
            </a:r>
          </a:p>
        </p:txBody>
      </p:sp>
      <p:sp>
        <p:nvSpPr>
          <p:cNvPr id="71" name="CardBody"/>
          <p:cNvSpPr/>
          <p:nvPr/>
        </p:nvSpPr>
        <p:spPr>
          <a:xfrm>
            <a:off x="457200" y="2768090"/>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Điều trị mới có tốt hơn không?</a:t>
            </a:r>
          </a:p>
          <a:p>
            <a:pPr marL="0" indent="0" algn="ctr">
              <a:lnSpc>
                <a:spcPct val="104000"/>
              </a:lnSpc>
              <a:spcBef>
                <a:spcPts val="400"/>
              </a:spcBef>
              <a:buNone/>
            </a:pPr>
            <a:r>
              <a:rPr lang="en-US" sz="1750" dirty="0">
                <a:solidFill>
                  <a:srgbClr val="000000"/>
                </a:solidFill>
                <a:latin typeface="Arial"/>
                <a:cs typeface="Arial"/>
              </a:rPr>
              <a:t>Toàn bộ KTC ở phía 'tốt hơn' của 0</a:t>
            </a:r>
          </a:p>
        </p:txBody>
      </p:sp>
      <p:sp>
        <p:nvSpPr>
          <p:cNvPr id="72" name="CardHead"/>
          <p:cNvSpPr/>
          <p:nvPr/>
        </p:nvSpPr>
        <p:spPr>
          <a:xfrm>
            <a:off x="4283066" y="212809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Tương đương</a:t>
            </a:r>
          </a:p>
        </p:txBody>
      </p:sp>
      <p:sp>
        <p:nvSpPr>
          <p:cNvPr id="73" name="CardBody"/>
          <p:cNvSpPr/>
          <p:nvPr/>
        </p:nvSpPr>
        <p:spPr>
          <a:xfrm>
            <a:off x="4283066" y="2768090"/>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Có như nhau không?</a:t>
            </a:r>
          </a:p>
          <a:p>
            <a:pPr marL="0" indent="0" algn="ctr">
              <a:lnSpc>
                <a:spcPct val="104000"/>
              </a:lnSpc>
              <a:spcBef>
                <a:spcPts val="400"/>
              </a:spcBef>
              <a:buNone/>
            </a:pPr>
            <a:r>
              <a:rPr lang="en-US" sz="1750" dirty="0">
                <a:solidFill>
                  <a:srgbClr val="000000"/>
                </a:solidFill>
                <a:latin typeface="Arial"/>
                <a:cs typeface="Arial"/>
              </a:rPr>
              <a:t>Toàn bộ KTC nằm giữa âm và dương ngưỡng</a:t>
            </a:r>
          </a:p>
        </p:txBody>
      </p:sp>
      <p:sp>
        <p:nvSpPr>
          <p:cNvPr id="74" name="CardHead"/>
          <p:cNvSpPr/>
          <p:nvPr/>
        </p:nvSpPr>
        <p:spPr>
          <a:xfrm>
            <a:off x="8108932" y="212809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Không kém hơn</a:t>
            </a:r>
          </a:p>
        </p:txBody>
      </p:sp>
      <p:sp>
        <p:nvSpPr>
          <p:cNvPr id="75" name="CardBody"/>
          <p:cNvSpPr/>
          <p:nvPr/>
        </p:nvSpPr>
        <p:spPr>
          <a:xfrm>
            <a:off x="8108932" y="2768090"/>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Có không kém đến mức không chấp nhận được?</a:t>
            </a:r>
          </a:p>
          <a:p>
            <a:pPr marL="0" indent="0" algn="ctr">
              <a:lnSpc>
                <a:spcPct val="104000"/>
              </a:lnSpc>
              <a:spcBef>
                <a:spcPts val="400"/>
              </a:spcBef>
              <a:buNone/>
            </a:pPr>
            <a:r>
              <a:rPr lang="en-US" sz="1750" dirty="0">
                <a:solidFill>
                  <a:srgbClr val="000000"/>
                </a:solidFill>
                <a:latin typeface="Arial"/>
                <a:cs typeface="Arial"/>
              </a:rPr>
              <a:t>Toàn bộ KTC dưới dương ngưỡng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Câu hỏi (tốt hơn, như nhau, không kém) được định trong đề cương, trước khi có dữ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Làm đánh giá cải tiến chất lượng mạnh hơn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Nhiều điểm thời gian</a:t>
            </a:r>
          </a:p>
        </p:txBody>
      </p:sp>
      <p:sp>
        <p:nvSpPr>
          <p:cNvPr id="71" name="CardBody"/>
          <p:cNvSpPr/>
          <p:nvPr/>
        </p:nvSpPr>
        <p:spPr>
          <a:xfrm>
            <a:off x="457200" y="2556666"/>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Ít nhất 8-12 điểm trước và sau</a:t>
            </a:r>
          </a:p>
          <a:p>
            <a:pPr marL="0" indent="0" algn="ctr">
              <a:lnSpc>
                <a:spcPct val="104000"/>
              </a:lnSpc>
              <a:spcBef>
                <a:spcPts val="400"/>
              </a:spcBef>
              <a:buNone/>
            </a:pPr>
            <a:r>
              <a:rPr lang="en-US" sz="1750" dirty="0">
                <a:solidFill>
                  <a:srgbClr val="000000"/>
                </a:solidFill>
                <a:latin typeface="Arial"/>
                <a:cs typeface="Arial"/>
              </a:rPr>
              <a:t>Cùng một định nghĩa mỗi tháng</a:t>
            </a:r>
          </a:p>
        </p:txBody>
      </p:sp>
      <p:sp>
        <p:nvSpPr>
          <p:cNvPr id="72" name="CardHead"/>
          <p:cNvSpPr/>
          <p:nvPr/>
        </p:nvSpPr>
        <p:spPr>
          <a:xfrm>
            <a:off x="4283066" y="191666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Chuỗi đối chứng</a:t>
            </a:r>
          </a:p>
        </p:txBody>
      </p:sp>
      <p:sp>
        <p:nvSpPr>
          <p:cNvPr id="73" name="CardBody"/>
          <p:cNvSpPr/>
          <p:nvPr/>
        </p:nvSpPr>
        <p:spPr>
          <a:xfrm>
            <a:off x="4283066" y="2556666"/>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Một khoa hay bệnh viện không thay đổi</a:t>
            </a:r>
          </a:p>
          <a:p>
            <a:pPr marL="0" indent="0" algn="ctr">
              <a:lnSpc>
                <a:spcPct val="104000"/>
              </a:lnSpc>
              <a:spcBef>
                <a:spcPts val="400"/>
              </a:spcBef>
              <a:buNone/>
            </a:pPr>
            <a:r>
              <a:rPr lang="en-US" sz="1750" dirty="0">
                <a:solidFill>
                  <a:srgbClr val="000000"/>
                </a:solidFill>
                <a:latin typeface="Arial"/>
                <a:cs typeface="Arial"/>
              </a:rPr>
              <a:t>Cùng tháng, cùng cách đo</a:t>
            </a:r>
          </a:p>
        </p:txBody>
      </p:sp>
      <p:sp>
        <p:nvSpPr>
          <p:cNvPr id="74" name="CardHead"/>
          <p:cNvSpPr/>
          <p:nvPr/>
        </p:nvSpPr>
        <p:spPr>
          <a:xfrm>
            <a:off x="8108932" y="1916666"/>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Ghi các can thiệp khác</a:t>
            </a:r>
          </a:p>
        </p:txBody>
      </p:sp>
      <p:sp>
        <p:nvSpPr>
          <p:cNvPr id="75" name="CardBody"/>
          <p:cNvSpPr/>
          <p:nvPr/>
        </p:nvSpPr>
        <p:spPr>
          <a:xfrm>
            <a:off x="8108932" y="2556666"/>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Thay đổi nhân sự, chính sách mới, kiểm tra</a:t>
            </a:r>
          </a:p>
          <a:p>
            <a:pPr marL="0" indent="0" algn="ctr">
              <a:lnSpc>
                <a:spcPct val="104000"/>
              </a:lnSpc>
              <a:spcBef>
                <a:spcPts val="400"/>
              </a:spcBef>
              <a:buNone/>
            </a:pPr>
            <a:r>
              <a:rPr lang="en-US" sz="1750" dirty="0">
                <a:solidFill>
                  <a:srgbClr val="000000"/>
                </a:solidFill>
                <a:latin typeface="Arial"/>
                <a:cs typeface="Arial"/>
              </a:rPr>
              <a:t>Ghi lại ngay khi xảy ra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Trung bình trước-sau là yếu. Chuỗi thời gian dài có đối chứng mạnh hơn nhiều.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