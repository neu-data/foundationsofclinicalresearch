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anh chị trở lại. Lớp học trực tuyến từ 19:30 đến 22:30, có 15 phút giải lao. Thứ Bảy tuần trước (Buổi 5) cả lớp đã thu thập, làm sạch và mô tả dữ liệu. Hôm nay là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một phút kiểm tra nhanh: bình chọn, hoặc mời hai ba người trả lời, bật micro.</a:t>
            </a:r>
          </a:p>
          <a:p>
            <a:r>
              <a:rPr lang="en-US" sz="1400" b="0" dirty="0"/>
              <a:t>Bộ dữ liệu khóa học FLUID-ICU quay lại hai lần: ở 6.2 (so sánh các nhóm) và 6.4 (mô hình, sống còn và dữ liệu bị thiếu). Cả lớp cùng đi qua năm câu hỏi FLUID-ICU: Câu hỏi 1 (Q1) đầy đủ, Q2 đến Q5 là các ví dụ ngắn hơn. Hãy theo dõi kỹ câu hỏi anh chị đã chọn cho bản thảo: các diễn giải này sẽ trở thành phần Kết quả anh chị viết ở Tuần 7-8 từ gói kết quả phân tích của câu đó.</a:t>
            </a:r>
          </a:p>
          <a:p>
            <a:r>
              <a:rPr lang="en-US" sz="1400" b="0" dirty="0"/>
              <a:t>Các chữ viết tắt dùng hôm nay, mỗi chữ được giải thích ngay trên trang: KTC (khoảng tin cậy, tiếng Anh CI), OR (tỷ số chênh), HR (tỷ số nguy cơ tức thời), SAP (kế hoạch phân tích thống kê).</a:t>
            </a:r>
          </a:p>
          <a:p>
            <a:r>
              <a:rPr lang="en-US" sz="1400" b="0" dirty="0"/>
              <a:t>Thời lượng: ôn tập 19:30, 6.1 lúc 19:40, 6.2 lúc 20:20, giải lao 20:40, 6.3 lúc 20:55, 6.4 lúc 21:30, xây dựng đề cương 21:55, tổng kết 22:25.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C1 dạng bình chọn (trung bình (SD) hay trung vị (IQR)). C2 và C3: mỗi câu mời hai ba người trả lời. Rồi công bố đáp án.</a:t>
            </a:r>
          </a:p>
          <a:p>
            <a:r>
              <a:rPr lang="en-US" sz="1400" b="0" dirty="0"/>
              <a:t>C1: trung vị (IQR, khoảng tứ phân vị),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người bệnh flu-529: giá trị được đặt là thiếu và gửi câu hỏi đến cơ sở. Nhật ký làm sạch ghi mã người bệnh, giá trị gốc, cách xử lý (ở đây: đặt là thiếu), lý do (đã đối chiếu hồ sơ gốc) và ai làm khi nào.</a:t>
            </a:r>
          </a:p>
          <a:p>
            <a:r>
              <a:rPr lang="en-US" sz="1400" b="0" dirty="0"/>
              <a:t>Trước khi bắt đầu 6.1, đọc ba bốn câu trả lời cuối Buổi 5 (gửi qua khung chat tuần trước) và sửa các hiểu lầm chung.</a:t>
            </a:r>
          </a:p>
          <a:p>
            <a:r>
              <a:rPr lang="en-US" sz="1400" b="0" dirty="0"/>
              <a:t>Thời lượng: 10 phút (19:30 đến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19:40 đến 20:20: khoảng tin cậy, giá trị p, kiểm định một phía hay hai phía, năm cách hiểu sai giá trị p, kiểm tra nhanh, sai lầm và lực thống kê, cỡ mẫu với 5 phút trình diễn trực tiếp, chọn kiểm định, dữ liệu ghép cặp, so sánh bội, kiểm tra nhanh lần hai).</a:t>
            </a:r>
          </a:p>
          <a:p>
            <a:r>
              <a:rPr lang="en-US" sz="1400" b="0" dirty="0"/>
              <a:t>Thông điệp chính: cần thống kê vì không thể nghiên cứu mọi người bệnh sốc nhiễm khuẩn trên thế giới. Chỉ nghiên cứu được một mẫu, rồi dùng thống kê để nói câu trả lời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với một mẫu 40, 400 hay 620 người bệnh, ước lượng cách sự thật bao xa? Hình KTC qua 20 lần lặp lại nghiên cứu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tối nay. Hãy dành thời gian.</a:t>
            </a:r>
          </a:p>
          <a:p>
            <a:r>
              <a:rPr lang="en-US" sz="1400" b="0" dirty="0"/>
              <a:t>Chúng tôi mô phỏng cùng một nghiên cứu 20 lần, mỗi lần 25 người bệnh, từ một quần thể có cân bằng dịch trung bình thật là 30 ml/kg (đường đứt nét). Mỗi nghiên cứu cho một ước lượng khác nhau (chấm) và một khoảng tin cậy 95% (KTC 95%) khác nhau (đoạn thẳng đứng). Các khoảng thay đổi qua mỗi lần.</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KTC 95% là khoảng các giá trị của tác động thật phù hợp với dữ liệu của mình.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(mời hai ba người trả lời, bật micro): điều gì làm các khoảng ngắn lại? Dự kiến: nhiều người bệnh hơn, người bệnh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mình lên hình. Giá trị p là vùng màu cam: tỷ lệ các kết quả ít nhất cực đoan như kết quả của mình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có lý do nghi ngờ giả định 'không khác biệt'.</a:t>
            </a:r>
          </a:p>
          <a:p>
            <a:r>
              <a:rPr lang="en-US" sz="1400" b="0" dirty="0"/>
              <a:t>p = 0.42 (Bài báo 1: Boulet 2024, RCT thí điểm (pilot) so sánh hạn chế dịch với truyền dịch thường quy trong sốc nhiễm khuẩn, trong thư mục khóa học Course/Papers)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Chú ý cụm từ 'theo cả hai hướng': vùng màu cam nằm ở cả hai đuôi. Đó là giá trị p hai phía, cách làm mặc định. Trang sau giải thích vì sao.</a:t>
            </a:r>
          </a:p>
          <a:p>
            <a:r>
              <a:rPr lang="en-US" sz="1400" b="0" dirty="0"/>
              <a:t>Hỏi (mời hai ba người trả lời, bật micro): p nhỏ có cho biết tác động lớn không? Dự kiến: không. Đó là cách hiểu sai số 2, sau đây hai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kiểm định đều bắt đầu từ hai giả thuyết. H0, giả thuyết không: không có khác biệt giữa các nhóm. H1, giả thuyết đối: có khác biệt. Câu hỏi là H1 cho phép khác biệt theo cả hai hướng hay chỉ một hướng.</a:t>
            </a:r>
          </a:p>
          <a:p>
            <a:r>
              <a:rPr lang="en-US" sz="1400" b="0" dirty="0"/>
              <a:t>Hai phía (mặc định): H1 nói 'chiến lược hạn chế dịch làm thay đổi tử vong', tăng hoặc giảm. Kết quả nằm xa ở bất kỳ đuôi nào cũng được tính là bằng chứng. Điều này bảo vệ người bệnh: một điều trị mới có thể gây hại cũng như có lợi, và cần phát hiện cả hai. Phép tính cỡ mẫu của Bài báo 1 dùng alpha 5% hai phía. SAP của FLUID-ICU (kế hoạch phân tích thống kê, Course/Data/SAP_FLUID-ICU.md) dùng kiểm định hai phía cho mọi phân tích.</a:t>
            </a:r>
          </a:p>
          <a:p>
            <a:r>
              <a:rPr lang="en-US" sz="1400" b="0" dirty="0"/>
              <a:t>Một phía: H1 nói 'chiến lược hạn chế dịch làm giảm tử vong'. Một kết quả theo hướng ngược lại, dù cực đoan đến đâu, cũng bị xem là 'không khác biệt'. Vì chỉ tính một đuôi, cùng dữ liệu cho giá trị p chỉ bằng khoảng một nửa (p hai phía 0.08 thành p một phía 0.04). Đó là sự cám dỗ, và là lý do người phản biện nghi ngờ kiểm định một phía.</a:t>
            </a:r>
          </a:p>
          <a:p>
            <a:r>
              <a:rPr lang="en-US" sz="1400" b="0" dirty="0"/>
              <a:t>Khi nào kiểm định một phía chấp nhận được? Chỉ khi có lý do vững được ghi trong đề cương trước khi xem dữ liệu, thường là khi khác biệt theo hướng ngược lại là không thể xảy ra hoặc sẽ dẫn đến đúng cùng một quyết định. Điều này hiếm gặp trong nghiên cứu lâm sàng. Đổi sang một phía sau khi thấy kết quả là một dạng 'p-hacking' (xoay xở để có p đẹp).</a:t>
            </a:r>
          </a:p>
          <a:p>
            <a:r>
              <a:rPr lang="en-US" sz="1400" b="0" dirty="0"/>
              <a:t>Không giống thử nghiệm không kém hơn: thử nghiệm không kém hơn (Buổi 3, hình về ngưỡng) hỏi điều trị mới có kém điều trị cũ quá một ngưỡng định trước hay không. Trông có vẻ một chiều, nhưng đó là một thiết kế khác, với giả thuyết, ngưỡng, cỡ mẫu và cách phân tích riêng. Không được biến một thử nghiệm vượt trội thành thử nghiệm không kém hơn bằng cách đổi sang kiểm định một phía.</a:t>
            </a:r>
          </a:p>
          <a:p>
            <a:r>
              <a:rPr lang="en-US" sz="1400" b="0" dirty="0"/>
              <a:t>Hỏi (bình chọn): một thử nghiệm báo cáo 'p một phía = 0.03' mà không giải thích vì sao. Anh chị có tin không? Dự kiến: không. Cần hỏi vì sao một phía, và có lên kế hoạch trước không. p hai phía sẽ khoảng 0.06.</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Mở một bình chọn nhanh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người bệnh, một khác biệt nhỏ không có ý nghĩa lâm sàng vẫn có p rất nhỏ. Hãy xem độ lớn tác động và hỏi liệu nó có quan trọng với người bệnh không.</a:t>
            </a:r>
          </a:p>
          <a:p>
            <a:r>
              <a:rPr lang="en-US" sz="1400" b="0" dirty="0"/>
              <a:t>3. 'p = 0.42, vậy hai chiến lược tương đương.' Sai: Bài báo 1 là ví dụ hoàn hảo. KTC rộng cho thấy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(Hyun 2023, thuần tập ghép cặp theo điểm xu hướng về cân bằng dịch và tử vong, Course/Papers) làm đúng: tỷ số nguy cơ tức thời (HR) 2.13 (KTC 95% 1.48-3.06), p &lt; 0.001.</a:t>
            </a:r>
          </a:p>
          <a:p>
            <a:r>
              <a:rPr lang="en-US" sz="1400" b="0" dirty="0"/>
              <a:t>Năm câu này có trong Bài 1 (đúng hay sai) của phiếu bài tập Buổi 6 (tệp PDF gửi trước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Mỗi câu một bình chọn đúng/sai, rồi công bố.</a:t>
            </a:r>
          </a:p>
          <a:p>
            <a:r>
              <a:rPr lang="en-US" sz="1400" b="0" dirty="0"/>
              <a:t>1. Đúng: cách đọc thực tế của KTC 95% (Bài báo 2, ngày 2).</a:t>
            </a:r>
          </a:p>
          <a:p>
            <a:r>
              <a:rPr lang="en-US" sz="1400" b="0" dirty="0"/>
              <a:t>2. Sai: không có bằng chứng không phải là bằng chứng của việc không có. KTC của Bài báo 1 rất rộng (-15.2 đến 41.6).</a:t>
            </a:r>
          </a:p>
          <a:p>
            <a:r>
              <a:rPr lang="en-US" sz="1400" b="0" dirty="0"/>
              <a:t>3. Sai: p được tính khi giả định không có tác động. Nó không phải xác suất không có tác động.</a:t>
            </a:r>
          </a:p>
          <a:p>
            <a:r>
              <a:rPr lang="en-US" sz="1400" b="0" dirty="0"/>
              <a:t>4. Đúng: nhiều người bệnh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Kết luận điều trị có hiệu quả trong khi thực tế không. Thường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Lực thống kê (power)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người bệnh hơn.</a:t>
            </a:r>
          </a:p>
          <a:p>
            <a:r>
              <a:rPr lang="en-US" sz="1400" b="0" dirty="0"/>
              <a:t>Liên hệ lâm sàng: một thử nghiệm nhỏ 'âm tính' có thể chỉ là một đám cháy bị bỏ sót. Bài báo 1 là nghiên cứu thí điểm được thiết kế để phát hiện một khác biệt lớn. Một khác biệt thật nhỏ hơn rất dễ bị bỏ sót.</a:t>
            </a:r>
          </a:p>
          <a:p>
            <a:r>
              <a:rPr lang="en-US" sz="1400" b="0" dirty="0"/>
              <a:t>Hỏi (mời hai ba người trả lời, bật micro): sai lầm nào tệ hơn khi thử một thuốc mới, đắt và nhiều rủi ro? Còn với một can thiệp rẻ và an toàn? Không có một đáp án duy nhất. Đọc hai ba câu trả lời.</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người bệnh hơn khi (1) mức khác biệt muốn phát hiện lớn hơn và (2) người bệnh ít khác biệt nhau hơn (ít nhiễu, độ lệch chuẩn SD nhỏ hơn). Alpha và lực thống kê thường cố định ở 5% (hai phía) và 80-90%.</a:t>
            </a:r>
          </a:p>
          <a:p>
            <a:r>
              <a:rPr lang="en-US" sz="1400" b="0" dirty="0"/>
              <a:t>Đọc các đường cong: với khác biệt 30 ml/kg và SD 35, cần 22 người bệnh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lực thống kê 80%, alpha 5% hai phía: 22 mỗi nhóm, tổng 44, tăng thêm 10% cho tử vong thành 50 người bệnh.</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người bệnh năm ngoái' mà không tính toán. Người phản biện sẽ hỏi về lực thống kê.</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5 phút (rút từ 8 phút để có chỗ cho trang một phía hay hai phía). Kịch bản đầy đủ với kết quả dự kiến trong Course/Demos/s6_demo.md (Phần A).</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lực thống kê 80%, tỷ lệ 1:1. Kết quả dự kiến: 22 mỗi nhóm (tổng 44). Cộng 10% cho tử vong: 50. Khớp với bài báo.</a:t>
            </a:r>
          </a:p>
          <a:p>
            <a:r>
              <a:rPr lang="en-US" sz="1400" b="0" dirty="0"/>
              <a:t>Bước 3: hai tỷ lệ (câu hỏi thật của mình: tử vong 28 ngày). Thường quy 40%, hạn chế dịch 30%, lực thống kê 80%, alpha 5% hai phía. Kết quả dự kiến: khoảng 356 mỗi nhóm khi không hiệu chỉnh liên tục (khoảng 376 khi có hiệu chỉnh). Các phương pháp khác nhau cho con số hơi khác nhau. Điều đó bình thường.</a:t>
            </a:r>
          </a:p>
          <a:p>
            <a:r>
              <a:rPr lang="en-US" sz="1400" b="0" dirty="0"/>
              <a:t>Bước 4 (chỉ một hai thay đổi): lực thống kê 90% (n tăng lên khoảng 477 mỗi nhóm). Khác biệt 40% so với 35% (n tăng lên hơn 1400 mỗi nhóm). Mời cả lớp đoán hướng thay đổi bằng bình chọn trước khi bấm.</a:t>
            </a:r>
          </a:p>
          <a:p>
            <a:r>
              <a:rPr lang="en-US" sz="1400" b="0" dirty="0"/>
              <a:t>Bước 5: nếu mất mạng, mở Course/Resources/tools/sample_size_calculator.xlsx và trình bày các ví dụ tương tự. Các ô màu vàng là ô nhập.</a:t>
            </a:r>
          </a:p>
          <a:p>
            <a:r>
              <a:rPr lang="en-US" sz="1400" b="0" dirty="0"/>
              <a:t>Thông điệp chính: Bài báo 1 cần 50 người bệnh cho kết cục cân bằng dịch, nhưng một thử nghiệm về tử vong cần hàng trăm người bệnh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kiểm định khi bình phương. Tần số nhỏ? Dùng kiểm định chính xác Fisher.</a:t>
            </a:r>
          </a:p>
          <a:p>
            <a:r>
              <a:rPr lang="en-US" sz="1400" b="0" dirty="0"/>
              <a:t>Dữ liệu ghép cặp (cùng người bệnh đo trước và sau, hoặc các cặp được ghép): dùng phiên bản ghép cặp ở cột cuối: t ghép cặp, Wilcoxon cho cặp,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Bảng này là một trong những công cụ mang về của khóa học (cũng có trong phiếu bài tập Buổi 6, Bài 2). Nó thay hình sơ đồ trước đây bằng bảng chỉnh sửa được. Nội dung không đổi.</a:t>
            </a:r>
          </a:p>
          <a:p>
            <a:r>
              <a:rPr lang="en-US" sz="1400" b="0" dirty="0"/>
              <a:t>Hỏi (mời hai ba người trả lời, bật micro): so sánh tỷ lệ tổn thương thận cấp ở 24 so với 24 người bệnh, chỉ có 3 và 7 biến cố? Dự kiến: chính xác Fisher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chọn kiểm định hỏi 'ghép cặp hay không?'. Hình này cho thấy vì sao điều đó quan trọng.</a:t>
            </a:r>
          </a:p>
          <a:p>
            <a:r>
              <a:rPr lang="en-US" sz="1400" b="0" dirty="0"/>
              <a:t>Lactat mô phỏng ở 20 người bệnh lúc vào ICU và 6 giờ sau. Bên trái: vẽ như hai đám mây riêng, giá trị trước và sau chồng lấp nhiều. Người bệnh khác nhau rất nhiều, và sự khác biệt đó che lấp sự thay đổi.</a:t>
            </a:r>
          </a:p>
          <a:p>
            <a:r>
              <a:rPr lang="en-US" sz="1400" b="0" dirty="0"/>
              <a:t>Bên phải: cùng các con số, nhưng hai giá trị của mỗi người bệnh được nối lại. Mọi đường đều đi xuống. Mỗi người bệnh là đối chứng của chính mình, nên nhiễu giữa các người bệnh biến mất. Kiểm định ghép cặp (t ghép cặp, hoặc Wilcoxon cho cặp nếu dữ liệu lệch) dùng đúng điều này và có lực thống kê cao hơn nhiều.</a:t>
            </a:r>
          </a:p>
          <a:p>
            <a:r>
              <a:rPr lang="en-US" sz="1400" b="0" dirty="0"/>
              <a:t>Thiết kế ghép cặp: trước/sau trên cùng người bệnh, thử nghiệm bắt chéo, các cặp được ghép (Bài báo 2 ghép người bệnh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(mời hai ba người trả lời, bật micro): anh chị đo điểm đau ở 30 người bệnh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(mời hai ba người trả lời, bật micro):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Mỗi tình huống một bình chọn với bốn tên kiểm định làm lựa chọn, dựa vào bảng quyết định (số đo hay phân loại? hình dạng hay tần số? ghép cặp?).</a:t>
            </a:r>
          </a:p>
          <a:p>
            <a:r>
              <a:rPr lang="en-US" sz="1400" b="0" dirty="0"/>
              <a:t>1. Mann-Whitney U: số đo, lệch, hai nhóm độc lập (đây chính là câu hỏi thời gian nằm ICU của FLUID-ICU, Q5).</a:t>
            </a:r>
          </a:p>
          <a:p>
            <a:r>
              <a:rPr lang="en-US" sz="1400" b="0" dirty="0"/>
              <a:t>2. Khi bình phương: kết cục nhị phân, hai nhóm độc lập lớn.</a:t>
            </a:r>
          </a:p>
          <a:p>
            <a:r>
              <a:rPr lang="en-US" sz="1400" b="0" dirty="0"/>
              <a:t>3. t ghép cặp (hoặc Wilcoxon cho cặp nếu thay đổi bị lệch): cùng người bệnh đo hai lần.</a:t>
            </a:r>
          </a:p>
          <a:p>
            <a:r>
              <a:rPr lang="en-US" sz="1400" b="0" dirty="0"/>
              <a:t>4. Chính xác Fisher: kết cục nhị phân, tần số rất nhỏ.</a:t>
            </a:r>
          </a:p>
          <a:p>
            <a:r>
              <a:rPr lang="en-US" sz="1400" b="0" dirty="0"/>
              <a:t>Chuyển ý: giờ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20:20 đến 20:40: 6 phút trình diễn các kiểm định, bảng kết quả, một ví dụ minh họa với Q1, rồi 7 phút cả lớp cùng diễn giải các phép so sánh: Q1 đầy đủ, Q2 đến Q5 ngắn gọn).</a:t>
            </a:r>
          </a:p>
          <a:p>
            <a:r>
              <a:rPr lang="en-US" sz="1400" b="0" dirty="0"/>
              <a:t>Thông điệp chính: bảng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6 phút. Kịch bản đầy đủ: Course/Demos/s6_demo.md (Phần B), dùng Course/Data/R/03_compare.R.</a:t>
            </a:r>
          </a:p>
          <a:p>
            <a:r>
              <a:rPr lang="en-US" sz="1400" b="0" dirty="0"/>
              <a:t>Với mỗi phép so sánh, mời một người nêu tên kiểm định trước khi chạy (bảng quyết định).</a:t>
            </a:r>
          </a:p>
          <a:p>
            <a:r>
              <a:rPr lang="en-US" sz="1400" b="0" dirty="0"/>
              <a:t>Cho thấy: tuổi với kiểm định t. SOFA (điểm mức độ nặng) và lactat với Mann-Whitney (chú ý 91 người bệnh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Q1): 134/373 (35.9%) so với 45/245 (18.4%). Hiệu số nguy cơ 17.6 điểm phần trăm (KTC 95% 10.7 đến 24.4), RR 1.96. Khi bình phương p &lt; 0.001.</a:t>
            </a:r>
          </a:p>
          <a:p>
            <a:r>
              <a:rPr lang="en-US" sz="1400" b="0" dirty="0"/>
              <a:t>AKI (nhị phân, Q2): 230/373 (61.7%) so với 71/245 (29.0%). Khi bình phương p &lt; 0.001.</a:t>
            </a:r>
          </a:p>
          <a:p>
            <a:r>
              <a:rPr lang="en-US" sz="1400" b="0" dirty="0"/>
              <a:t>Số ngày không thở máy (biến đếm 0-28, dồn ở 0 và 28, Q3): trung vị 20 (0 đến 28) so với 28 (22 đến 28). Mann-Whitney p &lt; 0.001.</a:t>
            </a:r>
          </a:p>
          <a:p>
            <a:r>
              <a:rPr lang="en-US" sz="1400" b="0" dirty="0"/>
              <a:t>Thời gian nằm ICU ở người sống (lệch, Q5): trung vị 7.5 (5.2 đến 11.2) so với 4.8 (3.3 đến 7.1) ngày. Mann-Whitney p &lt; 0.001. Chênh lệch Hodges-Lehmann 2.5 ngày (KTC 95% 1.8 đến 3.2).</a:t>
            </a:r>
          </a:p>
          <a:p>
            <a:r>
              <a:rPr lang="en-US" sz="1400" b="0" dirty="0"/>
              <a:t>(Q4 so sánh lactat giữa người tử vong và người sống: trung vị 3.1 so với 2.3 mmol/L, có trong gói kết quả Q4.)</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(mời hai ba người trả lời, bật micro): con số nào anh chị đưa vào phần tóm tắt cho tử vong: p &lt; 0.001, hay hiệu số nguy cơ kèm KTC? Dự kiến: hiệu số nguy cơ kèm KTC (và sau đó là OR đã hiệu chỉnh).</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người bệnh cân bằng dương tử vong (35.9%), 45 trong 245 người bệnh cân bằng âm (18.4%).</a:t>
            </a:r>
          </a:p>
          <a:p>
            <a:r>
              <a:rPr lang="en-US" sz="1400" b="0" dirty="0"/>
              <a:t>Hiệu số nguy cơ: 35.9 - 18.4 = 17.6 điểm phần trăm (làm tròn), KTC 95% 10.7 đến 24.4: cách xa 0.</a:t>
            </a:r>
          </a:p>
          <a:p>
            <a:r>
              <a:rPr lang="en-US" sz="1400" b="0" dirty="0"/>
              <a:t>Nguy cơ tương đối: 35.9 / 18.4 = 1.96: nguy cơ khoảng gấp đôi.</a:t>
            </a:r>
          </a:p>
          <a:p>
            <a:r>
              <a:rPr lang="en-US" sz="1400" b="0" dirty="0"/>
              <a:t>Kiểm định: khi bình phương p &lt; 0.001 (hai phía): khác biệt như vậy sẽ rất đáng ngạc nhiên nếu không có khác biệt.</a:t>
            </a:r>
          </a:p>
          <a:p>
            <a:r>
              <a:rPr lang="en-US" sz="1400" b="0" dirty="0"/>
              <a:t>Nhưng: đây là thuần tập. Người bệnh cân bằng dương nặng hơn (SOFA 8 so với 6). So sánh thô không tách được dịch truyền khỏi mức độ nặng.</a:t>
            </a:r>
          </a:p>
          <a:p>
            <a:r>
              <a:rPr lang="en-US" sz="1400" b="0" dirty="0"/>
              <a:t>Câu mẫu: 'Tử vong 28 ngày là 35.9% ở người bệnh cân bằng dương và 18.4% ở người bệnh cân bằng âm (hiệu số nguy cơ 17.6 điểm phần trăm, KTC 95%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7 phút (20:33 đến 20:40). Bài 4 trong phiếu bài tập Buổi 6 có cùng các câu hỏi. Mỗi học viên hoàn thành sau cho câu hỏi mình đã chọn. Đáp án mẫu trong Course/Solutions/s6_solutions.md.</a:t>
            </a:r>
          </a:p>
          <a:p>
            <a:r>
              <a:rPr lang="en-US" sz="1400" b="0" dirty="0"/>
              <a:t>Q1 đầy đủ (4 phút): bình chọn về kiểm định (khi bình phương: kết cục nhị phân, hai nhóm lớn). Mời hai ba người trả lời về tác động. Gõ câu chung của lớp vào tài liệu chia sẻ: 'Tử vong 28 ngày là 35.9% ở nhóm cân bằng dương và 18.4% ở nhóm cân bằng âm (hiệu số nguy cơ 17.6 điểm phần trăm, KTC 95% 10.7 đến 24.4).' Rồi hỏi về sai lệch: nhiễu do chỉ định. Nhóm cân bằng dương nặng hơn.</a:t>
            </a:r>
          </a:p>
          <a:p>
            <a:r>
              <a:rPr lang="en-US" sz="1400" b="1" dirty="0"/>
              <a:t>Q2 đến Q5 (3 phút), mỗi câu một dòng, giảng viên đọc:</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(KTC 95% 1.8 đến 3.2).</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lớp bắt đầu lại lúc 20:55 với phần 6.3 (tương quan, hồi quy tuyến tính và logistic, hiệu chỉnh, Kaplan-Meier và Cox, các mô hình FLUID-ICU). Ai có câu hỏi về các phép so sánh có thể gửi vào khung chat.</a:t>
            </a:r>
          </a:p>
          <a:p>
            <a:r>
              <a:rPr lang="en-US" sz="1400" b="0" dirty="0"/>
              <a:t>Giải lao: 15 phút (20:40 đến 20:55). Bắt đầu lại đúng giờ.</a:t>
            </a:r>
          </a:p>
          <a:p>
            <a:r>
              <a:rPr lang="en-US" sz="1400" b="0" dirty="0"/>
              <a:t>Trong giờ giải lao: mở 04_models.R và 05_missing.R và kiểm tra các hình dự phòng cho phần 6.4.</a:t>
            </a:r>
          </a:p>
          <a:p>
            <a:r>
              <a:rPr lang="en-US" sz="1400" b="0" dirty="0"/>
              <a:t>Gom các câu hỏi gửi trong khung chat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20:55 đến 21:30: tương quan, hồi quy tuyến tính và logistic, chọn mô hình, hiệu chỉnh, đọc bảng hồi quy kèm 4 phút kiểm tra nhanh, quá khớp, kiểm duyệt và đọc đường cong Kaplan-Meier,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người bệnh, một r rất nhỏ như 0.1 vẫn có thể 'có ý nghĩa' mà vô dụng.</a:t>
            </a:r>
          </a:p>
          <a:p>
            <a:r>
              <a:rPr lang="en-US" sz="1400" b="0" dirty="0"/>
              <a:t>Hỏi (mời hai ba người trả lời, bật micro): khung nào giống tuổi so với huyết áp tâm thu ở người lớn? Dự kiến: dương, mức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tỷ số P/F, tức PaO2 chia FiO2,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KTC 95%. Giá trị không tác động là 0.</a:t>
            </a:r>
          </a:p>
          <a:p>
            <a:r>
              <a:rPr lang="en-US" sz="1400" b="0" dirty="0"/>
              <a:t>R²: tỷ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tỷ số P/F âm).</a:t>
            </a:r>
          </a:p>
          <a:p>
            <a:r>
              <a:rPr lang="en-US" sz="1400" b="0" dirty="0"/>
              <a:t>Hỏi (mời hai ba người trả lời, bật micro): trong bảng, B = -15 (KTC 95% -19 đến -11). Nghĩa là gì? Dự kiến: mỗi lít tăng thêm liên quan với tỷ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người bệnh mô phỏng, ở trên nếu tử vong và ở dưới nếu sống. Đường xanh: xác suất tử vong ở mỗi mức lactat: khoảng 9% ở 2 mmol/L, 29% ở 6, 62% ở 10.</a:t>
            </a:r>
          </a:p>
          <a:p>
            <a:r>
              <a:rPr lang="en-US" sz="1400" b="0" dirty="0"/>
              <a:t>Mô hình báo cáo tỷ số chênh (OR): ở đây mỗi 1 mmol/L tăng thêm nhân số chênh (odds) tử vong lên 1.42 lần. OR không đổi dọc theo đường cong. Còn thay đổi xác suất thì thay đổi (nhỏ ở hai đầu, lớn ở giữa).</a:t>
            </a:r>
          </a:p>
          <a:p>
            <a:r>
              <a:rPr lang="en-US" sz="1400" b="0" dirty="0"/>
              <a:t>Đây chính là OR anh chị đọc trong bảng hồi quy logistic, kèm KTC 95%. Giá trị không tác động là 1. OR đã hiệu chỉnh đến từ mô hình có nhiều biến.</a:t>
            </a:r>
          </a:p>
          <a:p>
            <a:r>
              <a:rPr lang="en-US" sz="1400" b="0" dirty="0"/>
              <a:t>Lỗi thường gặp: 'OR 1.42 nghĩa là tử vong nhiều hơn 42%'. Đó là số chênh cao hơn 42% mỗi đơn vị. Thay đổi nguy cơ phụ thuộc vị trí trên đường cong.</a:t>
            </a:r>
          </a:p>
          <a:p>
            <a:r>
              <a:rPr lang="en-US" sz="1400" b="0" dirty="0"/>
              <a:t>Hỏi (mời hai ba người trả lời, bật micro):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tỷ số chênh (OR). Không tác động = 1.</a:t>
            </a:r>
          </a:p>
          <a:p>
            <a:r>
              <a:rPr lang="en-US" sz="1400" b="0" dirty="0"/>
              <a:t>Thời gian đến sự kiện (thời gian đến tử vong, người bệnh còn sống ở ngày 28 được kiểm duyệt): hồi quy Cox. Báo cáo tỷ số nguy cơ tức thời (HR). Không tác động = 1. Bài báo 2 dùng hồi quy Cox.</a:t>
            </a:r>
          </a:p>
          <a:p>
            <a:r>
              <a:rPr lang="en-US" sz="1400" b="0" dirty="0"/>
              <a:t>Vì sao 0 và 1? Hiệu số bằng 0 nghĩa là không khác biệt. Tỷ số bằng 1 nghĩa là hai nhóm như nhau (2 chia 2 bằng 1).</a:t>
            </a:r>
          </a:p>
          <a:p>
            <a:r>
              <a:rPr lang="en-US" sz="1400" b="0" dirty="0"/>
              <a:t>Lỗi thường gặp: tìm xem 'KTC có cắt qua 0 không' trong bảng OR. Với tỷ số, đó là 1.</a:t>
            </a:r>
          </a:p>
          <a:p>
            <a:r>
              <a:rPr lang="en-US" sz="1400" b="0" dirty="0"/>
              <a:t>Hỏi (mời hai ba người trả lời, bật micro):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a:p>
            <a:r>
              <a:rPr lang="en-US" sz="1400" b="0" dirty="0"/>
              <a:t>Trang này giờ là bảng chỉnh sửa được (trước đây là ảnh).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người bệnh giống nhau về yếu tố đó.</a:t>
            </a:r>
          </a:p>
          <a:p>
            <a:r>
              <a:rPr lang="en-US" sz="1400" b="0" dirty="0"/>
              <a:t>Bên trái (thô): người bệnh được truyền nhiều dịch tử vong nhiều hơn (33% so với 18%). Có vẻ như dịch truyền có hại.</a:t>
            </a:r>
          </a:p>
          <a:p>
            <a:r>
              <a:rPr lang="en-US" sz="1400" b="0" dirty="0"/>
              <a:t>Bên phải (phân tầng theo mức độ nặng): ở người bệnh nhẹ hơn, 10% tử vong dù nhiều hay ít dịch. Ở người bệnh nặng hơn, 40% tử vong trong cả hai trường hợp. Trong từng mức độ nặng không có khác biệt.</a:t>
            </a:r>
          </a:p>
          <a:p>
            <a:r>
              <a:rPr lang="en-US" sz="1400" b="0" dirty="0"/>
              <a:t>Chuyện gì đã xảy ra? Người bệnh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(mời hai ba người trả lời, bật micro):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Người bệnh có cân bằng dịch dương có số chênh tử vong gấp 1.8 lần, sau khi hiệu chỉnh các biến khác trong bảng.</a:t>
            </a:r>
          </a:p>
          <a:p>
            <a:r>
              <a:rPr lang="en-US" sz="1400" b="0" dirty="0"/>
              <a:t>3. KTC 95%: 1.20 đến 2.70. Các giá trị hợp lý từ tăng 20% đến tăng 170% số chênh.</a:t>
            </a:r>
          </a:p>
          <a:p>
            <a:r>
              <a:rPr lang="en-US" sz="1400" b="0" dirty="0"/>
              <a:t>4. Giá trị không tác động: KTC có chứa 1 không? Không, nên p &lt; 0.05 (p = 0.004). Với giới nữ (0.65-1.30) và lactat (0.98-1.24), KTC chứa 1 (cột cuối): phù hợp với không có liên quan.</a:t>
            </a:r>
          </a:p>
          <a:p>
            <a:r>
              <a:rPr lang="en-US" sz="1400" b="0" dirty="0"/>
              <a:t>Các dòng tính theo đơn vị: OR 1.15 mỗi điểm SOFA nghĩa là mỗi điểm thêm nhân số chênh lên 1.15 lần. Thêm 5 điểm nhân số chênh lên khoảng 2 lần (1.15 mũ 5).</a:t>
            </a:r>
          </a:p>
          <a:p>
            <a:r>
              <a:rPr lang="en-US" sz="1400" b="0" dirty="0"/>
              <a:t>Bảng này là số liệu giả định, được xây dựng để giá trị p khớp với KTC.</a:t>
            </a:r>
          </a:p>
          <a:p>
            <a:r>
              <a:rPr lang="en-US" sz="1400" b="0" dirty="0"/>
              <a:t>Cách diễn đạt: 'có liên quan với', không phải 'gây ra'. Đây là phân tích quan sát.</a:t>
            </a:r>
          </a:p>
          <a:p>
            <a:r>
              <a:rPr lang="en-US" sz="1400" b="0" dirty="0"/>
              <a:t>Lỗi thường gặp: hiểu OR 1.8 là 'tử vong nhiều hơn 80%'. Đó là số chênh cao hơn 80%. Khi kết cục thường gặp (như tử vong ở ICU), nguy cơ tương đối (RR) nhỏ hơn OR.</a:t>
            </a:r>
          </a:p>
          <a:p>
            <a:r>
              <a:rPr lang="en-US" sz="1400" b="0" dirty="0"/>
              <a:t>Trang này giờ là bảng chỉnh sửa được (trước đây là ảnh). Cột 'KTC có chứa 1 không?' thay cho phần tô màu đỏ.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(4 phút), dùng bảng của ví dụ xuyên suốt ở trang trước (quay lại trang đó trên màn hình).</a:t>
            </a:r>
          </a:p>
          <a:p>
            <a:r>
              <a:rPr lang="en-US" sz="1400" b="0" dirty="0"/>
              <a:t>Bình chọn 1: có, 0.65 đến 1.30 chứa 1: phù hợp với không có liên quan giữa giới tính và tử vong.</a:t>
            </a:r>
          </a:p>
          <a:p>
            <a:r>
              <a:rPr lang="en-US" sz="1400" b="0" dirty="0"/>
              <a:t>Bình chọn 2: mỗi điểm SOFA thêm nhân số chênh tử vong lên 1.15 lần, sau khi hiệu chỉnh các biến khác (lựa chọn sai kinh điển: 'tử vong nhiều hơn 15% mỗi điểm': đó là số chênh, không phải nguy cơ).</a:t>
            </a:r>
          </a:p>
          <a:p>
            <a:r>
              <a:rPr lang="en-US" sz="1400" b="0" dirty="0"/>
              <a:t>Mời hai ba người trả lời, chọn một câu tốt và chỉnh lại trên màn hình. Câu mẫu: 'Sau khi hiệu chỉnh tuổi, SOFA, giới và lactat, người bệnh có cân bằng dịch dương có số chênh tử vong đến ngày 28 cao khoảng 1.8 lần (OR 1.80, KTC 95% 1.20 đến 2.70).'</a:t>
            </a:r>
          </a:p>
          <a:p>
            <a:r>
              <a:rPr lang="en-US" sz="1400" b="0" dirty="0"/>
              <a:t>Điều cần lắng nghe: nhóm tham chiếu đúng ('so với không'), dùng 'số chênh' thay vì 'nguy cơ', 'có liên quan với' thay vì 'gây ra'.</a:t>
            </a:r>
          </a:p>
          <a:p>
            <a:r>
              <a:rPr lang="en-US" sz="1400" b="0" dirty="0"/>
              <a:t>Luyện thêm (ở nhà): Bài 5 trong phiếu bài tập Buổi 6 (một bảng giả định về sảng, một ví dụ khác) và Bài 6 (đọc đường cong Kaplan-Meier). Đáp án trong Course/Solutions/s6_solutions.md.</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mình, không phải sự thật. Nó khớp hoàn hảo với người bệnh của mình và thất bại với những người bệnh tiếp theo.</a:t>
            </a:r>
          </a:p>
          <a:p>
            <a:r>
              <a:rPr lang="en-US" sz="1400" b="0" dirty="0"/>
              <a:t>Hình: đường đỏ đi qua cả 10 điểm đặc (dữ liệu của mình) nhưng bỏ lỡ các điểm rỗng (người bệnh mới). Đường thẳng xanh đơn giản dự đoán tốt hơn cho người bệnh mới.</a:t>
            </a:r>
          </a:p>
          <a:p>
            <a:r>
              <a:rPr lang="en-US" sz="1400" b="0" dirty="0"/>
              <a:t>Quy tắc ước lượng: khoảng 10 biến cố (ca tử vong, không phải số người bệnh)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bội, giữ lại các phát hiện ngẫu nhiên, ước lượng quá cao tác động của các biến còn lại, cho KTC quá hẹp, và các mẫu khác nhau chọn ra các biến khác nhau.</a:t>
            </a:r>
          </a:p>
          <a:p>
            <a:r>
              <a:rPr lang="en-US" sz="1400" b="0" dirty="0"/>
              <a:t>Tốt hơn: chọn yếu tố gây nhiễu từ trước dựa trên kiến thức lâm sàng và tài liệu đã công bố (sơ đồ nhân quả giúp ích), ghi vào SAP (6.4), và giữ trong giới hạn số biến cố mỗi biến.</a:t>
            </a:r>
          </a:p>
          <a:p>
            <a:r>
              <a:rPr lang="en-US" sz="1400" b="0" dirty="0"/>
              <a:t>Hỏi (mời hai ba người trả lời, bật micro):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thời gian theo dõi.</a:t>
            </a:r>
          </a:p>
          <a:p>
            <a:r>
              <a:rPr lang="en-US" sz="1400" b="0" dirty="0"/>
              <a:t>Mỗi đường là một người bệnh được theo dõi từ khi vào ICU. Dấu X đỏ là biến cố (tử vong). Vòng tròn là người bệnh bị kiểm duyệt (censoring): việc theo dõi dừng trước khi có biến cố, vì mất theo dõi (chuyển viện, không liên lạc được) hoặc vì nghiên cứu kết thúc ở ngày 28.</a:t>
            </a:r>
          </a:p>
          <a:p>
            <a:r>
              <a:rPr lang="en-US" sz="1400" b="0" dirty="0"/>
              <a:t>Kiểm duyệt không có nghĩa là bị loại. Người bệnh 3 cho biết họ còn sống trong 12 ngày, và phương pháp sống còn sử dụng thông tin đó. Loại họ ra, hay tính họ là sống đủ 28 ngày, đều làm sai lệch kết quả.</a:t>
            </a:r>
          </a:p>
          <a:p>
            <a:r>
              <a:rPr lang="en-US" sz="1400" b="0" dirty="0"/>
              <a:t>Vì sao không chỉ so sánh tỷ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(mời hai ba người trả lời, bật micro): một người bệnh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tỷ lệ còn sống theo thời gian ở mỗi nhóm, có xử lý đúng các người bệnh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người bệnh bị kiểm duyệt.</a:t>
            </a:r>
          </a:p>
          <a:p>
            <a:r>
              <a:rPr lang="en-US" sz="1400" b="0" dirty="0"/>
              <a:t>3. Khoảng cách theo chiều dọc giữa hai đường là khác biệt về sống còn tại thời điểm đó. Ở đây khoảng 70% so với 59% còn sống ở ngày 28 (thuần tập mô phỏng, 150 mỗi nhóm, tương tự câu hỏi của Bài báo 2).</a:t>
            </a:r>
          </a:p>
          <a:p>
            <a:r>
              <a:rPr lang="en-US" sz="1400" b="0" dirty="0"/>
              <a:t>4. Số còn theo dõi (number at risk) dưới hình cho biết còn bao nhiêu người bệnh đang được theo dõi. Khi con số này giảm, phần cuối bên phải của đường cong dựa trên ít người bệnh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(mục 6.4).</a:t>
            </a:r>
          </a:p>
          <a:p>
            <a:r>
              <a:rPr lang="en-US" sz="1400" b="0" dirty="0"/>
              <a:t>Bài báo 2 có đúng loại hình này (ước lượng Kaplan-Meier sống còn đến ngày 28 trong các thuần tập ghép cặp).</a:t>
            </a:r>
          </a:p>
          <a:p>
            <a:r>
              <a:rPr lang="en-US" sz="1400" b="0" dirty="0"/>
              <a:t>Hỏi (mời hai ba người trả lời, bật micro): nếu hai đường cong cắt nhau ở giữa, điều đó gợi ý gì? Dự kiến: tác động thay đổi theo thời gian. Giả định nguy cơ tỷ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21:30 đến 21:55: SAP, OR thô và đã hiệu chỉnh, mô hình hiệu chỉnh, Kaplan-Meier và Cox, lactat bị thiếu, trường hợp đầy đủ so với quy gán đa bội, rồi 7 phút cả lớp cùng diễn giải các mô hình: Q1 đầy đủ, Q2 đến Q5 ngắn gọn).</a:t>
            </a:r>
          </a:p>
          <a:p>
            <a:r>
              <a:rPr lang="en-US" sz="1400" b="0" dirty="0"/>
              <a:t>Thông điệp chính: đây là phần 6.3 (mô hình) áp dụng cho FLUID-ICU, và là thành quả của cả Tuần 5-6: anh chị sẽ thấy nhiễu do chỉ định làm một tỷ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có thật cho FLUID-ICU. Mở Course/Data/SAP_FLUID-ICU.md trên màn hình chia sẻ.</a:t>
            </a:r>
          </a:p>
          <a:p>
            <a:r>
              <a:rPr lang="en-US" sz="1400" b="0" dirty="0"/>
              <a:t>Phân tích chính: tử vong 28 ngày bằng hồi quy logistic đa biến. Số đo tác động: tỷ số chênh kèm KTC 95%. Cũng báo cáo OR thô và hiệu số nguy cơ. Mọi kiểm định là hai phía.</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(tổn thương thận cấp,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tỷ lệ.</a:t>
            </a:r>
          </a:p>
          <a:p>
            <a:r>
              <a:rPr lang="en-US" sz="1400" b="0" dirty="0"/>
              <a:t>Một yếu tố thay đổi tác động định trước: suy tim (trang bổ sung cho thấy kết quả).</a:t>
            </a:r>
          </a:p>
          <a:p>
            <a:r>
              <a:rPr lang="en-US" sz="1400" b="0" dirty="0"/>
              <a:t>Dữ liệu thiếu: được đánh giá và xử lý bằng phân tích các trường hợp đầy đủ cùng quy gán đa bội (m = 20) làm phân tích độ nhạy.</a:t>
            </a:r>
          </a:p>
          <a:p>
            <a:r>
              <a:rPr lang="en-US" sz="1400" b="0" dirty="0"/>
              <a:t>Hỏi (mời hai ba người trả lời, bật micro): vì sao viết trước bảo vệ tác giả? Dự kiến: không ai có thể cáo buộc họ chọn cách phân tích cho giá trị p 'đẹp nhất' (hay đổi sang kiểm định một phía).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(Q1). Dành 4 phút.</a:t>
            </a:r>
          </a:p>
          <a:p>
            <a:r>
              <a:rPr lang="en-US" sz="1400" b="0" dirty="0"/>
              <a:t>Tỷ số chênh (OR) thô, cả 618 người bệnh: 2.49 (KTC 95% 1.70 đến 3.70): cân bằng dương có vẻ liên quan mạnh với tử vong.</a:t>
            </a:r>
          </a:p>
          <a:p>
            <a:r>
              <a:rPr lang="en-US" sz="1400" b="0" dirty="0"/>
              <a:t>OR thô ở 527 trường hợp đầy đủ: 2.22 (1.48 đến 3.39): cùng người bệnh với mô hình hiệu chỉnh, nên so sánh công bằng.</a:t>
            </a:r>
          </a:p>
          <a:p>
            <a:r>
              <a:rPr lang="en-US" sz="1400" b="0" dirty="0"/>
              <a:t>OR đã hiệu chỉnh (tuổi, SOFA, lactat, vận mạch, thở máy, CKD), n = 527: 1.62 (KTC 95% 1.02 đến 2.59), p = 0.044.</a:t>
            </a:r>
          </a:p>
          <a:p>
            <a:r>
              <a:rPr lang="en-US" sz="1400" b="0" dirty="0"/>
              <a:t>Vì sao giảm: người bệnh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KTC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(mời hai ba người trả lời, bật micro):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(forest plot,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(bệnh thận mạn). Chúng có trong mô hình để hiệu chỉnh. Chúng không phải câu hỏi. Đừng diễn giải quá mức (lỗi 'ngụy biện Bảng 2', Table 2 fallacy).</a:t>
            </a:r>
          </a:p>
          <a:p>
            <a:r>
              <a:rPr lang="en-US" sz="1400" b="0" dirty="0"/>
              <a:t>Chú ý đơn vị: mỗi năm, mỗi điểm, mỗi mmol/L: OR nhỏ cho mỗi đơn vị có thể là tác động lớn qua nhiều đơn vị.</a:t>
            </a:r>
          </a:p>
          <a:p>
            <a:r>
              <a:rPr lang="en-US" sz="1400" b="0" dirty="0"/>
              <a:t>Hỏi (mời hai ba người trả lời, bật micro): dòng nào đưa vào phần tóm tắt? Dự kiến: chỉ dòng phơi nhiễm (cân bằng dương),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(Q1)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người bệnh tử vong.</a:t>
            </a:r>
          </a:p>
          <a:p>
            <a:r>
              <a:rPr lang="en-US" sz="1400" b="0" dirty="0"/>
              <a:t>Kiểm định log-rank: p &lt; 0.001 (khi bình phương 21.4): hai đường cong khác nhau. Nhưng log-rank chưa hiệu chỉnh: cùng nhiễu như OR thô.</a:t>
            </a:r>
          </a:p>
          <a:p>
            <a:r>
              <a:rPr lang="en-US" sz="1400" b="0" dirty="0"/>
              <a:t>Hỏi (mời hai ba người trả lời, bật micro): khác biệt lớn hơn ở giai đoạn sớm hay muộn? Dự kiến: mở ra trong những ngày đầu rồi hai đường chạy gần song song, điều này hỗ trợ giả định nguy cơ tỷ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tỷ số nguy cơ tức thời, hiệu chỉnh theo cùng các yếu tố gây nhiễu.</a:t>
            </a:r>
          </a:p>
          <a:p>
            <a:r>
              <a:rPr lang="en-US" sz="1400" b="0" dirty="0"/>
              <a:t>HR thô 2.17 (KTC 95% 1.55 đến 3.05) giảm còn HR đã hiệu chỉnh 1.46 (KTC 95% 1.00 đến 2.13), p = 0.053: cùng nhiễu như với OR.</a:t>
            </a:r>
          </a:p>
          <a:p>
            <a:r>
              <a:rPr lang="en-US" sz="1400" b="0" dirty="0"/>
              <a:t>Đã kiểm tra nguy cơ tỷ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cách hiểu sai giá trị p, 6.1). Và đừng bao giờ 'cứu' p = 0.053 bằng cách đổi sang kiểm định một phía (6.1).</a:t>
            </a:r>
          </a:p>
          <a:p>
            <a:r>
              <a:rPr lang="en-US" sz="1400" b="0" dirty="0"/>
              <a:t>Hỏi (mời hai ba người trả lời, bật micro): anh chị viết điều này thế nào trong phần Kết quả? Dự kiến: báo cáo cả hai ước lượng kèm KTC,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người bệnh có một số giá trị lactat bị thiếu. (Trang này giữ dạng ảnh: các bảng dữ liệu nhỏ, với giá trị bị ẩn màu đỏ, chính là điểm cần thấy.)</a:t>
            </a:r>
          </a:p>
          <a:p>
            <a:r>
              <a:rPr lang="en-US" sz="1400" b="0" dirty="0"/>
              <a:t>MCAR, thiếu hoàn toàn ngẫu nhiên: rơi ống mẫu, máy xét nghiệm hỏng. Việc thiếu không liên quan gì đến người bệnh. Những người bệnh còn lại là một tập con ngẫu nhiên. Phân tích các trường hợp đầy đủ không bị sai lệch, chỉ kém chính xác hơn. Hiếm gặp trong thực tế.</a:t>
            </a:r>
          </a:p>
          <a:p>
            <a:r>
              <a:rPr lang="en-US" sz="1400" b="0" dirty="0"/>
              <a:t>MAR, thiếu ngẫu nhiên (có điều kiện theo những gì đã ghi): lactat không được đo ở người bệnh vào ban đêm. Việc thiếu phụ thuộc vào một điều có trong dữ liệu (giờ nhập viện). Các phương pháp như quy gán đa bội có thể dùng biến đã ghi nhận đó để sửa sai lệch.</a:t>
            </a:r>
          </a:p>
          <a:p>
            <a:r>
              <a:rPr lang="en-US" sz="1400" b="0" dirty="0"/>
              <a:t>MNAR, thiếu không ngẫu nhiên: các giá trị lactat bị thiếu là những giá trị cao nhất (người bệnh nặng nhất, giá trị vượt ngưỡng máy, các số màu đỏ không bao giờ thấy được). Việc thiếu phụ thuộc chính giá trị bị thiếu. Không phương pháp thống kê nào sửa được hoàn toàn. Chỉ có thể kiểm tra xem nó ảnh hưởng đến đâu (phân tích độ nhạy).</a:t>
            </a:r>
          </a:p>
          <a:p>
            <a:r>
              <a:rPr lang="en-US" sz="1400" b="0" dirty="0"/>
              <a:t>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bị thiếu đầu tiên ở phần 5.1: người bệnh nặng nhất bị thiếu là MNAR, trường hợp xấu nhất.</a:t>
            </a:r>
          </a:p>
          <a:p>
            <a:r>
              <a:rPr lang="en-US" sz="1400" b="0" dirty="0"/>
              <a:t>Hỏi (mời hai ba người trả lời, bật micro): kết cục ngày 28 bị thiếu ở người bệnh chuyển sang bệnh viện khác. Cơ chế nào có khả năng nhất? Dự kiến: có thể là MNAR (người bệnh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người bệnh (15.0%). Hình cho thấy tỷ lệ thiếu theo điểm SOFA: cao hơn nhiều ở người bệnh nhẹ nhất.</a:t>
            </a:r>
          </a:p>
          <a:p>
            <a:r>
              <a:rPr lang="en-US" sz="1400" b="0" dirty="0"/>
              <a:t>Người bệnh không có lactat có SOFA trung vị 5 (4 đến 6) so với 8 (6 đến 10) ở người có lactat, và tử vong thấp hơn: 18/93 (19.4%) so với 161/527 (30.6%).</a:t>
            </a:r>
          </a:p>
          <a:p>
            <a:r>
              <a:rPr lang="en-US" sz="1400" b="0" dirty="0"/>
              <a:t>Vậy dữ liệu không thiếu hoàn toàn ngẫu nhiên (MCAR): phân tích các trường hợp đầy đủ bỏ chủ yếu các người bệnh nhẹ hơn. Việc thiếu phụ thuộc những gì đã ghi nhận (mức độ nặng, ICU): thiếu ngẫu nhiên (MAR) là hợp lý, đúng tình huống quy gán đa bội hoạt động tốt.</a:t>
            </a:r>
          </a:p>
          <a:p>
            <a:r>
              <a:rPr lang="en-US" sz="1400" b="0" dirty="0"/>
              <a:t>Hỏi (mời hai ba người trả lời, bật micro):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trường hợp đầy đủ 1.39 (1.24 đến 1.57), n = 527. Quy gán đa bội 1.45 (1.29 đến 1.64), n = 620. Thêm SOFA: 1.21 (1.05 đến 1.39) so với 1.23 (1.07 đến 1.42).</a:t>
            </a:r>
          </a:p>
          <a:p>
            <a:r>
              <a:rPr lang="en-US" sz="1400" b="0" dirty="0"/>
              <a:t>Mô hình chính Q1 với quy gán đa bội (m = 20, n = 620): OR đã hiệu chỉnh 1.70 (KTC 95% 1.09 đến 2.64), p = 0.020, so với 1.62 (1.02 đến 2.59) ở trường hợp đầy đủ.</a:t>
            </a:r>
          </a:p>
          <a:p>
            <a:r>
              <a:rPr lang="en-US" sz="1400" b="0" dirty="0"/>
              <a:t>Diễn giải: kết luận không phụ thuộc vào cách xử lý lactat bị thiếu: một kết quả vững. Nếu hai cách cho kết quả rất khác nhau, phải nói rõ.</a:t>
            </a:r>
          </a:p>
          <a:p>
            <a:r>
              <a:rPr lang="en-US" sz="1400" b="0" dirty="0"/>
              <a:t>Chú ý thêm: lactat trung vị là 2.6 mmol/L ở trường hợp đầy đủ và 2.4 sau khi quy gán: các giá trị quy gán thấp hơn, như dự kiến, vì người bệnh bị thiếu nhẹ hơn.</a:t>
            </a:r>
          </a:p>
          <a:p>
            <a:r>
              <a:rPr lang="en-US" sz="1400" b="0" dirty="0"/>
              <a:t>Hỏi (mời hai ba người trả lời, bật micro): anh chị viết gì trong phần Phương pháp? Dự kiến: 'Lactat bị thiếu (15.0%) được xử lý bằng quy gán đa bội (20 bộ dữ liệu) như phân tích độ nhạy. Kết quả tương tự phân tích các trường hợp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7 phút (21:48 đến 21:55). Bài 8 trong phiếu bài tập Buổi 6 có cùng các câu hỏi. Mỗi học viên hoàn thành sau cho câu hỏi mình đã chọn. Đáp án mẫu trong Course/Solutions/s6_solutions.md.</a:t>
            </a:r>
          </a:p>
          <a:p>
            <a:r>
              <a:rPr lang="en-US" sz="1400" b="0" dirty="0"/>
              <a:t>Q1 đầy đủ (4 phút): OR thô 2.49 (1.70 đến 3.70), đã hiệu chỉnh 1.62 (1.02 đến 2.59): giảm vì mức độ nặng là yếu tố gây nhiễu (nhiễu do chỉ định). Bình chọn: không, KTC đã hiệu chỉnh không chứa 1, nhưng giới hạn dưới gần 1. Gõ câu chung của lớp: 'Cân bằng dịch dương có liên quan với tử vong 28 ngày cao hơn (OR thô 2.49, KTC 95% 1.70 đến 3.70). Sau khi hiệu chỉnh tuổi, SOFA, lactat, dùng vận mạch, thở máy và bệnh thận mạn, mối liên quan nhỏ hơn (OR đã hiệu chỉnh 1.62, KTC 95% 1.02 đến 2.59).' Nhắc HR đã hiệu chỉnh từ mô hình Cox 1.46 (1.00 đến 2.13) và OR đã hiệu chỉnh với quy gán đa bội 1.70 (1.09 đến 2.64).</a:t>
            </a:r>
          </a:p>
          <a:p>
            <a:r>
              <a:rPr lang="en-US" sz="1400" b="1" dirty="0"/>
              <a:t>Q2 đến Q5 (3 phút), mỗi câu một dòng, giảng viên đọc:</a:t>
            </a:r>
          </a:p>
          <a:p>
            <a:r>
              <a:rPr lang="en-US" sz="1400" b="0" dirty="0"/>
              <a:t>Q2: OR của AKI mỗi 10 ml/kg thô 1.37 (1.27 đến 1.47), đã hiệu chỉnh 1.27 (1.16 đến 1.40).</a:t>
            </a:r>
          </a:p>
          <a:p>
            <a:r>
              <a:rPr lang="en-US" sz="1400" b="0" dirty="0"/>
              <a:t>Q3: số ngày không thở máy mỗi 10 ml/kg thô -1.48 (-1.84 đến -1.13), đã hiệu chỉnh -0.61 (-1.00 đến -0.21) ngày.</a:t>
            </a:r>
          </a:p>
          <a:p>
            <a:r>
              <a:rPr lang="en-US" sz="1400" b="0" dirty="0"/>
              <a:t>Q4: OR lactat mỗi 1 mmol/L đã hiệu chỉnh, trường hợp đầy đủ 1.39 (1.24 đến 1.57) so với quy gán đa bội 1.45 (1.29 đến 1.64).</a:t>
            </a:r>
          </a:p>
          <a:p>
            <a:r>
              <a:rPr lang="en-US" sz="1400" b="0" dirty="0"/>
              <a:t>Q5: tỷ số trung bình nhân thời gian nằm ICU thô 1.50 (1.34 đến 1.68), đã hiệu chỉnh 1.24 (1.10 đến 1.39).</a:t>
            </a:r>
          </a:p>
          <a:p>
            <a:r>
              <a:rPr lang="en-US" sz="1400" b="0" dirty="0"/>
              <a:t>Mẫu hình cần chỉ ra: ở mọi câu hỏi, ước lượng đã hiệu chỉnh gần 'không tác động' hơn ước lượng thô: dấu hiệu điển hình của nhiễu do chỉ định.</a:t>
            </a:r>
          </a:p>
          <a:p>
            <a:r>
              <a:rPr lang="en-US" sz="1400" b="0" dirty="0"/>
              <a:t>Các câu này trở thành phần cốt lõi của mục Kết quả mà mỗi học viên viết ở Buổi 7 cho câu hỏi mình chọn.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giảng viên bắt đầu làm mẫu.</a:t>
            </a:r>
          </a:p>
          <a:p>
            <a:r>
              <a:rPr lang="en-US" sz="1400" b="0" dirty="0"/>
              <a:t>Cỡ mẫu: một câu với bốn đầu vào (giá trị dự kiến mỗi nhóm, alpha, lực thống kê) và phần dự phòng bỏ cuộc: 'Giả định tử vong 28 ngày là 40% với chăm sóc thường quy và 30% với chiến lược hạn chế dịch, 356 người bệnh mỗi nhóm cho lực thống kê 80% với alpha hai phía 5%. Dự phòng 10% mất theo dõi, chúng tôi sẽ tuyển 396 người bệnh mỗi nhóm.' (356 / 0.9 = 395.6, làm tròn lên.)</a:t>
            </a:r>
          </a:p>
          <a:p>
            <a:r>
              <a:rPr lang="en-US" sz="1400" b="0" dirty="0"/>
              <a:t>Kế hoạch phân tích dễ hiểu: cách tóm tắt cho từng loại biến, kiểm định hoặc mô hình cho kết cục chính, số đo tác động kèm KTC 95%, và 'mọi kiểm định là hai phía'.</a:t>
            </a:r>
          </a:p>
          <a:p>
            <a:r>
              <a:rPr lang="en-US" sz="1400" b="0" dirty="0"/>
              <a:t>Yếu tố gây nhiễu: với thiết kế quan sát, nêu tên (từ phần sai lệch ở Phần 2) trong giới hạn số biến cố mỗi biến. Không chọn biến từng bước.</a:t>
            </a:r>
          </a:p>
          <a:p>
            <a:r>
              <a:rPr lang="en-US" sz="1400" b="0" dirty="0"/>
              <a:t>Kế hoạch dữ liệu thiếu: mức thiếu dự kiến và vì sao (tư duy MCAR / MAR / MNAR), phòng ngừa (Buổi 5), và cách báo cáo dữ liệu thiếu (bao nhiêu, ở ai). Cấp độ 2 chỉ giới thiệu qua quy gán đa bội. Quy gán và phân tích độ nhạy được học sâu ở Cấp độ 3 (Học phần H).</a:t>
            </a:r>
          </a:p>
          <a:p>
            <a:r>
              <a:rPr lang="en-US" sz="1400" b="0" dirty="0"/>
              <a:t>Mỗi học viên viết phần này cho câu hỏi nghiên cứu của chính mình (đề cương của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(21:55 đến 22:25). Mẫu: Course/Templates/Research_Proposal_Template.docx. Phiếu bài tập: Bài 9 trong phiếu bài tập Buổi 6, có cùng các tiêu đề.</a:t>
            </a:r>
          </a:p>
          <a:p>
            <a:r>
              <a:rPr lang="en-US" sz="1400" b="0" dirty="0"/>
              <a:t>Làm mẫu trực tiếp (18 phút) trên ví dụ xuyên suốt, gõ vào một bản sao của mẫu đề cương trên màn hình chia sẻ: câu phát biểu cỡ mẫu với bốn đầu vào và nguồn của chúng (6 phút, dùng Course/Resources/tools/sample_size_calculator.xlsx), kế hoạch phân tích dễ hiểu (5 phút), yếu tố gây nhiễu trong giới hạn khoảng 10 biến cố mỗi biến (3 phút), kế hoạch dữ liệu thiếu (4 phút). Mời từng người gợi ý trong lúc làm.</a:t>
            </a:r>
          </a:p>
          <a:p>
            <a:r>
              <a:rPr lang="en-US" sz="1400" b="0" dirty="0"/>
              <a:t>Thời gian làm riêng (10 phút): mỗi người viết bốn đầu vào cỡ mẫu cho nghiên cứu của mình và nguồn của từng đầu vào (có thể tắt camera). Chưa cần con số cuối cùng. Sau đó 2 phút hỏi đáp qua khung chat.</a:t>
            </a:r>
          </a:p>
          <a:p>
            <a:r>
              <a:rPr lang="en-US" sz="1400" b="0" dirty="0"/>
              <a:t>SAP của FLUID-ICU là mẫu tốt: học viên vừa thấy nó được viết trước khi phân tích.</a:t>
            </a:r>
          </a:p>
          <a:p>
            <a:r>
              <a:rPr lang="en-US" sz="1400" b="0" dirty="0"/>
              <a:t>Vấn đề thường gặp cần nhắc khi làm mẫu: kế hoạch phân tích chỉ ghi 'sẽ dùng SPSS'. Chọn biến từng bước. Không nói gì về dữ liệu thiếu. Cỡ mẫu = 'tất cả người bệnh có được'. Dùng kiểm định một phía mà không có lý do.</a:t>
            </a:r>
          </a:p>
          <a:p>
            <a:r>
              <a:rPr lang="en-US" sz="1400" b="0" dirty="0"/>
              <a:t>Về nhà: hoàn thành Phần 3 (kế hoạch phân tích, yếu tố gây nhiễu, kế hoạch dữ liệu thiếu) trong mẫu của mình. Đề nghị kiểm tra giúp các đầu vào cỡ mẫu qua email.</a:t>
            </a:r>
          </a:p>
          <a:p>
            <a:r>
              <a:rPr lang="en-US" sz="1400" b="0" dirty="0"/>
              <a:t>Đúng 22:25,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buổi học (2 phút). Chỉ vào từng từ và mời một người định nghĩa trong một câu, bật micro.</a:t>
            </a:r>
          </a:p>
          <a:p>
            <a:r>
              <a:rPr lang="en-US" sz="1400" b="0" dirty="0"/>
              <a:t>KTC 95% (khoảng tin cậy): khoảng các giá trị hợp lý. Giá trị p: dữ liệu đáng ngạc nhiên đến đâu nếu không có tác động. Mặc định là hai phía. Lực thống kê: khả năng phát hiện tác động thật.</a:t>
            </a:r>
          </a:p>
          <a:p>
            <a:r>
              <a:rPr lang="en-US" sz="1400" b="0" dirty="0"/>
              <a:t>Kiểm định t / Mann-Whitney: so sánh một số đo giữa hai nhóm (đối xứng / lệch). Khi bình phương: so sánh tỷ lệ. Ghép cặp: cùng người bệnh đo hai lần.</a:t>
            </a:r>
          </a:p>
          <a:p>
            <a:r>
              <a:rPr lang="en-US" sz="1400" b="0" dirty="0"/>
              <a:t>OR đã hiệu chỉnh (tỷ số chênh): tỷ số chênh sau khi tính đến yếu tố gây nhiễu. Tỷ số nguy cơ tức thời: tỷ số tốc độ tử vong theo thời gian (Cox). Kiểm duyệt: theo dõi kết thúc mà chưa có biến cố.</a:t>
            </a:r>
          </a:p>
          <a:p>
            <a:r>
              <a:rPr lang="en-US" sz="1400" b="0" dirty="0"/>
              <a:t>SAP (kế hoạch phân tích thống kê): kế hoạch viết trước khi thấy dữ liệu. MCAR / MAR / MNAR: vì sao dữ liệu bị thiếu. Quy gán đa bội: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 phút). Mời ba người tình nguyện (nút giơ tay) cho một ví dụ hôm nay cho mỗi thẻ.</a:t>
            </a:r>
          </a:p>
          <a:p>
            <a:r>
              <a:rPr lang="en-US" sz="1400" b="0" dirty="0"/>
              <a:t>Đọc KTC: độ lớn, chiều hướng, độ chính xác. Giá trị không tác động 0 hay 1. Tránh năm cách hiểu sai giá trị p.</a:t>
            </a:r>
          </a:p>
          <a:p>
            <a:r>
              <a:rPr lang="en-US" sz="1400" b="0" dirty="0"/>
              <a:t>Hiệu chỉnh trung thực: FLUID-ICU cho thấy nhiễu do chỉ định: OR thô giảm sau khi hiệu chỉnh mức độ nặng. Yếu tố gây nhiễu được chọn theo kiến thức, không theo cách chọn biến từng bước.</a:t>
            </a:r>
          </a:p>
          <a:p>
            <a:r>
              <a:rPr lang="en-US" sz="1400" b="0" dirty="0"/>
              <a:t>Lập kế hoạch trước: SAP của FLUID-ICU được viết trước khi phân tích, với kiểm định hai phía. Lactat bị thiếu được báo cáo, xử lý bằng quy gán đa bội và đối chiếu với phân tích các trường hợp đầy đủ.</a:t>
            </a:r>
          </a:p>
          <a:p>
            <a:r>
              <a:rPr lang="en-US" sz="1400" b="0" dirty="0"/>
              <a:t>Hai thứ Bảy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(22:25 đến 22:30), gồm cả trang từ khóa và tóm tắt.</a:t>
            </a:r>
          </a:p>
          <a:p>
            <a:r>
              <a:rPr lang="en-US" sz="1400" b="0" dirty="0"/>
              <a:t>Câu hỏi cuối buổi trong khung chat. Mục đích: kiểm tra kỹ năng quan trọng nhất hôm nay, đọc một KTC. Câu trả lời tốt: 'Tỷ số nguy cơ tức thời thật có thể hợp lý nằm trong khoảng 1.48 đến 3.06. Mọi giá trị đều lớn hơn 1, nên dữ liệu gợi ý tử vong cao hơn.' Giảng viên đọc các câu trả lời trước Buổi 7 và mở đầu Buổi 7 bằng hai ba câu trong số đó.</a:t>
            </a:r>
          </a:p>
          <a:p>
            <a:r>
              <a:rPr lang="en-US" sz="1400" b="0" dirty="0"/>
              <a:t>Về nhà: hoàn thành Phần 3 đề cương của mình. Bắt đầu các slide đề cương (6 slide, Course/Assignment/presentation_guide.md): mọi người đều nộp slide, và khoảng năm người tình nguyện trình bày ở Buổi 8 (mỗi người 6 phút). Đọc lại gói kết quả của câu hỏi mình đã chọn (Q1 đến Q5) và ghi chép từ các ví dụ hôm nay, sẽ trở thành phần Phương pháp và Kết quả viết ở Buổi 7. Bài tập tùy chọn trong phiếu bài tập Buổi 6 (Bài 2, 3, 5, 6 và 7).</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đã hiệu chỉnh cho tử vong, cân bằng dương so với âm: suy tim (n = 90) 4.39 (KTC 95% 1.65 đến 12.38). Không suy tim (n = 437) 1.29 (0.77 đến 2.19). p tương tác = 0.031 (Wald, kiểm định tỷ số khả dĩ p = 0.028).</a:t>
            </a:r>
          </a:p>
          <a:p>
            <a:r>
              <a:rPr lang="en-US" sz="1400" b="0" dirty="0"/>
              <a:t>Hợp lý về lâm sàng: người bệnh suy tim dung nạp dịch kém hơn.</a:t>
            </a:r>
          </a:p>
          <a:p>
            <a:r>
              <a:rPr lang="en-US" sz="1400" b="0" dirty="0"/>
              <a:t>Nhưng: phân nhóm nhỏ (90 người bệnh), KTC rất rộng, và SAP ghi rằng p tương tác &lt; 0.05 là 'bằng chứng cần xác nhận, chưa phải kết luận chắc chắn'. Báo cáo như phân tích thăm dò.</a:t>
            </a:r>
          </a:p>
          <a:p>
            <a:r>
              <a:rPr lang="en-US" sz="1400" b="0" dirty="0"/>
              <a:t>Nối với trang bổ sung về tương tác và với so sánh bội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2 (Q2), tổn thương thận cấp (AKI).</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đã hiệu chỉnh 1.27 (1.16 đến 1.40), p &lt; 0.001 (n = 527).</a:t>
            </a:r>
          </a:p>
          <a:p>
            <a:r>
              <a:rPr lang="en-US" sz="1400" b="0" dirty="0"/>
              <a:t>Thận trọng: có thể có nhân quả ngược: người bệnh đang bị AKI tiểu ít hơn, nên cân bằng dịch dương hơn. Thời điểm AKI so với cân bằng dịch là quan trọng. Bàn trong phần hạn chế.</a:t>
            </a:r>
          </a:p>
          <a:p>
            <a:r>
              <a:rPr lang="en-US" sz="1400" b="0" dirty="0"/>
              <a:t>Hữu ích cho ai đã chọn Q2 cho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3 (Q3).</a:t>
            </a:r>
          </a:p>
          <a:p>
            <a:r>
              <a:rPr lang="en-US" sz="1400" b="0" dirty="0"/>
              <a:t>Số ngày không thở máy đến ngày 28 bằng 0 với người bệnh tử vong hoặc thở máy suốt, và bằng 28 với người không bao giờ thở máy: dồn thành hai cụm,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đã hiệu chỉnh -0.61 (-1.00 đến -0.21) ngày, p = 0.003 (n = 527).</a:t>
            </a:r>
          </a:p>
          <a:p>
            <a:r>
              <a:rPr lang="en-US" sz="1400" b="0" dirty="0"/>
              <a:t>Ý chính: luôn xem phân phối trước khi chọn cách tóm tắt và mô hình. Hữu ích cho ai đã chọn Q3 cho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cần tìm hiểu (mọi người lớn bị sốc nhiễm khuẩn). Không bao giờ thấy hết được. Mẫu là những người bệnh thực sự được nghiên cứu.</a:t>
            </a:r>
          </a:p>
          <a:p>
            <a:r>
              <a:rPr lang="en-US" sz="1400" b="0" dirty="0"/>
              <a:t>Trong mẫu 40 người bệnh, 12 người tử vong: 30%. Đó là ước lượng của tỷ lệ tử vong thật.</a:t>
            </a:r>
          </a:p>
          <a:p>
            <a:r>
              <a:rPr lang="en-US" sz="1400" b="0" dirty="0"/>
              <a:t>Một mẫu 40 người bệnh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tỷ lệ tử vong thật có thể hợp lý nằm ở bất kỳ đâu trong khoảng này. Với chỉ 40 người bệnh, khoảng này rộng.</a:t>
            </a:r>
          </a:p>
          <a:p>
            <a:r>
              <a:rPr lang="en-US" sz="1400" b="0" dirty="0"/>
              <a:t>Hai điều kiện để mẫu phản ánh được quần thể: mẫu phải đại diện (sai lệch chọn lựa, Buổi 4) và đủ lớn (độ chính xác).</a:t>
            </a:r>
          </a:p>
          <a:p>
            <a:r>
              <a:rPr lang="en-US" sz="1400" b="0" dirty="0"/>
              <a:t>Hỏi: nếu nghiên cứu 400 người bệnh thay vì 40, khoảng tin cậy sẽ thế nào? Dự kiến: hẹp hơn. Đó là trang 'Khoảng tin cậy qua 20 lần lặp lại nghiên cứu' và trang cỡ mẫu trong mục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KTC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KTC 95%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thí điểm (pilot) với 48 người bệnh.</a:t>
            </a:r>
          </a:p>
          <a:p>
            <a:r>
              <a:rPr lang="en-US" sz="1400" b="0" dirty="0"/>
              <a:t>Nếu có người hỏi vì sao 13.2 không bằng 35.0 trừ 6.9 (28.1): 13.2 là hiệu của hai giá trị trung bình, được tác giả báo cáo kèm KTC 95%.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KTC sẽ trông thế nào nếu thử nghiệm có 500 người bệnh?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KTC của chúng so với đường không tác động. Mỗi ô vuông là một HR, mỗi đoạn ngang là KTC 95%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thuần tập, và ngay cả sau ghép cặp, người bệnh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KTC ngày 1 và ngày 2 có độ rộng khác nhau? Dự kiến: số người bệnh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tỷ lệ): cho tỷ số nguy cơ tức thời (hazard ratio), tức tỷ số tốc độ tử vong tức thời giữa hai nhóm, kèm KTC 95%. Giá trị không tác động là 1. Giống hồi quy logistic, nó có thể đưa vào nhiều biến, nên HR có thể được hiệu chỉnh. Bài báo 2 dùng mô hình Cox (có tính đến cụm) trên các cặp đã ghép: HR ngày 2 là 2.13 (KTC 95% 1.48 đến 3.06).</a:t>
            </a:r>
          </a:p>
          <a:p>
            <a:r>
              <a:rPr lang="en-US" sz="1400" b="0" dirty="0"/>
              <a:t>Nguy cơ tỷ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nhiễu (Buổi 4), và là lý do cần hiệu chỉnh trong mô hình (mục 6.3 và 6.4).</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(mục 6.3 và 6.4)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người bệnh có và không có ARDS (hội chứng suy hô hấp cấp tiến triển). Người bệnh ARDS chỉ đơn giản bắt đầu ở mức cao hơn. Một ước lượng đã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bội),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(KTC 95% -15.2 đến 41.6). Khoảng cắt qua 0: không có khác biệt có ý nghĩa thống kê, và rất kém chính xác.</a:t>
            </a:r>
          </a:p>
          <a:p>
            <a:r>
              <a:rPr lang="en-US" sz="1400" b="0" dirty="0"/>
              <a:t>Bên phải, Bài báo 2, thuần tập ngày 2 (tỷ số, giá trị không tác động = 1): HR 2.13 (KTC 95% 1.48 đến 3.06), p &lt; 0.001. Toàn bộ khoảng nằm trên 1: cân bằng dịch dương đến ngày 2 có liên quan với tử vong 28 ngày cao hơn.</a:t>
            </a:r>
          </a:p>
          <a:p>
            <a:r>
              <a:rPr lang="en-US" sz="1400" b="0" dirty="0"/>
              <a:t>Chú ý thang tỷ số được vẽ theo thang log: HR 0.5 (giảm một nửa) và HR 2 (gấp đôi) cách đều 1. Vì vậy biểu đồ rừng của các tỷ số trông đối xứng quanh 1.</a:t>
            </a:r>
          </a:p>
          <a:p>
            <a:r>
              <a:rPr lang="en-US" sz="1400" b="0" dirty="0"/>
              <a:t>Quy tắc: KTC 95% không chứa giá trị không tác động tương đương p &lt; 0.05 (với kiểm định hai phía), và ngược lại. KTC cho biết mọi điều giá trị p cho biết, cộng thêm độ lớn và độ chính xác.</a:t>
            </a:r>
          </a:p>
          <a:p>
            <a:r>
              <a:rPr lang="en-US" sz="1400" b="0" dirty="0"/>
              <a:t>Hỏi: nếu KTC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người bệnh tử vong so với người bệnh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người bệnh, điều trị và cách đo khác nhau. Mô hình phải được thử trên những người bệnh không dùng để xây dựng nó, tốt nhất ở nơi khác, trước khi ai đó sử dụng.</a:t>
            </a:r>
          </a:p>
          <a:p>
            <a:r>
              <a:rPr lang="en-US" sz="1400" b="0" dirty="0"/>
              <a:t>AUC cao thôi chưa đủ: mô hình có thể xếp hạng người bệnh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mình.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(AUC, diện tích dưới đường cong ROC)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người bệnh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các trường hợp đầy đủ (complete-case, phía trên): chỉ dùng những người bệnh không thiếu giá trị nào ở các biến được phân tích. Đơn giản và là mặc định của hầu hết phần mềm, nhưng mất người bệnh (ở đây 3 trong 5 dòng) và câu trả lời bị sai lệch trừ khi dữ liệu là MCAR. Với nhiều biến, mỗi biến thiếu một chút cộng lại thành mất rất nhiều.</a:t>
            </a:r>
          </a:p>
          <a:p>
            <a:r>
              <a:rPr lang="en-US" sz="1400" b="0" dirty="0"/>
              <a:t>Quy gán đa bội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KTC bao gồm thêm độ không chắc chắn do không biết các giá trị bị thiếu.</a:t>
            </a:r>
          </a:p>
          <a:p>
            <a:r>
              <a:rPr lang="en-US" sz="1400" b="0" dirty="0"/>
              <a:t>Phương pháp hoạt động tốt khi dữ liệu là MAR và mô hình quy gán có các biến giải thích việc thiếu. Đây không phải 'bịa dữ liệu': đây là trung thực về những gì chưa biết.</a:t>
            </a:r>
          </a:p>
          <a:p>
            <a:r>
              <a:rPr lang="en-US" sz="1400" b="0" dirty="0"/>
              <a:t>Số liệu minh họa. Ở phần 6.4 anh chị đã thấy nó được chạy trên bộ dữ liệu khóa học. Việc của anh chị là nhận ra nó và hỏi xem nó có phù hợp không.</a:t>
            </a:r>
          </a:p>
          <a:p>
            <a:r>
              <a:rPr lang="en-US" sz="1400" b="0" dirty="0"/>
              <a:t>Hỏi: một bài báo loại 30% người bệnh vì thiếu dữ liệu và chỉ phân tích các trường hợp đầy đủ. Anh chị hỏi gì? Dự kiến: ai bị loại, họ có khác biệt không, và có phân tích độ nhạy với quy gán đa bội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luồng cho biết ai bị mất và vì sao (CONSORT, STROBE, Buổi 7-8).</a:t>
            </a:r>
          </a:p>
          <a:p>
            <a:r>
              <a:rPr lang="en-US" sz="1400" b="0" dirty="0"/>
              <a:t>So sánh: người bệnh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trường hợp đầy đủ so với quy gán đa bội.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mức thiếu dự kiến, phòng ngừa (5.1), và cách báo cáo dữ liệu thiếu.</a:t>
            </a:r>
          </a:p>
          <a:p>
            <a:r>
              <a:rPr lang="en-US" sz="1400" b="0" dirty="0"/>
              <a:t>Hỏi: Bài báo 1 phân tích 48 trong 50 người bệnh được phân bổ ngẫu nhiên. Hai người bệnh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4.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5.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6.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7.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8.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9.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0.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1.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2.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4.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5.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7.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18.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9.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0.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1.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2.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 Id="rId4" Type="http://schemas.openxmlformats.org/officeDocument/2006/relationships/image" Target="../media/image23.pn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24.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25.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26.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27.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 Id="rId4" Type="http://schemas.openxmlformats.org/officeDocument/2006/relationships/image" Target="../media/image28.pn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 Id="rId4" Type="http://schemas.openxmlformats.org/officeDocument/2006/relationships/image" Target="../media/image29.pn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6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5 (10 phút)</a:t>
            </a:r>
          </a:p>
          <a:p>
            <a:pPr marL="274320" indent="-274320" algn="l">
              <a:spcBef>
                <a:spcPts val="440"/>
              </a:spcBef>
              <a:buFont typeface="Arial"/>
              <a:buChar char="•"/>
            </a:pPr>
            <a:r>
              <a:rPr lang="en-US" sz="1900" dirty="0">
                <a:solidFill>
                  <a:srgbClr val="000000"/>
                </a:solidFill>
                <a:latin typeface="Arial"/>
                <a:cs typeface="Arial"/>
              </a:rPr>
              <a:t>6.1 Từ mẫu đến quần thể: KTC, giá trị p, một phía hay hai phía, lực thống kê, cỡ mẫu, chọn kiểm định</a:t>
            </a:r>
          </a:p>
          <a:p>
            <a:pPr marL="274320" indent="-274320" algn="l">
              <a:spcBef>
                <a:spcPts val="440"/>
              </a:spcBef>
              <a:buFont typeface="Arial"/>
              <a:buChar char="•"/>
            </a:pPr>
            <a:r>
              <a:rPr lang="en-US" sz="1900" dirty="0">
                <a:solidFill>
                  <a:srgbClr val="000000"/>
                </a:solidFill>
                <a:latin typeface="Arial"/>
                <a:cs typeface="Arial"/>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Arial"/>
                <a:cs typeface="Arial"/>
              </a:rPr>
              <a:t>6.3 Mối liên quan và mô hình: hồi quy, Kaplan-Meier và Cox</a:t>
            </a:r>
          </a:p>
          <a:p>
            <a:pPr marL="274320" indent="-274320" algn="l">
              <a:spcBef>
                <a:spcPts val="440"/>
              </a:spcBef>
              <a:buFont typeface="Arial"/>
              <a:buChar char="•"/>
            </a:pPr>
            <a:r>
              <a:rPr lang="en-US" sz="1900" dirty="0">
                <a:solidFill>
                  <a:srgbClr val="000000"/>
                </a:solidFill>
                <a:latin typeface="Arial"/>
                <a:cs typeface="Arial"/>
              </a:rPr>
              <a:t>6.4 Mô hình hóa bộ dữ liệu: OR đã hiệu chỉnh, HR từ mô hình Cox, dữ liệu bị thiếu, SAP</a:t>
            </a:r>
          </a:p>
          <a:p>
            <a:pPr marL="274320" indent="-274320" algn="l">
              <a:spcBef>
                <a:spcPts val="440"/>
              </a:spcBef>
              <a:buFont typeface="Arial"/>
              <a:buChar char="•"/>
            </a:pPr>
            <a:r>
              <a:rPr lang="en-US" sz="1900" dirty="0">
                <a:solidFill>
                  <a:srgbClr val="000000"/>
                </a:solidFill>
                <a:latin typeface="Arial"/>
                <a:cs typeface="Arial"/>
              </a:rPr>
              <a:t>Xây dựng đề cương 6: cỡ mẫu, kế hoạch phân tích, kế hoạch xử lý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Thời gian nằm ICU của 300 người bệnh lệch phải. Đưa cách tóm tắt nào vào Bảng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Một mục CRF ghi 'Lactat: ____'. Nêu hai điều còn thiếu.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Trong dữ liệu thô FLUID-ICU, có một tuổi là 210. Phép kiểm tra nào bắt được, và ghi gì vào nhật ký làm sạch?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qua bình chọn. C2 và C3: hai ba người trả lời, bật micro (mỗi câu 1 đến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 (công bố sau)</a:t>
            </a:r>
          </a:p>
          <a:p>
            <a:pPr marL="0" indent="0" algn="ctr">
              <a:lnSpc>
                <a:spcPct val="104000"/>
              </a:lnSpc>
              <a:spcBef>
                <a:spcPts val="300"/>
              </a:spcBef>
              <a:buNone/>
            </a:pPr>
            <a:r>
              <a:rPr lang="en-US" sz="1500" dirty="0">
                <a:solidFill>
                  <a:srgbClr val="000000"/>
                </a:solidFill>
                <a:latin typeface="Arial"/>
                <a:cs typeface="Arial"/>
              </a:rPr>
              <a:t>C1: trung vị (IQR)</a:t>
            </a:r>
          </a:p>
          <a:p>
            <a:pPr marL="0" indent="0" algn="ctr">
              <a:lnSpc>
                <a:spcPct val="104000"/>
              </a:lnSpc>
              <a:spcBef>
                <a:spcPts val="300"/>
              </a:spcBef>
              <a:buNone/>
            </a:pPr>
            <a:r>
              <a:rPr lang="en-US" sz="1500" dirty="0">
                <a:solidFill>
                  <a:srgbClr val="000000"/>
                </a:solidFill>
                <a:latin typeface="Arial"/>
                <a:cs typeface="Arial"/>
              </a:rPr>
              <a:t>C2: đơn vị (mmol/L), thời điểm, lựa chọn 'không làm'</a:t>
            </a:r>
          </a:p>
          <a:p>
            <a:pPr marL="0" indent="0" algn="ctr">
              <a:lnSpc>
                <a:spcPct val="104000"/>
              </a:lnSpc>
              <a:spcBef>
                <a:spcPts val="300"/>
              </a:spcBef>
              <a:buNone/>
            </a:pPr>
            <a:r>
              <a:rPr lang="en-US" sz="1500" dirty="0">
                <a:solidFill>
                  <a:srgbClr val="000000"/>
                </a:solidFill>
                <a:latin typeface="Arial"/>
                <a:cs typeface="Arial"/>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6.1 Từ mẫu đến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Nghiên cứu một ít người bệnh để hiểu về rất nhiều người bệnh.</a:t>
            </a:r>
          </a:p>
          <a:p>
            <a:pPr marL="0" indent="0" algn="ctr">
              <a:spcBef>
                <a:spcPts val="1200"/>
              </a:spcBef>
              <a:buNone/>
            </a:pPr>
            <a:r>
              <a:rPr lang="en-US" sz="1900" i="1" dirty="0">
                <a:solidFill>
                  <a:srgbClr val="595959"/>
                </a:solidFill>
                <a:latin typeface="Arial"/>
                <a:cs typeface="Arial"/>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Khoảng tin cậy qua 20 lần lặp lại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Khoảng 95/100 khoảng như vậy chứa giá trị thật. Không biết được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kết quả của bạn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phía hay hai phía? Mặc định là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H0 (giả thuyết không): không có khác biệt. H1 (giả thuyết đối): có khác biệt. Chiều của H1 quyết định đuôi nào được tính.</a:t>
            </a:r>
          </a:p>
        </p:txBody>
      </p:sp>
      <p:sp>
        <p:nvSpPr>
          <p:cNvPr id="70" name="CardHead"/>
          <p:cNvSpPr/>
          <p:nvPr/>
        </p:nvSpPr>
        <p:spPr>
          <a:xfrm>
            <a:off x="457200" y="20238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phía (mặc định)</a:t>
            </a:r>
          </a:p>
        </p:txBody>
      </p:sp>
      <p:sp>
        <p:nvSpPr>
          <p:cNvPr id="71" name="CardBody"/>
          <p:cNvSpPr/>
          <p:nvPr/>
        </p:nvSpPr>
        <p:spPr>
          <a:xfrm>
            <a:off x="457200"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hai nhóm khác nhau, theo bất kỳ hướng nào</a:t>
            </a:r>
          </a:p>
          <a:p>
            <a:pPr marL="0" indent="0" algn="ctr">
              <a:lnSpc>
                <a:spcPct val="104000"/>
              </a:lnSpc>
              <a:spcBef>
                <a:spcPts val="400"/>
              </a:spcBef>
              <a:buNone/>
            </a:pPr>
            <a:r>
              <a:rPr lang="en-US" sz="1750" dirty="0">
                <a:solidFill>
                  <a:srgbClr val="000000"/>
                </a:solidFill>
                <a:latin typeface="Arial"/>
                <a:cs typeface="Arial"/>
              </a:rPr>
              <a:t>Có lợi và có hại đều được tính</a:t>
            </a:r>
          </a:p>
          <a:p>
            <a:pPr marL="0" indent="0" algn="ctr">
              <a:lnSpc>
                <a:spcPct val="104000"/>
              </a:lnSpc>
              <a:spcBef>
                <a:spcPts val="400"/>
              </a:spcBef>
              <a:buNone/>
            </a:pPr>
            <a:r>
              <a:rPr lang="en-US" sz="1750" dirty="0">
                <a:solidFill>
                  <a:srgbClr val="000000"/>
                </a:solidFill>
                <a:latin typeface="Arial"/>
                <a:cs typeface="Arial"/>
              </a:rPr>
              <a:t>Giá trị p dùng cả hai đuôi</a:t>
            </a:r>
          </a:p>
        </p:txBody>
      </p:sp>
      <p:sp>
        <p:nvSpPr>
          <p:cNvPr id="72" name="CardHead"/>
          <p:cNvSpPr/>
          <p:nvPr/>
        </p:nvSpPr>
        <p:spPr>
          <a:xfrm>
            <a:off x="4283066" y="202381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phía (hiếm khi hợp lý)</a:t>
            </a:r>
          </a:p>
        </p:txBody>
      </p:sp>
      <p:sp>
        <p:nvSpPr>
          <p:cNvPr id="73" name="CardBody"/>
          <p:cNvSpPr/>
          <p:nvPr/>
        </p:nvSpPr>
        <p:spPr>
          <a:xfrm>
            <a:off x="4283066"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H1: chỉ một hướng, ví dụ 'hạn chế dịch tốt hơn'</a:t>
            </a:r>
          </a:p>
          <a:p>
            <a:pPr marL="0" indent="0" algn="ctr">
              <a:lnSpc>
                <a:spcPct val="104000"/>
              </a:lnSpc>
              <a:spcBef>
                <a:spcPts val="400"/>
              </a:spcBef>
              <a:buNone/>
            </a:pPr>
            <a:r>
              <a:rPr lang="en-US" sz="1750" dirty="0">
                <a:solidFill>
                  <a:srgbClr val="000000"/>
                </a:solidFill>
                <a:latin typeface="Arial"/>
                <a:cs typeface="Arial"/>
              </a:rPr>
              <a:t>Cần lý do vững, viết ra trước khi có dữ liệu</a:t>
            </a:r>
          </a:p>
          <a:p>
            <a:pPr marL="0" indent="0" algn="ctr">
              <a:lnSpc>
                <a:spcPct val="104000"/>
              </a:lnSpc>
              <a:spcBef>
                <a:spcPts val="400"/>
              </a:spcBef>
              <a:buNone/>
            </a:pPr>
            <a:r>
              <a:rPr lang="en-US" sz="1750" dirty="0">
                <a:solidFill>
                  <a:srgbClr val="000000"/>
                </a:solidFill>
                <a:latin typeface="Arial"/>
                <a:cs typeface="Arial"/>
              </a:rPr>
              <a:t>Cùng dữ liệu cho giá trị p chỉ bằng khoảng một nửa</a:t>
            </a:r>
          </a:p>
        </p:txBody>
      </p:sp>
      <p:sp>
        <p:nvSpPr>
          <p:cNvPr id="74" name="CardHead"/>
          <p:cNvSpPr/>
          <p:nvPr/>
        </p:nvSpPr>
        <p:spPr>
          <a:xfrm>
            <a:off x="8108932" y="20238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phải 'không kém hơn'</a:t>
            </a:r>
          </a:p>
        </p:txBody>
      </p:sp>
      <p:sp>
        <p:nvSpPr>
          <p:cNvPr id="75" name="CardBody"/>
          <p:cNvSpPr/>
          <p:nvPr/>
        </p:nvSpPr>
        <p:spPr>
          <a:xfrm>
            <a:off x="8108932" y="2663812"/>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Thử nghiệm không kém hơn là một thiết kế khác</a:t>
            </a:r>
          </a:p>
          <a:p>
            <a:pPr marL="0" indent="0" algn="ctr">
              <a:lnSpc>
                <a:spcPct val="104000"/>
              </a:lnSpc>
              <a:spcBef>
                <a:spcPts val="400"/>
              </a:spcBef>
              <a:buNone/>
            </a:pPr>
            <a:r>
              <a:rPr lang="en-US" sz="1750" dirty="0">
                <a:solidFill>
                  <a:srgbClr val="000000"/>
                </a:solidFill>
                <a:latin typeface="Arial"/>
                <a:cs typeface="Arial"/>
              </a:rPr>
              <a:t>Có ngưỡng định trước (Buổi 3)</a:t>
            </a:r>
          </a:p>
          <a:p>
            <a:pPr marL="0" indent="0" algn="ctr">
              <a:lnSpc>
                <a:spcPct val="104000"/>
              </a:lnSpc>
              <a:spcBef>
                <a:spcPts val="400"/>
              </a:spcBef>
              <a:buNone/>
            </a:pPr>
            <a:r>
              <a:rPr lang="en-US" sz="1750" dirty="0">
                <a:solidFill>
                  <a:srgbClr val="000000"/>
                </a:solidFill>
                <a:latin typeface="Arial"/>
                <a:cs typeface="Arial"/>
              </a:rPr>
              <a:t>Cần cách tính cỡ mẫu và phân tích riêng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dùng kiểm định hai phía. Chọn kiểm định một phía sau khi đã xem dữ liệu là không chấp nhận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Mỗi câu dưới đây đều xuất hiện trong các bài báo đã đăng. Tất cả đều sai. (H0 = giả thuyết không: không có khác biệt.)</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'Xác suất H0'</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không phải xác suất không có tác động</a:t>
            </a:r>
          </a:p>
        </p:txBody>
      </p:sp>
      <p:sp>
        <p:nvSpPr>
          <p:cNvPr id="72" name="CardHead"/>
          <p:cNvSpPr/>
          <p:nvPr/>
        </p:nvSpPr>
        <p:spPr>
          <a:xfrm>
            <a:off x="275272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'Tác động lớn'</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nhỏ không có nghĩa tác động lớn hay quan trọng</a:t>
            </a:r>
          </a:p>
        </p:txBody>
      </p:sp>
      <p:sp>
        <p:nvSpPr>
          <p:cNvPr id="74" name="CardHead"/>
          <p:cNvSpPr/>
          <p:nvPr/>
        </p:nvSpPr>
        <p:spPr>
          <a:xfrm>
            <a:off x="504824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'Không tác động'</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&gt; 0.05 không chứng minh không có tác động</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'Xu hướng'</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 0.08 không phải 'gần có ý nghĩa'</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có p'</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Chỉ có p là không đủ</a:t>
            </a:r>
          </a:p>
          <a:p>
            <a:pPr marL="0" indent="0" algn="ctr">
              <a:lnSpc>
                <a:spcPct val="104000"/>
              </a:lnSpc>
              <a:spcBef>
                <a:spcPts val="400"/>
              </a:spcBef>
              <a:buNone/>
            </a:pPr>
            <a:r>
              <a:rPr lang="en-US" sz="1450" dirty="0">
                <a:solidFill>
                  <a:srgbClr val="000000"/>
                </a:solidFill>
                <a:latin typeface="Arial"/>
                <a:cs typeface="Arial"/>
              </a:rPr>
              <a:t>Cần độ lớn tác động và KTC 95%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độ lớn tác động kèm KTC 95%. Giá trị p chỉ là thông tin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KTC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'Tỷ số nguy cơ tức thời (HR) 2.13, khoảng tin cậy 95% (KTC 95%) 1.48 đến 3.06': dữ liệu phù hợp với HR thật từ khoảng 1.5 đến 3.1.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0.42, vậy hai chiến lược tương đương.'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 = 0.03 nghĩa là có 3% khả năng không có tác động.' Đúng hay sai?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lớn hơn thường cho KTC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Đúng</a:t>
            </a:r>
          </a:p>
          <a:p>
            <a:pPr marL="0" indent="0" algn="ctr">
              <a:lnSpc>
                <a:spcPct val="104000"/>
              </a:lnSpc>
              <a:spcBef>
                <a:spcPts val="300"/>
              </a:spcBef>
              <a:buNone/>
            </a:pPr>
            <a:r>
              <a:rPr lang="en-US" sz="1500" dirty="0">
                <a:solidFill>
                  <a:srgbClr val="000000"/>
                </a:solidFill>
                <a:latin typeface="Arial"/>
                <a:cs typeface="Arial"/>
              </a:rPr>
              <a:t>Sai: chưa biết</a:t>
            </a:r>
          </a:p>
          <a:p>
            <a:pPr marL="0" indent="0" algn="ctr">
              <a:lnSpc>
                <a:spcPct val="104000"/>
              </a:lnSpc>
              <a:spcBef>
                <a:spcPts val="300"/>
              </a:spcBef>
              <a:buNone/>
            </a:pPr>
            <a:r>
              <a:rPr lang="en-US" sz="1500" dirty="0">
                <a:solidFill>
                  <a:srgbClr val="000000"/>
                </a:solidFill>
                <a:latin typeface="Arial"/>
                <a:cs typeface="Arial"/>
              </a:rPr>
              <a:t>Sai: p giả định không có tác động</a:t>
            </a:r>
          </a:p>
          <a:p>
            <a:pPr marL="0" indent="0" algn="ctr">
              <a:lnSpc>
                <a:spcPct val="104000"/>
              </a:lnSpc>
              <a:spcBef>
                <a:spcPts val="300"/>
              </a:spcBef>
              <a:buNone/>
            </a:pPr>
            <a:r>
              <a:rPr lang="en-US" sz="1500" dirty="0">
                <a:solidFill>
                  <a:srgbClr val="000000"/>
                </a:solidFill>
                <a:latin typeface="Arial"/>
                <a:cs typeface="Arial"/>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đọc được KTC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93776"/>
          <a:ext cx="11277600" cy="1705920"/>
        </p:xfrm>
        <a:graphic>
          <a:graphicData uri="http://schemas.openxmlformats.org/drawingml/2006/table">
            <a:tbl>
              <a:tblPr firstRow="1" bandRow="1">
                <a:tableStyleId>{5C22544A-7EE6-4342-B048-85BDC9FD1C3A}</a:tableStyleId>
              </a:tblPr>
              <a:tblGrid>
                <a:gridCol w="3759200"/>
                <a:gridCol w="3759200"/>
                <a:gridCol w="3759200"/>
              </a:tblGrid>
              <a:tr h="56864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Có cháy (tác động thật)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Không có cháy (không có tác động thật)</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Chuông reo (p &lt; 0.05, 'có ý nghĩa')</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đúng: lực thống kê (mục tiêu 80-90%)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Báo động giả: sai lầm loại I (alpha, thường 5%)</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Chuông im (p từ 0.05 trở lên)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Bỏ sót đám cháy: sai lầm loại II (beta)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Im lặng đúng</a:t>
                      </a:r>
                    </a:p>
                  </a:txBody>
                  <a:tcPr marL="73152" marR="73152" marT="45720" marB="45720" anchor="ctr">
                    <a:solidFill>
                      <a:srgbClr val="F5F9FA"/>
                    </a:solidFill>
                  </a:tcPr>
                </a:tc>
              </a:tr>
            </a:tbl>
          </a:graphicData>
        </a:graphic>
      </p:graphicFrame>
      <p:sp>
        <p:nvSpPr>
          <p:cNvPr id="31" name="Caption"/>
          <p:cNvSpPr txBox="1"/>
          <p:nvPr/>
        </p:nvSpPr>
        <p:spPr>
          <a:xfrm>
            <a:off x="457200" y="378969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Alpha = nguy cơ báo động giả. Lực thống kê = khả năng phát hiện tác động thật. Chuông kém nhạy hơn (alpha nhỏ hơn) thì ít báo động giả nhưng bỏ sót nhiều đám cháy hơn, trừ khi mua chuông tốt hơn: nhiều người bệnh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Cỡ mẫu: tác động lớn hơn, ít nhiễu hơn = ít người bệnh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công cụ tính trực tuyến miễn phí (ví dụ OpenEpi) trên màn hình chia sẻ</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trung bình: 70 so với 40 ml/kg, SD (độ lệch chuẩn) 35, lực thống kê 80%, alpha 5%: 22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Hai tỷ lệ: tử vong 40% so với 30%: khoảng 356 mỗi nhóm</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Thay đổi từng đầu vào một. Đoán hướng thay đổi trước (bình chọn)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Dự phòng khi không có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Điều gì làm n thay đổi?</a:t>
            </a:r>
          </a:p>
          <a:p>
            <a:pPr marL="0" indent="0" algn="ctr">
              <a:lnSpc>
                <a:spcPct val="104000"/>
              </a:lnSpc>
              <a:spcBef>
                <a:spcPts val="300"/>
              </a:spcBef>
              <a:buNone/>
            </a:pPr>
            <a:r>
              <a:rPr lang="en-US" sz="1500" dirty="0">
                <a:solidFill>
                  <a:srgbClr val="000000"/>
                </a:solidFill>
                <a:latin typeface="Arial"/>
                <a:cs typeface="Arial"/>
              </a:rPr>
              <a:t>Tác động nhỏ hơn: n tăng</a:t>
            </a:r>
          </a:p>
          <a:p>
            <a:pPr marL="0" indent="0" algn="ctr">
              <a:lnSpc>
                <a:spcPct val="104000"/>
              </a:lnSpc>
              <a:spcBef>
                <a:spcPts val="300"/>
              </a:spcBef>
              <a:buNone/>
            </a:pPr>
            <a:r>
              <a:rPr lang="en-US" sz="1500" dirty="0">
                <a:solidFill>
                  <a:srgbClr val="000000"/>
                </a:solidFill>
                <a:latin typeface="Arial"/>
                <a:cs typeface="Arial"/>
              </a:rPr>
              <a:t>Nhiễu (SD) nhiều hơn: n tăng</a:t>
            </a:r>
          </a:p>
          <a:p>
            <a:pPr marL="0" indent="0" algn="ctr">
              <a:lnSpc>
                <a:spcPct val="104000"/>
              </a:lnSpc>
              <a:spcBef>
                <a:spcPts val="300"/>
              </a:spcBef>
              <a:buNone/>
            </a:pPr>
            <a:r>
              <a:rPr lang="en-US" sz="1500" dirty="0">
                <a:solidFill>
                  <a:srgbClr val="000000"/>
                </a:solidFill>
                <a:latin typeface="Arial"/>
                <a:cs typeface="Arial"/>
              </a:rPr>
              <a:t>Lực thống kê cao hơn: n tăng</a:t>
            </a:r>
          </a:p>
          <a:p>
            <a:pPr marL="0" indent="0" algn="ctr">
              <a:lnSpc>
                <a:spcPct val="104000"/>
              </a:lnSpc>
              <a:spcBef>
                <a:spcPts val="300"/>
              </a:spcBef>
              <a:buNone/>
            </a:pPr>
            <a:r>
              <a:rPr lang="en-US" sz="1500" dirty="0">
                <a:solidFill>
                  <a:srgbClr val="000000"/>
                </a:solidFill>
                <a:latin typeface="Arial"/>
                <a:cs typeface="Arial"/>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kiểm định: một bảng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614683"/>
          <a:ext cx="11277600" cy="2843200"/>
        </p:xfrm>
        <a:graphic>
          <a:graphicData uri="http://schemas.openxmlformats.org/drawingml/2006/table">
            <a:tbl>
              <a:tblPr firstRow="1" bandRow="1">
                <a:tableStyleId>{5C22544A-7EE6-4342-B048-85BDC9FD1C3A}</a:tableStyleId>
              </a:tblPr>
              <a:tblGrid>
                <a:gridCol w="2819400"/>
                <a:gridCol w="2819400"/>
                <a:gridCol w="2819400"/>
                <a:gridCol w="2819400"/>
              </a:tblGrid>
              <a:tr h="568640">
                <a:tc>
                  <a:txBody>
                    <a:bodyPr/>
                    <a:lstStyle/>
                    <a:p>
                      <a:pPr algn="l"/>
                      <a:r>
                        <a:rPr lang="en-US" sz="1500" b="1" dirty="0">
                          <a:solidFill>
                            <a:srgbClr val="FFFFFF"/>
                          </a:solidFill>
                          <a:latin typeface="Arial"/>
                          <a:cs typeface="Arial"/>
                        </a:rPr>
                        <a:t>Kết cục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Hình dạng hoặc tần số</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Hai nhóm độc lập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Cùng người bệnh đo hai lần (ghép cặp)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Gần đối xứng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Kiểm định t ghép cặp</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số đo (liên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Lệch, hoặc mẫu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Mann-Whitney 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Wilcoxon cho cặp (signed-rank)</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Tần số kỳ vọng từ 5 trở lên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Một phân loại (có/không)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Tần số nhỏ (dưới 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Chính xác Fisher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McNemar</a:t>
                      </a:r>
                    </a:p>
                  </a:txBody>
                  <a:tcPr marL="73152" marR="73152" marT="45720" marB="45720" anchor="ctr">
                    <a:solidFill>
                      <a:srgbClr val="F5F9FA"/>
                    </a:solidFill>
                  </a:tcPr>
                </a:tc>
              </a:tr>
            </a:tbl>
          </a:graphicData>
        </a:graphic>
      </p:graphicFrame>
      <p:sp>
        <p:nvSpPr>
          <p:cNvPr id="31" name="Caption"/>
          <p:cNvSpPr txBox="1"/>
          <p:nvPr/>
        </p:nvSpPr>
        <p:spPr>
          <a:xfrm>
            <a:off x="457200" y="454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 hình dạng + ghép cặp hay không = kiểm định phù hợp. Bài báo 1 (Boulet 2024) dùng Mann-Whitney vì cân bằng dịch bị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hay không ghép cặp? Cùng hay khác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người bệnh đo hai lần = kiểm định ghép cặp. Khác người bệnh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So sánh bội (multiple comparisons): ví dụ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Cần làm gì</a:t>
            </a:r>
          </a:p>
          <a:p>
            <a:pPr marL="274320" indent="-274320" algn="l">
              <a:spcBef>
                <a:spcPts val="440"/>
              </a:spcBef>
              <a:buFont typeface="Arial"/>
              <a:buChar char="•"/>
            </a:pPr>
            <a:r>
              <a:rPr lang="en-US" sz="1450" dirty="0">
                <a:solidFill>
                  <a:srgbClr val="000000"/>
                </a:solidFill>
                <a:latin typeface="Arial"/>
                <a:cs typeface="Arial"/>
              </a:rPr>
              <a:t>Định trước một kết cục chính</a:t>
            </a:r>
          </a:p>
          <a:p>
            <a:pPr marL="274320" indent="-274320" algn="l">
              <a:spcBef>
                <a:spcPts val="440"/>
              </a:spcBef>
              <a:buFont typeface="Arial"/>
              <a:buChar char="•"/>
            </a:pPr>
            <a:r>
              <a:rPr lang="en-US" sz="1450" dirty="0">
                <a:solidFill>
                  <a:srgbClr val="000000"/>
                </a:solidFill>
                <a:latin typeface="Arial"/>
                <a:cs typeface="Arial"/>
              </a:rPr>
              <a:t>Gọi phần còn lại là thăm dò</a:t>
            </a:r>
          </a:p>
          <a:p>
            <a:pPr marL="274320" indent="-274320" algn="l">
              <a:spcBef>
                <a:spcPts val="440"/>
              </a:spcBef>
              <a:buFont typeface="Arial"/>
              <a:buChar char="•"/>
            </a:pPr>
            <a:r>
              <a:rPr lang="en-US" sz="1450" dirty="0">
                <a:solidFill>
                  <a:srgbClr val="000000"/>
                </a:solidFill>
                <a:latin typeface="Arial"/>
                <a:cs typeface="Arial"/>
              </a:rPr>
              <a:t>Hiệu chỉnh, ví dụ Bonferroni: 0.05 / số kiểm định</a:t>
            </a:r>
          </a:p>
          <a:p>
            <a:pPr marL="274320" indent="-274320" algn="l">
              <a:spcBef>
                <a:spcPts val="440"/>
              </a:spcBef>
              <a:buFont typeface="Arial"/>
              <a:buChar char="•"/>
            </a:pPr>
            <a:r>
              <a:rPr lang="en-US" sz="1450" dirty="0">
                <a:solidFill>
                  <a:srgbClr val="000000"/>
                </a:solidFill>
                <a:latin typeface="Arial"/>
                <a:cs typeface="Arial"/>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(lệch) ở nhóm cân bằng dịch dương và âm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(có/không) ở 300 so với 300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lúc vào và sau 6 giờ trên cùng 40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Lọc máu (có/không): 2/24 so với 5/24 người bệnh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Mann-Whitney U</a:t>
            </a:r>
          </a:p>
          <a:p>
            <a:pPr marL="0" indent="0" algn="ctr">
              <a:lnSpc>
                <a:spcPct val="104000"/>
              </a:lnSpc>
              <a:spcBef>
                <a:spcPts val="300"/>
              </a:spcBef>
              <a:buNone/>
            </a:pPr>
            <a:r>
              <a:rPr lang="en-US" sz="1500" dirty="0">
                <a:solidFill>
                  <a:srgbClr val="000000"/>
                </a:solidFill>
                <a:latin typeface="Arial"/>
                <a:cs typeface="Arial"/>
              </a:rPr>
              <a:t>Khi bình phương</a:t>
            </a:r>
          </a:p>
          <a:p>
            <a:pPr marL="0" indent="0" algn="ctr">
              <a:lnSpc>
                <a:spcPct val="104000"/>
              </a:lnSpc>
              <a:spcBef>
                <a:spcPts val="300"/>
              </a:spcBef>
              <a:buNone/>
            </a:pPr>
            <a:r>
              <a:rPr lang="en-US" sz="1500" dirty="0">
                <a:solidFill>
                  <a:srgbClr val="000000"/>
                </a:solidFill>
                <a:latin typeface="Arial"/>
                <a:cs typeface="Arial"/>
              </a:rPr>
              <a:t>t ghép cặp</a:t>
            </a:r>
          </a:p>
          <a:p>
            <a:pPr marL="0" indent="0" algn="ctr">
              <a:lnSpc>
                <a:spcPct val="104000"/>
              </a:lnSpc>
              <a:spcBef>
                <a:spcPts val="300"/>
              </a:spcBef>
              <a:buNone/>
            </a:pPr>
            <a:r>
              <a:rPr lang="en-US" sz="1500" dirty="0">
                <a:solidFill>
                  <a:srgbClr val="000000"/>
                </a:solidFill>
                <a:latin typeface="Arial"/>
                <a:cs typeface="Arial"/>
              </a:rPr>
              <a:t>Chính xác Fisher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dùng được bảng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Chọn kiểm định theo kết cục, rồi đọc kết quả như một tác động kèm KTC.</a:t>
            </a:r>
          </a:p>
          <a:p>
            <a:pPr marL="0" indent="0" algn="ctr">
              <a:spcBef>
                <a:spcPts val="1200"/>
              </a:spcBef>
              <a:buNone/>
            </a:pPr>
            <a:r>
              <a:rPr lang="en-US" sz="1900" i="1" dirty="0">
                <a:solidFill>
                  <a:srgbClr val="595959"/>
                </a:solidFill>
                <a:latin typeface="Arial"/>
                <a:cs typeface="Arial"/>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03_compare.R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Tuổi (đối xứng): kiểm định 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SOFA và lactat (lệch): Mann-Whitney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Tử vong 28 ngày (có/không): bảng 2x2 và khi bình phương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Bảng quyết định</a:t>
            </a:r>
          </a:p>
          <a:p>
            <a:pPr marL="0" indent="0" algn="ctr">
              <a:lnSpc>
                <a:spcPct val="104000"/>
              </a:lnSpc>
              <a:spcBef>
                <a:spcPts val="300"/>
              </a:spcBef>
              <a:buNone/>
            </a:pPr>
            <a:r>
              <a:rPr lang="en-US" sz="1500" dirty="0">
                <a:solidFill>
                  <a:srgbClr val="000000"/>
                </a:solidFill>
                <a:latin typeface="Arial"/>
                <a:cs typeface="Arial"/>
              </a:rPr>
              <a:t>Số đo hay phân loại?</a:t>
            </a:r>
          </a:p>
          <a:p>
            <a:pPr marL="0" indent="0" algn="ctr">
              <a:lnSpc>
                <a:spcPct val="104000"/>
              </a:lnSpc>
              <a:spcBef>
                <a:spcPts val="300"/>
              </a:spcBef>
              <a:buNone/>
            </a:pPr>
            <a:r>
              <a:rPr lang="en-US" sz="1500" dirty="0">
                <a:solidFill>
                  <a:srgbClr val="000000"/>
                </a:solidFill>
                <a:latin typeface="Arial"/>
                <a:cs typeface="Arial"/>
              </a:rPr>
              <a:t>Đối xứng hay lệch?</a:t>
            </a:r>
          </a:p>
          <a:p>
            <a:pPr marL="0" indent="0" algn="ctr">
              <a:lnSpc>
                <a:spcPct val="104000"/>
              </a:lnSpc>
              <a:spcBef>
                <a:spcPts val="300"/>
              </a:spcBef>
              <a:buNone/>
            </a:pPr>
            <a:r>
              <a:rPr lang="en-US" sz="1500" dirty="0">
                <a:solidFill>
                  <a:srgbClr val="000000"/>
                </a:solidFill>
                <a:latin typeface="Arial"/>
                <a:cs typeface="Arial"/>
              </a:rPr>
              <a:t>Ghép cặp hay không?</a:t>
            </a:r>
          </a:p>
          <a:p>
            <a:pPr marL="0" indent="0" algn="ctr">
              <a:lnSpc>
                <a:spcPct val="104000"/>
              </a:lnSpc>
              <a:spcBef>
                <a:spcPts val="300"/>
              </a:spcBef>
              <a:buNone/>
            </a:pPr>
            <a:r>
              <a:rPr lang="en-US" sz="1500" dirty="0">
                <a:solidFill>
                  <a:srgbClr val="000000"/>
                </a:solidFill>
                <a:latin typeface="Arial"/>
                <a:cs typeface="Arial"/>
              </a:rPr>
              <a:t>Tác động + KTC 95%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94683"/>
          <a:ext cx="11277600" cy="320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300" b="1" dirty="0">
                          <a:solidFill>
                            <a:srgbClr val="FFFFFF"/>
                          </a:solidFill>
                          <a:latin typeface="Arial"/>
                          <a:cs typeface="Arial"/>
                        </a:rPr>
                        <a:t>Kết cục (loại)</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Cân bằng dương (n = 373)</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Kiểm định</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Kết quả</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Tử vong 28 ngày (có/không)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45 (18.4%)</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134 (35.9%)</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Hiệu số nguy cơ 17.6 điểm (KTC 95% 10.7 đến 24.4), 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Tổn thương thận cấp (có/không)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71 (29.0%)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230 (61.7%)</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Khi bình phương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Số ngày không thở máy (0-28, lệch)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28 (22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Trung vị 20 (0 đến 28)</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 &lt; 0.001</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Thời gian nằm ICU ở người sống (ngày, lệch)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4.8 (3.3 đến 7.1), n = 200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7.5 (5.2 đến 11.2), n = 239</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Mann-Whitney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Chênh lệch 2.5 ngày (KTC 95% 1.8 đến 3.2), p &lt; 0.001</a:t>
                      </a:r>
                    </a:p>
                  </a:txBody>
                  <a:tcPr marL="73152" marR="73152" marT="45720" marB="45720" anchor="ctr">
                    <a:solidFill>
                      <a:srgbClr val="F5F9FA"/>
                    </a:solidFill>
                  </a:tcPr>
                </a:tc>
              </a:tr>
            </a:tbl>
          </a:graphicData>
        </a:graphic>
      </p:graphicFrame>
      <p:sp>
        <p:nvSpPr>
          <p:cNvPr id="31" name="Caption"/>
          <p:cNvSpPr txBox="1"/>
          <p:nvPr/>
        </p:nvSpPr>
        <p:spPr>
          <a:xfrm>
            <a:off x="457200" y="478788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 (%) hoặc trung vị (IQR). So sánh chưa hiệu chỉnh. Dữ liệu mô phỏng (key_results.md). 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1 (Q1),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Nguy cơ</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Dương: 134/373 = 35.9%</a:t>
            </a:r>
          </a:p>
          <a:p>
            <a:pPr marL="0" indent="0" algn="ctr">
              <a:lnSpc>
                <a:spcPct val="104000"/>
              </a:lnSpc>
              <a:spcBef>
                <a:spcPts val="200"/>
              </a:spcBef>
              <a:buNone/>
            </a:pPr>
            <a:r>
              <a:rPr lang="en-US" sz="1500" dirty="0">
                <a:solidFill>
                  <a:srgbClr val="000000"/>
                </a:solidFill>
                <a:latin typeface="Arial"/>
                <a:cs typeface="Arial"/>
              </a:rPr>
              <a:t>Âm: 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Hiệu số</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17.6 điểm phần trăm</a:t>
            </a:r>
          </a:p>
          <a:p>
            <a:pPr marL="0" indent="0" algn="ctr">
              <a:lnSpc>
                <a:spcPct val="104000"/>
              </a:lnSpc>
              <a:spcBef>
                <a:spcPts val="200"/>
              </a:spcBef>
              <a:buNone/>
            </a:pPr>
            <a:r>
              <a:rPr lang="en-US" sz="1500" dirty="0">
                <a:solidFill>
                  <a:srgbClr val="000000"/>
                </a:solidFill>
                <a:latin typeface="Arial"/>
                <a:cs typeface="Arial"/>
              </a:rPr>
              <a:t>KTC 95%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Tỷ số</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Nguy cơ tương đối (RR) 1.96</a:t>
            </a:r>
          </a:p>
          <a:p>
            <a:pPr marL="0" indent="0" algn="ctr">
              <a:lnSpc>
                <a:spcPct val="104000"/>
              </a:lnSpc>
              <a:spcBef>
                <a:spcPts val="200"/>
              </a:spcBef>
              <a:buNone/>
            </a:pPr>
            <a:r>
              <a:rPr lang="en-US" sz="1500" dirty="0">
                <a:solidFill>
                  <a:srgbClr val="000000"/>
                </a:solidFill>
                <a:latin typeface="Arial"/>
                <a:cs typeface="Arial"/>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định</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Khi bình phương, 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Nhưng...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Chưa hiệu chỉnh: nhóm dương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tác động và KTC.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tử vong 28 ngày trong bảng so sánh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kiểm định nào đã được dùng,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nói kết quả như một tác động kèm KTC 95%. Giảng viên viết thành một câu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một lý do khiến phép so sánh có thể bị sai lệch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giảng viên đọc mỗi kết quả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Tránh</a:t>
            </a:r>
          </a:p>
          <a:p>
            <a:pPr marL="0" indent="0" algn="ctr">
              <a:lnSpc>
                <a:spcPct val="104000"/>
              </a:lnSpc>
              <a:spcBef>
                <a:spcPts val="300"/>
              </a:spcBef>
              <a:buNone/>
            </a:pPr>
            <a:r>
              <a:rPr lang="en-US" sz="1500" dirty="0">
                <a:solidFill>
                  <a:srgbClr val="000000"/>
                </a:solidFill>
                <a:latin typeface="Arial"/>
                <a:cs typeface="Arial"/>
              </a:rPr>
              <a:t>Chỉ có giá trị p</a:t>
            </a:r>
          </a:p>
          <a:p>
            <a:pPr marL="0" indent="0" algn="ctr">
              <a:lnSpc>
                <a:spcPct val="104000"/>
              </a:lnSpc>
              <a:spcBef>
                <a:spcPts val="300"/>
              </a:spcBef>
              <a:buNone/>
            </a:pPr>
            <a:r>
              <a:rPr lang="en-US" sz="1500" dirty="0">
                <a:solidFill>
                  <a:srgbClr val="000000"/>
                </a:solidFill>
                <a:latin typeface="Arial"/>
                <a:cs typeface="Arial"/>
              </a:rPr>
              <a:t>'chứng minh', 'gây ra'</a:t>
            </a:r>
          </a:p>
          <a:p>
            <a:pPr marL="0" indent="0" algn="ctr">
              <a:lnSpc>
                <a:spcPct val="104000"/>
              </a:lnSpc>
              <a:spcBef>
                <a:spcPts val="300"/>
              </a:spcBef>
              <a:buNone/>
            </a:pPr>
            <a:r>
              <a:rPr lang="en-US" sz="1500" dirty="0">
                <a:solidFill>
                  <a:srgbClr val="000000"/>
                </a:solidFill>
                <a:latin typeface="Arial"/>
                <a:cs typeface="Arial"/>
              </a:rPr>
              <a:t>'xu hướng' khi p &gt; 0.05</a:t>
            </a:r>
          </a:p>
          <a:p>
            <a:pPr marL="0" indent="0" algn="ctr">
              <a:lnSpc>
                <a:spcPct val="104000"/>
              </a:lnSpc>
              <a:spcBef>
                <a:spcPts val="300"/>
              </a:spcBef>
              <a:buNone/>
            </a:pPr>
            <a:r>
              <a:rPr lang="en-US" sz="1500" dirty="0">
                <a:solidFill>
                  <a:srgbClr val="000000"/>
                </a:solidFill>
                <a:latin typeface="Arial"/>
                <a:cs typeface="Arial"/>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Kết quả cho Q1, mỗi câu Q2 đến Q5 một dòng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chạy mô hình mới đọc được mô hình.</a:t>
            </a:r>
          </a:p>
          <a:p>
            <a:pPr marL="0" indent="0" algn="ctr">
              <a:spcBef>
                <a:spcPts val="1200"/>
              </a:spcBef>
              <a:buNone/>
            </a:pPr>
            <a:r>
              <a:rPr lang="en-US" sz="1900" i="1" dirty="0">
                <a:solidFill>
                  <a:srgbClr val="595959"/>
                </a:solidFill>
                <a:latin typeface="Arial"/>
                <a:cs typeface="Arial"/>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Hồi quy logistic biến kết cục có/không thành tỷ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500" b="1" dirty="0">
                          <a:solidFill>
                            <a:srgbClr val="FFFFFF"/>
                          </a:solidFill>
                          <a:latin typeface="Arial"/>
                          <a:cs typeface="Arial"/>
                        </a:rPr>
                        <a:t>Kết cục của anh chị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Mô hình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báo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'không tác động'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Một số đo, ví dụ 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tuyến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Hệ số (B): một hiệu số</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Có / không, ví dụ tử vong đến ngày 28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Hồi quy logistic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Tỷ số chênh (OR)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Thời gian đến sự kiện, ví dụ thời gian đến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Hồi quy Cox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Tỷ số nguy cơ tức thời (HR)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Hiệu chỉnh = so sánh những người bệnh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8016"/>
          <a:ext cx="11277600" cy="3223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OR đã hiệu chỉnh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95%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p</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KTC có chứa 1 không?</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Cân bằng dịch dương (có so với không)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1.80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 đến 2.70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0.004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Tuổi (mỗi 10 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1.25</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1.10 đến 1.42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Điểm SOFA (mỗi 1 điểm)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1.08 đến 1.23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&lt; 0.001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Không</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Nữ (so với nam)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0.92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0.65 đến 1.30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0.64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Lactat (mỗi 1 mmol/L)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1.10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0.98 đến 1.24</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0.11</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Có: phù hợp với không có tác động</a:t>
                      </a:r>
                    </a:p>
                  </a:txBody>
                  <a:tcPr marL="73152" marR="73152" marT="45720" marB="45720" anchor="ctr">
                    <a:solidFill>
                      <a:srgbClr val="FFFFFF"/>
                    </a:solidFill>
                  </a:tcPr>
                </a:tc>
              </a:tr>
            </a:tbl>
          </a:graphicData>
        </a:graphic>
      </p:graphicFrame>
      <p:sp>
        <p:nvSpPr>
          <p:cNvPr id="31" name="Caption"/>
          <p:cNvSpPr txBox="1"/>
          <p:nvPr/>
        </p:nvSpPr>
        <p:spPr>
          <a:xfrm>
            <a:off x="457200" y="48012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Kết cục: tử vong đến ngày 28. Hồi quy logistic đa biến, số liệu giả định. Các dòng sau dòng 1 là những yếu tố gây nhiễu tác giả đã 'hiệu chỉnh'. Đọc mỗi dòng: so sánh gì, tác động, KTC 95%, KTC có chứa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đọc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Dùng bảng ở trang trước ('Đọc bảng hồi quy, từng dòng một')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với giới nữ, KTC 95% có chứa 1 không? Điều đó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'OR 1.15 mỗi điểm SOFA'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cho cả lớp: một câu dễ hiểu cho cân bằng dịch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Luyện thêm ở nhà: Bài 5 và 6 trong phiếu bài tập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Đọc theo 4 bước</a:t>
            </a:r>
          </a:p>
          <a:p>
            <a:pPr marL="0" indent="0" algn="ctr">
              <a:lnSpc>
                <a:spcPct val="104000"/>
              </a:lnSpc>
              <a:spcBef>
                <a:spcPts val="300"/>
              </a:spcBef>
              <a:buNone/>
            </a:pPr>
            <a:r>
              <a:rPr lang="en-US" sz="1500" dirty="0">
                <a:solidFill>
                  <a:srgbClr val="000000"/>
                </a:solidFill>
                <a:latin typeface="Arial"/>
                <a:cs typeface="Arial"/>
              </a:rPr>
              <a:t>So sánh cái gì?</a:t>
            </a:r>
          </a:p>
          <a:p>
            <a:pPr marL="0" indent="0" algn="ctr">
              <a:lnSpc>
                <a:spcPct val="104000"/>
              </a:lnSpc>
              <a:spcBef>
                <a:spcPts val="300"/>
              </a:spcBef>
              <a:buNone/>
            </a:pPr>
            <a:r>
              <a:rPr lang="en-US" sz="1500" dirty="0">
                <a:solidFill>
                  <a:srgbClr val="000000"/>
                </a:solidFill>
                <a:latin typeface="Arial"/>
                <a:cs typeface="Arial"/>
              </a:rPr>
              <a:t>Tác động lớn đến đâu?</a:t>
            </a:r>
          </a:p>
          <a:p>
            <a:pPr marL="0" indent="0" algn="ctr">
              <a:lnSpc>
                <a:spcPct val="104000"/>
              </a:lnSpc>
              <a:spcBef>
                <a:spcPts val="300"/>
              </a:spcBef>
              <a:buNone/>
            </a:pPr>
            <a:r>
              <a:rPr lang="en-US" sz="1500" dirty="0">
                <a:solidFill>
                  <a:srgbClr val="000000"/>
                </a:solidFill>
                <a:latin typeface="Arial"/>
                <a:cs typeface="Arial"/>
              </a:rPr>
              <a:t>KTC rộng đến đâu?</a:t>
            </a:r>
          </a:p>
          <a:p>
            <a:pPr marL="0" indent="0" algn="ctr">
              <a:lnSpc>
                <a:spcPct val="104000"/>
              </a:lnSpc>
              <a:spcBef>
                <a:spcPts val="300"/>
              </a:spcBef>
              <a:buNone/>
            </a:pPr>
            <a:r>
              <a:rPr lang="en-US" sz="1500" dirty="0">
                <a:solidFill>
                  <a:srgbClr val="000000"/>
                </a:solidFill>
                <a:latin typeface="Arial"/>
                <a:cs typeface="Arial"/>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câu diễn giải đúng, dễ hiểu,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Vì sao chọn biến từng bước gây hiểu nhầm</a:t>
            </a:r>
          </a:p>
          <a:p>
            <a:pPr marL="274320" indent="-274320" algn="l">
              <a:spcBef>
                <a:spcPts val="440"/>
              </a:spcBef>
              <a:buFont typeface="Arial"/>
              <a:buChar char="•"/>
            </a:pPr>
            <a:r>
              <a:rPr lang="en-US" sz="1450" dirty="0">
                <a:solidFill>
                  <a:srgbClr val="000000"/>
                </a:solidFill>
                <a:latin typeface="Arial"/>
                <a:cs typeface="Arial"/>
              </a:rPr>
              <a:t>Chọn biến theo giá trị p</a:t>
            </a:r>
          </a:p>
          <a:p>
            <a:pPr marL="274320" indent="-274320" algn="l">
              <a:spcBef>
                <a:spcPts val="440"/>
              </a:spcBef>
              <a:buFont typeface="Arial"/>
              <a:buChar char="•"/>
            </a:pPr>
            <a:r>
              <a:rPr lang="en-US" sz="1450" dirty="0">
                <a:solidFill>
                  <a:srgbClr val="000000"/>
                </a:solidFill>
                <a:latin typeface="Arial"/>
                <a:cs typeface="Arial"/>
              </a:rPr>
              <a:t>Tìm ra 'yếu tố dự báo' ngẫu nhiên</a:t>
            </a:r>
          </a:p>
          <a:p>
            <a:pPr marL="274320" indent="-274320" algn="l">
              <a:spcBef>
                <a:spcPts val="440"/>
              </a:spcBef>
              <a:buFont typeface="Arial"/>
              <a:buChar char="•"/>
            </a:pPr>
            <a:r>
              <a:rPr lang="en-US" sz="1450" dirty="0">
                <a:solidFill>
                  <a:srgbClr val="000000"/>
                </a:solidFill>
                <a:latin typeface="Arial"/>
                <a:cs typeface="Arial"/>
              </a:rPr>
              <a:t>Tác động quá lớn, KTC quá hẹp</a:t>
            </a:r>
          </a:p>
          <a:p>
            <a:pPr marL="274320" indent="-274320" algn="l">
              <a:spcBef>
                <a:spcPts val="440"/>
              </a:spcBef>
              <a:buFont typeface="Arial"/>
              <a:buChar char="•"/>
            </a:pPr>
            <a:r>
              <a:rPr lang="en-US" sz="1450" dirty="0">
                <a:solidFill>
                  <a:srgbClr val="000000"/>
                </a:solidFill>
                <a:latin typeface="Arial"/>
                <a:cs typeface="Arial"/>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Hiệu chỉnh theo kế hoạch, đọc KTC, và trung thực về các ô trống.</a:t>
            </a:r>
          </a:p>
          <a:p>
            <a:pPr marL="0" indent="0" algn="ctr">
              <a:spcBef>
                <a:spcPts val="1200"/>
              </a:spcBef>
              <a:buNone/>
            </a:pPr>
            <a:r>
              <a:rPr lang="en-US" sz="1900" i="1" dirty="0">
                <a:solidFill>
                  <a:srgbClr val="595959"/>
                </a:solidFill>
                <a:latin typeface="Arial"/>
                <a:cs typeface="Arial"/>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Kế hoạch phân tích thống kê (SAP) được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Chính</a:t>
            </a:r>
          </a:p>
        </p:txBody>
      </p:sp>
      <p:sp>
        <p:nvSpPr>
          <p:cNvPr id="81" name="StepText"/>
          <p:cNvSpPr/>
          <p:nvPr/>
        </p:nvSpPr>
        <p:spPr>
          <a:xfrm>
            <a:off x="49720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Tử vong 28 ngày</a:t>
            </a:r>
          </a:p>
          <a:p>
            <a:pPr marL="0" indent="0" algn="ctr">
              <a:lnSpc>
                <a:spcPct val="104000"/>
              </a:lnSpc>
              <a:spcBef>
                <a:spcPts val="200"/>
              </a:spcBef>
              <a:buNone/>
            </a:pPr>
            <a:r>
              <a:rPr lang="en-US" sz="1500" dirty="0">
                <a:solidFill>
                  <a:srgbClr val="000000"/>
                </a:solidFill>
                <a:latin typeface="Arial"/>
                <a:cs typeface="Arial"/>
              </a:rPr>
              <a:t>Hồi quy logistic, tỷ số chênh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Gây nhiễu</a:t>
            </a:r>
          </a:p>
        </p:txBody>
      </p:sp>
      <p:sp>
        <p:nvSpPr>
          <p:cNvPr id="83" name="StepText"/>
          <p:cNvSpPr/>
          <p:nvPr/>
        </p:nvSpPr>
        <p:spPr>
          <a:xfrm>
            <a:off x="274072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Tuổi, SOFA, lactat</a:t>
            </a:r>
          </a:p>
          <a:p>
            <a:pPr marL="0" indent="0" algn="ctr">
              <a:lnSpc>
                <a:spcPct val="104000"/>
              </a:lnSpc>
              <a:spcBef>
                <a:spcPts val="200"/>
              </a:spcBef>
              <a:buNone/>
            </a:pPr>
            <a:r>
              <a:rPr lang="en-US" sz="1500" dirty="0">
                <a:solidFill>
                  <a:srgbClr val="000000"/>
                </a:solidFill>
                <a:latin typeface="Arial"/>
                <a:cs typeface="Arial"/>
              </a:rPr>
              <a:t>Vận mạch, thở máy</a:t>
            </a:r>
          </a:p>
          <a:p>
            <a:pPr marL="0" indent="0" algn="ctr">
              <a:lnSpc>
                <a:spcPct val="104000"/>
              </a:lnSpc>
              <a:spcBef>
                <a:spcPts val="200"/>
              </a:spcBef>
              <a:buNone/>
            </a:pPr>
            <a:r>
              <a:rPr lang="en-US" sz="1500" dirty="0">
                <a:solidFill>
                  <a:srgbClr val="000000"/>
                </a:solidFill>
                <a:latin typeface="Arial"/>
                <a:cs typeface="Arial"/>
              </a:rPr>
              <a:t>Bệnh thận mạn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Hỗ trợ</a:t>
            </a:r>
          </a:p>
        </p:txBody>
      </p:sp>
      <p:sp>
        <p:nvSpPr>
          <p:cNvPr id="85" name="StepText"/>
          <p:cNvSpPr/>
          <p:nvPr/>
        </p:nvSpPr>
        <p:spPr>
          <a:xfrm>
            <a:off x="498424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Kaplan-Meier và kiểm định log-rank</a:t>
            </a:r>
          </a:p>
          <a:p>
            <a:pPr marL="0" indent="0" algn="ctr">
              <a:lnSpc>
                <a:spcPct val="104000"/>
              </a:lnSpc>
              <a:spcBef>
                <a:spcPts val="200"/>
              </a:spcBef>
              <a:buNone/>
            </a:pPr>
            <a:r>
              <a:rPr lang="en-US" sz="1500" dirty="0">
                <a:solidFill>
                  <a:srgbClr val="000000"/>
                </a:solidFill>
                <a:latin typeface="Arial"/>
                <a:cs typeface="Arial"/>
              </a:rPr>
              <a:t>Tỷ số nguy cơ tức thời (HR) từ mô hình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nhóm</a:t>
            </a:r>
          </a:p>
        </p:txBody>
      </p:sp>
      <p:sp>
        <p:nvSpPr>
          <p:cNvPr id="87" name="StepText"/>
          <p:cNvSpPr/>
          <p:nvPr/>
        </p:nvSpPr>
        <p:spPr>
          <a:xfrm>
            <a:off x="722776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phân nhóm định trước: 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Dữ liệu thiếu</a:t>
            </a:r>
          </a:p>
        </p:txBody>
      </p:sp>
      <p:sp>
        <p:nvSpPr>
          <p:cNvPr id="89" name="StepText"/>
          <p:cNvSpPr/>
          <p:nvPr/>
        </p:nvSpPr>
        <p:spPr>
          <a:xfrm>
            <a:off x="9471280" y="258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Phân tích các trường hợp đầy đủ</a:t>
            </a:r>
          </a:p>
          <a:p>
            <a:pPr marL="0" indent="0" algn="ctr">
              <a:lnSpc>
                <a:spcPct val="104000"/>
              </a:lnSpc>
              <a:spcBef>
                <a:spcPts val="200"/>
              </a:spcBef>
              <a:buNone/>
            </a:pPr>
            <a:r>
              <a:rPr lang="en-US" sz="15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từng dòng: so sánh gì, OR, KTC 95%,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Mô hình Cox: cùng câu chuyện bằng tỷ số nguy cơ tức thời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Phân tích hỗ trợ của Q1 (04_models.R). HR = tỷ số nguy cơ tức thời. OR = tỷ số chênh.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2.17</a:t>
            </a:r>
          </a:p>
          <a:p>
            <a:pPr marL="0" indent="0" algn="ctr">
              <a:lnSpc>
                <a:spcPct val="104000"/>
              </a:lnSpc>
              <a:spcBef>
                <a:spcPts val="400"/>
              </a:spcBef>
              <a:buNone/>
            </a:pPr>
            <a:r>
              <a:rPr lang="en-US" sz="1600" dirty="0">
                <a:solidFill>
                  <a:srgbClr val="000000"/>
                </a:solidFill>
                <a:latin typeface="Arial"/>
                <a:cs typeface="Arial"/>
              </a:rPr>
              <a:t>KTC 95%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HR đã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1.46</a:t>
            </a:r>
          </a:p>
          <a:p>
            <a:pPr marL="0" indent="0" algn="ctr">
              <a:lnSpc>
                <a:spcPct val="104000"/>
              </a:lnSpc>
              <a:spcBef>
                <a:spcPts val="400"/>
              </a:spcBef>
              <a:buNone/>
            </a:pPr>
            <a:r>
              <a:rPr lang="en-US" sz="1600" dirty="0">
                <a:solidFill>
                  <a:srgbClr val="000000"/>
                </a:solidFill>
                <a:latin typeface="Arial"/>
                <a:cs typeface="Arial"/>
              </a:rPr>
              <a:t>KTC 95% 1.00 đến 2.13</a:t>
            </a:r>
          </a:p>
          <a:p>
            <a:pPr marL="0" indent="0" algn="ctr">
              <a:lnSpc>
                <a:spcPct val="104000"/>
              </a:lnSpc>
              <a:spcBef>
                <a:spcPts val="400"/>
              </a:spcBef>
              <a:buNone/>
            </a:pPr>
            <a:r>
              <a:rPr lang="en-US" sz="1600" dirty="0">
                <a:solidFill>
                  <a:srgbClr val="000000"/>
                </a:solidFill>
                <a:latin typeface="Arial"/>
                <a:cs typeface="Arial"/>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tỷ lệ: kiểm định chung p = 0.10</a:t>
            </a:r>
          </a:p>
          <a:p>
            <a:pPr marL="0" indent="0" algn="ctr">
              <a:lnSpc>
                <a:spcPct val="104000"/>
              </a:lnSpc>
              <a:spcBef>
                <a:spcPts val="400"/>
              </a:spcBef>
              <a:buNone/>
            </a:pPr>
            <a:r>
              <a:rPr lang="en-US" sz="1600" dirty="0">
                <a:solidFill>
                  <a:srgbClr val="000000"/>
                </a:solidFill>
                <a:latin typeface="Arial"/>
                <a:cs typeface="Arial"/>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 1.62, p = 0.044</a:t>
            </a:r>
          </a:p>
          <a:p>
            <a:pPr marL="0" indent="0" algn="ctr">
              <a:lnSpc>
                <a:spcPct val="104000"/>
              </a:lnSpc>
              <a:spcBef>
                <a:spcPts val="400"/>
              </a:spcBef>
              <a:buNone/>
            </a:pPr>
            <a:r>
              <a:rPr lang="en-US" sz="1600" dirty="0">
                <a:solidFill>
                  <a:srgbClr val="000000"/>
                </a:solidFill>
                <a:latin typeface="Arial"/>
                <a:cs typeface="Arial"/>
              </a:rPr>
              <a:t>HR đã hiệu chỉnh 1.46, p = 0.053</a:t>
            </a:r>
          </a:p>
          <a:p>
            <a:pPr marL="0" indent="0" algn="ctr">
              <a:lnSpc>
                <a:spcPct val="104000"/>
              </a:lnSpc>
              <a:spcBef>
                <a:spcPts val="400"/>
              </a:spcBef>
              <a:buNone/>
            </a:pPr>
            <a:r>
              <a:rPr lang="en-US" sz="1600" dirty="0">
                <a:solidFill>
                  <a:srgbClr val="000000"/>
                </a:solidFill>
                <a:latin typeface="Arial"/>
                <a:cs typeface="Arial"/>
              </a:rPr>
              <a:t>Cùng chiều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 = 0.044 và p = 0.053 nói cùng một điều: hãy đọc ước lượng và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Lactat thiếu chủ yếu ở người bệnh nhẹ hơn: không phải MCAR, nhưng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Trường hợp đầy đủ so với quy gán đa bội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cả 620 người bệnh.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diễn giải các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Q1 đầy đủ: OR thô và đã hiệu chỉnh trong bảng mô hình của gói kết quả Q1 (PDF)</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hiệu chỉnh làm ước lượng thay đổi bao nhiêu, và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KTC 95% đã hiệu chỉnh có chứa 1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thô, rồi đã hiệu chỉnh, kèm KTC</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ước lượng thô và đã hiệu chỉnh, mỗi câu một dòng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Từ nên dùng</a:t>
            </a:r>
          </a:p>
          <a:p>
            <a:pPr marL="0" indent="0" algn="ctr">
              <a:lnSpc>
                <a:spcPct val="104000"/>
              </a:lnSpc>
              <a:spcBef>
                <a:spcPts val="300"/>
              </a:spcBef>
              <a:buNone/>
            </a:pPr>
            <a:r>
              <a:rPr lang="en-US" sz="1500" dirty="0">
                <a:solidFill>
                  <a:srgbClr val="000000"/>
                </a:solidFill>
                <a:latin typeface="Arial"/>
                <a:cs typeface="Arial"/>
              </a:rPr>
              <a:t>'có liên quan với'</a:t>
            </a:r>
          </a:p>
          <a:p>
            <a:pPr marL="0" indent="0" algn="ctr">
              <a:lnSpc>
                <a:spcPct val="104000"/>
              </a:lnSpc>
              <a:spcBef>
                <a:spcPts val="300"/>
              </a:spcBef>
              <a:buNone/>
            </a:pPr>
            <a:r>
              <a:rPr lang="en-US" sz="1500" dirty="0">
                <a:solidFill>
                  <a:srgbClr val="000000"/>
                </a:solidFill>
                <a:latin typeface="Arial"/>
                <a:cs typeface="Arial"/>
              </a:rPr>
              <a:t>'sau khi hiệu chỉnh'</a:t>
            </a:r>
          </a:p>
          <a:p>
            <a:pPr marL="0" indent="0" algn="ctr">
              <a:lnSpc>
                <a:spcPct val="104000"/>
              </a:lnSpc>
              <a:spcBef>
                <a:spcPts val="300"/>
              </a:spcBef>
              <a:buNone/>
            </a:pPr>
            <a:r>
              <a:rPr lang="en-US" sz="1500" dirty="0">
                <a:solidFill>
                  <a:srgbClr val="000000"/>
                </a:solidFill>
                <a:latin typeface="Arial"/>
                <a:cs typeface="Arial"/>
              </a:rPr>
              <a:t>'KTC 95%'</a:t>
            </a:r>
          </a:p>
          <a:p>
            <a:pPr marL="0" indent="0" algn="ctr">
              <a:lnSpc>
                <a:spcPct val="104000"/>
              </a:lnSpc>
              <a:spcBef>
                <a:spcPts val="300"/>
              </a:spcBef>
              <a:buNone/>
            </a:pPr>
            <a:r>
              <a:rPr lang="en-US" sz="1500" dirty="0">
                <a:solidFill>
                  <a:srgbClr val="000000"/>
                </a:solidFill>
                <a:latin typeface="Arial"/>
                <a:cs typeface="Arial"/>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cho Q1, mỗi câu Q2 đến Q5 một dòng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Cỡ mẫu</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40% so với 30%</a:t>
            </a:r>
          </a:p>
          <a:p>
            <a:pPr marL="0" indent="0" algn="ctr">
              <a:lnSpc>
                <a:spcPct val="104000"/>
              </a:lnSpc>
              <a:spcBef>
                <a:spcPts val="400"/>
              </a:spcBef>
              <a:buNone/>
            </a:pPr>
            <a:r>
              <a:rPr lang="en-US" sz="1600" dirty="0">
                <a:solidFill>
                  <a:srgbClr val="000000"/>
                </a:solidFill>
                <a:latin typeface="Arial"/>
                <a:cs typeface="Arial"/>
              </a:rPr>
              <a:t>Lực thống kê 80%, alpha 5% hai phía</a:t>
            </a:r>
          </a:p>
          <a:p>
            <a:pPr marL="0" indent="0" algn="ctr">
              <a:lnSpc>
                <a:spcPct val="104000"/>
              </a:lnSpc>
              <a:spcBef>
                <a:spcPts val="400"/>
              </a:spcBef>
              <a:buNone/>
            </a:pPr>
            <a:r>
              <a:rPr lang="en-US" sz="1600" dirty="0">
                <a:solidFill>
                  <a:srgbClr val="000000"/>
                </a:solidFill>
                <a:latin typeface="Arial"/>
                <a:cs typeface="Arial"/>
              </a:rPr>
              <a:t>356 mỗi nhóm, cộng thêm 10%</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 phân tích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n (%), trung vị (IQR)</a:t>
            </a:r>
          </a:p>
          <a:p>
            <a:pPr marL="0" indent="0" algn="ctr">
              <a:lnSpc>
                <a:spcPct val="104000"/>
              </a:lnSpc>
              <a:spcBef>
                <a:spcPts val="400"/>
              </a:spcBef>
              <a:buNone/>
            </a:pPr>
            <a:r>
              <a:rPr lang="en-US" sz="1600" dirty="0">
                <a:solidFill>
                  <a:srgbClr val="000000"/>
                </a:solidFill>
                <a:latin typeface="Arial"/>
                <a:cs typeface="Arial"/>
              </a:rPr>
              <a:t>So sánh: khi bình phương</a:t>
            </a:r>
          </a:p>
          <a:p>
            <a:pPr marL="0" indent="0" algn="ctr">
              <a:lnSpc>
                <a:spcPct val="104000"/>
              </a:lnSpc>
              <a:spcBef>
                <a:spcPts val="400"/>
              </a:spcBef>
              <a:buNone/>
            </a:pPr>
            <a:r>
              <a:rPr lang="en-US" sz="1600" dirty="0">
                <a:solidFill>
                  <a:srgbClr val="000000"/>
                </a:solidFill>
                <a:latin typeface="Arial"/>
                <a:cs typeface="Arial"/>
              </a:rPr>
              <a:t>Báo cáo: RR kèm KTC 95%</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Yếu tố gây nhiễu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từ trước</a:t>
            </a:r>
          </a:p>
          <a:p>
            <a:pPr marL="0" indent="0" algn="ctr">
              <a:lnSpc>
                <a:spcPct val="104000"/>
              </a:lnSpc>
              <a:spcBef>
                <a:spcPts val="400"/>
              </a:spcBef>
              <a:buNone/>
            </a:pPr>
            <a:r>
              <a:rPr lang="en-US" sz="1600" dirty="0">
                <a:solidFill>
                  <a:srgbClr val="000000"/>
                </a:solidFill>
                <a:latin typeface="Arial"/>
                <a:cs typeface="Arial"/>
              </a:rPr>
              <a:t>Khoảng 10 biến cố mỗi biến</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Dữ liệu thiếu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kiến thiếu gì và vì sao</a:t>
            </a:r>
          </a:p>
          <a:p>
            <a:pPr marL="0" indent="0" algn="ctr">
              <a:lnSpc>
                <a:spcPct val="104000"/>
              </a:lnSpc>
              <a:spcBef>
                <a:spcPts val="400"/>
              </a:spcBef>
              <a:buNone/>
            </a:pPr>
            <a:r>
              <a:rPr lang="en-US" sz="1600" dirty="0">
                <a:solidFill>
                  <a:srgbClr val="000000"/>
                </a:solidFill>
                <a:latin typeface="Arial"/>
                <a:cs typeface="Arial"/>
              </a:rPr>
              <a:t>Phòng ngừa</a:t>
            </a:r>
          </a:p>
          <a:p>
            <a:pPr marL="0" indent="0" algn="ctr">
              <a:lnSpc>
                <a:spcPct val="104000"/>
              </a:lnSpc>
              <a:spcBef>
                <a:spcPts val="400"/>
              </a:spcBef>
              <a:buNone/>
            </a:pPr>
            <a:r>
              <a:rPr lang="en-US" sz="1600" dirty="0">
                <a:solidFill>
                  <a:srgbClr val="000000"/>
                </a:solidFill>
                <a:latin typeface="Arial"/>
                <a:cs typeface="Arial"/>
              </a:rPr>
              <a:t>Báo cáo dữ liệu thiếu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bao nhiêu người bệnh,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Cỡ mẫu, kế hoạch phân tích, yếu tố gây nhiễu, kế hoạch dữ liệu thiếu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các đầu vào cỡ mẫu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Dùng các công cụ này</a:t>
            </a:r>
          </a:p>
          <a:p>
            <a:pPr marL="0" indent="0" algn="ctr">
              <a:lnSpc>
                <a:spcPct val="104000"/>
              </a:lnSpc>
              <a:spcBef>
                <a:spcPts val="300"/>
              </a:spcBef>
              <a:buNone/>
            </a:pPr>
            <a:r>
              <a:rPr lang="en-US" sz="1500" dirty="0">
                <a:solidFill>
                  <a:srgbClr val="000000"/>
                </a:solidFill>
                <a:latin typeface="Arial"/>
                <a:cs typeface="Arial"/>
              </a:rPr>
              <a:t>Bảng tính cỡ mẫu</a:t>
            </a:r>
          </a:p>
          <a:p>
            <a:pPr marL="0" indent="0" algn="ctr">
              <a:lnSpc>
                <a:spcPct val="104000"/>
              </a:lnSpc>
              <a:spcBef>
                <a:spcPts val="300"/>
              </a:spcBef>
              <a:buNone/>
            </a:pPr>
            <a:r>
              <a:rPr lang="en-US" sz="1500" dirty="0">
                <a:solidFill>
                  <a:srgbClr val="000000"/>
                </a:solidFill>
                <a:latin typeface="Arial"/>
                <a:cs typeface="Arial"/>
              </a:rPr>
              <a:t>Bảng chọn kiểm định (6.1)</a:t>
            </a:r>
          </a:p>
          <a:p>
            <a:pPr marL="0" indent="0" algn="ctr">
              <a:lnSpc>
                <a:spcPct val="104000"/>
              </a:lnSpc>
              <a:spcBef>
                <a:spcPts val="300"/>
              </a:spcBef>
              <a:buNone/>
            </a:pPr>
            <a:r>
              <a:rPr lang="en-US" sz="1500" dirty="0">
                <a:solidFill>
                  <a:srgbClr val="000000"/>
                </a:solidFill>
                <a:latin typeface="Arial"/>
                <a:cs typeface="Arial"/>
              </a:rPr>
              <a:t>SAP của FLUID-ICU làm mẫu</a:t>
            </a:r>
          </a:p>
          <a:p>
            <a:pPr marL="0" indent="0" algn="ctr">
              <a:lnSpc>
                <a:spcPct val="104000"/>
              </a:lnSpc>
              <a:spcBef>
                <a:spcPts val="300"/>
              </a:spcBef>
              <a:buNone/>
            </a:pPr>
            <a:r>
              <a:rPr lang="en-US" sz="1500" dirty="0">
                <a:solidFill>
                  <a:srgbClr val="000000"/>
                </a:solidFill>
                <a:latin typeface="Arial"/>
                <a:cs typeface="Arial"/>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hoàn chỉnh: bắt đầu cỡ mẫu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Không chắc chắn</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KTC 95%</a:t>
            </a:r>
          </a:p>
          <a:p>
            <a:pPr marL="0" indent="0" algn="ctr">
              <a:lnSpc>
                <a:spcPct val="104000"/>
              </a:lnSpc>
              <a:spcBef>
                <a:spcPts val="400"/>
              </a:spcBef>
              <a:buNone/>
            </a:pPr>
            <a:r>
              <a:rPr lang="en-US" sz="1600" dirty="0">
                <a:solidFill>
                  <a:srgbClr val="000000"/>
                </a:solidFill>
                <a:latin typeface="Arial"/>
                <a:cs typeface="Arial"/>
              </a:rPr>
              <a:t>Giá trị p (hai phía)</a:t>
            </a:r>
          </a:p>
          <a:p>
            <a:pPr marL="0" indent="0" algn="ctr">
              <a:lnSpc>
                <a:spcPct val="104000"/>
              </a:lnSpc>
              <a:spcBef>
                <a:spcPts val="400"/>
              </a:spcBef>
              <a:buNone/>
            </a:pPr>
            <a:r>
              <a:rPr lang="en-US" sz="1600" dirty="0">
                <a:solidFill>
                  <a:srgbClr val="000000"/>
                </a:solidFill>
                <a:latin typeface="Arial"/>
                <a:cs typeface="Arial"/>
              </a:rPr>
              <a:t>Lực thống kê</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định t / Mann-Whitney</a:t>
            </a:r>
          </a:p>
          <a:p>
            <a:pPr marL="0" indent="0" algn="ctr">
              <a:lnSpc>
                <a:spcPct val="104000"/>
              </a:lnSpc>
              <a:spcBef>
                <a:spcPts val="400"/>
              </a:spcBef>
              <a:buNone/>
            </a:pPr>
            <a:r>
              <a:rPr lang="en-US" sz="1600" dirty="0">
                <a:solidFill>
                  <a:srgbClr val="000000"/>
                </a:solidFill>
                <a:latin typeface="Arial"/>
                <a:cs typeface="Arial"/>
              </a:rPr>
              <a:t>Khi bình phương</a:t>
            </a:r>
          </a:p>
          <a:p>
            <a:pPr marL="0" indent="0" algn="ctr">
              <a:lnSpc>
                <a:spcPct val="104000"/>
              </a:lnSpc>
              <a:spcBef>
                <a:spcPts val="400"/>
              </a:spcBef>
              <a:buNone/>
            </a:pPr>
            <a:r>
              <a:rPr lang="en-US" sz="1600" dirty="0">
                <a:solidFill>
                  <a:srgbClr val="000000"/>
                </a:solidFill>
                <a:latin typeface="Arial"/>
                <a:cs typeface="Arial"/>
              </a:rPr>
              <a:t>Ghép cặp</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hình</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OR đã hiệu chỉnh</a:t>
            </a:r>
          </a:p>
          <a:p>
            <a:pPr marL="0" indent="0" algn="ctr">
              <a:lnSpc>
                <a:spcPct val="104000"/>
              </a:lnSpc>
              <a:spcBef>
                <a:spcPts val="400"/>
              </a:spcBef>
              <a:buNone/>
            </a:pPr>
            <a:r>
              <a:rPr lang="en-US" sz="1600" dirty="0">
                <a:solidFill>
                  <a:srgbClr val="000000"/>
                </a:solidFill>
                <a:latin typeface="Arial"/>
                <a:cs typeface="Arial"/>
              </a:rPr>
              <a:t>Tỷ số nguy cơ tức thời (HR)</a:t>
            </a:r>
          </a:p>
          <a:p>
            <a:pPr marL="0" indent="0" algn="ctr">
              <a:lnSpc>
                <a:spcPct val="104000"/>
              </a:lnSpc>
              <a:spcBef>
                <a:spcPts val="400"/>
              </a:spcBef>
              <a:buNone/>
            </a:pPr>
            <a:r>
              <a:rPr lang="en-US" sz="1600" dirty="0">
                <a:solidFill>
                  <a:srgbClr val="000000"/>
                </a:solidFill>
                <a:latin typeface="Arial"/>
                <a:cs typeface="Arial"/>
              </a:rPr>
              <a:t>Kiểm duyệt</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Trung thực</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SAP</a:t>
            </a:r>
          </a:p>
          <a:p>
            <a:pPr marL="0" indent="0" algn="ctr">
              <a:lnSpc>
                <a:spcPct val="104000"/>
              </a:lnSpc>
              <a:spcBef>
                <a:spcPts val="400"/>
              </a:spcBef>
              <a:buNone/>
            </a:pPr>
            <a:r>
              <a:rPr lang="en-US" sz="1600" dirty="0">
                <a:solidFill>
                  <a:srgbClr val="000000"/>
                </a:solidFill>
                <a:latin typeface="Arial"/>
                <a:cs typeface="Arial"/>
              </a:rPr>
              <a:t>MCAR / MAR / MNAR</a:t>
            </a:r>
          </a:p>
          <a:p>
            <a:pPr marL="0" indent="0" algn="ctr">
              <a:lnSpc>
                <a:spcPct val="104000"/>
              </a:lnSpc>
              <a:spcBef>
                <a:spcPts val="400"/>
              </a:spcBef>
              <a:buNone/>
            </a:pPr>
            <a:r>
              <a:rPr lang="en-US" sz="1600" dirty="0">
                <a:solidFill>
                  <a:srgbClr val="000000"/>
                </a:solidFill>
                <a:latin typeface="Arial"/>
                <a:cs typeface="Arial"/>
              </a:rPr>
              <a:t>Quy gán đa bội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KTC</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Tác động + KTC 95%</a:t>
            </a:r>
          </a:p>
          <a:p>
            <a:pPr marL="0" indent="0" algn="ctr">
              <a:lnSpc>
                <a:spcPct val="104000"/>
              </a:lnSpc>
              <a:spcBef>
                <a:spcPts val="400"/>
              </a:spcBef>
              <a:buNone/>
            </a:pPr>
            <a:r>
              <a:rPr lang="en-US" sz="1750" dirty="0">
                <a:solidFill>
                  <a:srgbClr val="000000"/>
                </a:solidFill>
                <a:latin typeface="Arial"/>
                <a:cs typeface="Arial"/>
              </a:rPr>
              <a:t>Giá trị không tác động ở đâu?</a:t>
            </a:r>
          </a:p>
          <a:p>
            <a:pPr marL="0" indent="0" algn="ctr">
              <a:lnSpc>
                <a:spcPct val="104000"/>
              </a:lnSpc>
              <a:spcBef>
                <a:spcPts val="400"/>
              </a:spcBef>
              <a:buNone/>
            </a:pPr>
            <a:r>
              <a:rPr lang="en-US" sz="1750" dirty="0">
                <a:solidFill>
                  <a:srgbClr val="000000"/>
                </a:solidFill>
                <a:latin typeface="Arial"/>
                <a:cs typeface="Arial"/>
              </a:rPr>
              <a:t>p chỉ là thông tin phụ</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Hiệu chỉnh trung thực</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Thô so với đã hiệu chỉnh</a:t>
            </a:r>
          </a:p>
          <a:p>
            <a:pPr marL="0" indent="0" algn="ctr">
              <a:lnSpc>
                <a:spcPct val="104000"/>
              </a:lnSpc>
              <a:spcBef>
                <a:spcPts val="400"/>
              </a:spcBef>
              <a:buNone/>
            </a:pPr>
            <a:r>
              <a:rPr lang="en-US" sz="1750" dirty="0">
                <a:solidFill>
                  <a:srgbClr val="000000"/>
                </a:solidFill>
                <a:latin typeface="Arial"/>
                <a:cs typeface="Arial"/>
              </a:rPr>
              <a:t>Yếu tố gây nhiễu chọn từ trước</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 trước</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SAP trước khi có dữ liệu</a:t>
            </a:r>
          </a:p>
          <a:p>
            <a:pPr marL="0" indent="0" algn="ctr">
              <a:lnSpc>
                <a:spcPct val="104000"/>
              </a:lnSpc>
              <a:spcBef>
                <a:spcPts val="400"/>
              </a:spcBef>
              <a:buNone/>
            </a:pPr>
            <a:r>
              <a:rPr lang="en-US" sz="1750" dirty="0">
                <a:solidFill>
                  <a:srgbClr val="000000"/>
                </a:solidFill>
                <a:latin typeface="Arial"/>
                <a:cs typeface="Arial"/>
              </a:rPr>
              <a:t>Kiểm định hai phía</a:t>
            </a:r>
          </a:p>
          <a:p>
            <a:pPr marL="0" indent="0" algn="ctr">
              <a:lnSpc>
                <a:spcPct val="104000"/>
              </a:lnSpc>
              <a:spcBef>
                <a:spcPts val="400"/>
              </a:spcBef>
              <a:buNone/>
            </a:pPr>
            <a:r>
              <a:rPr lang="en-US" sz="1750" dirty="0">
                <a:solidFill>
                  <a:srgbClr val="000000"/>
                </a:solidFill>
                <a:latin typeface="Arial"/>
                <a:cs typeface="Arial"/>
              </a:rPr>
              <a:t>Dữ liệu thiếu: báo cáo, 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được lên kế hoạch trước, hiệu chỉnh trung thực và đọc qua KTC.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trong một câu, 'KTC 95% 1.48 đến 3.06' cho biết điều gì?</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đề cương của chính anh chị. Bắt đầu các slide đề cương (mọi người đều nộp)</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lại gói kết quả của câu hỏi anh chị đã chọn: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Tuần 7-8</a:t>
            </a:r>
          </a:p>
          <a:p>
            <a:pPr marL="0" indent="0" algn="ctr">
              <a:lnSpc>
                <a:spcPct val="104000"/>
              </a:lnSpc>
              <a:spcBef>
                <a:spcPts val="300"/>
              </a:spcBef>
              <a:buNone/>
            </a:pPr>
            <a:r>
              <a:rPr lang="en-US" sz="1500" dirty="0">
                <a:solidFill>
                  <a:srgbClr val="000000"/>
                </a:solidFill>
                <a:latin typeface="Arial"/>
                <a:cs typeface="Arial"/>
              </a:rPr>
              <a:t>Đề cương, đạo đức, đăng ký</a:t>
            </a:r>
          </a:p>
          <a:p>
            <a:pPr marL="0" indent="0" algn="ctr">
              <a:lnSpc>
                <a:spcPct val="104000"/>
              </a:lnSpc>
              <a:spcBef>
                <a:spcPts val="300"/>
              </a:spcBef>
              <a:buNone/>
            </a:pPr>
            <a:r>
              <a:rPr lang="en-US" sz="1500" dirty="0">
                <a:solidFill>
                  <a:srgbClr val="000000"/>
                </a:solidFill>
                <a:latin typeface="Arial"/>
                <a:cs typeface="Arial"/>
              </a:rPr>
              <a:t>Liêm chính nghiên cứu</a:t>
            </a:r>
          </a:p>
          <a:p>
            <a:pPr marL="0" indent="0" algn="ctr">
              <a:lnSpc>
                <a:spcPct val="104000"/>
              </a:lnSpc>
              <a:spcBef>
                <a:spcPts val="300"/>
              </a:spcBef>
              <a:buNone/>
            </a:pPr>
            <a:r>
              <a:rPr lang="en-US" sz="1500" dirty="0">
                <a:solidFill>
                  <a:srgbClr val="000000"/>
                </a:solidFill>
                <a:latin typeface="Arial"/>
                <a:cs typeface="Arial"/>
              </a:rPr>
              <a:t>Viết Phương pháp và Kết quả</a:t>
            </a:r>
          </a:p>
          <a:p>
            <a:pPr marL="0" indent="0" algn="ctr">
              <a:lnSpc>
                <a:spcPct val="104000"/>
              </a:lnSpc>
              <a:spcBef>
                <a:spcPts val="300"/>
              </a:spcBef>
              <a:buNone/>
            </a:pPr>
            <a:r>
              <a:rPr lang="en-US" sz="1500" dirty="0">
                <a:solidFill>
                  <a:srgbClr val="000000"/>
                </a:solidFill>
                <a:latin typeface="Arial"/>
                <a:cs typeface="Arial"/>
              </a:rPr>
              <a:t>Công bố bài báo</a:t>
            </a:r>
          </a:p>
          <a:p>
            <a:pPr marL="0" indent="0" algn="ctr">
              <a:lnSpc>
                <a:spcPct val="104000"/>
              </a:lnSpc>
              <a:spcBef>
                <a:spcPts val="300"/>
              </a:spcBef>
              <a:buNone/>
            </a:pPr>
            <a:r>
              <a:rPr lang="en-US" sz="1500" dirty="0">
                <a:solidFill>
                  <a:srgbClr val="000000"/>
                </a:solidFill>
                <a:latin typeface="Arial"/>
                <a:cs typeface="Arial"/>
              </a:rPr>
              <a:t>Trình bày của người tình nguyện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Tương tác, giá trị không tác động, dự báo và học máy, chi tiết về dữ liệu bị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Mẫu cho một ước lượng. KTC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Đọc KTC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1 (Boulet 2024, RCT thí điểm, Course/Papers), kết cục chính: cân bằng dịch tích lũy ngày 5.</a:t>
            </a:r>
          </a:p>
        </p:txBody>
      </p:sp>
      <p:sp>
        <p:nvSpPr>
          <p:cNvPr id="70" name="CardHead"/>
          <p:cNvSpPr/>
          <p:nvPr/>
        </p:nvSpPr>
        <p:spPr>
          <a:xfrm>
            <a:off x="457200" y="200687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a:t>
            </a:r>
          </a:p>
        </p:txBody>
      </p:sp>
      <p:sp>
        <p:nvSpPr>
          <p:cNvPr id="71" name="CardBody"/>
          <p:cNvSpPr/>
          <p:nvPr/>
        </p:nvSpPr>
        <p:spPr>
          <a:xfrm>
            <a:off x="457200" y="2646879"/>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Trung vị 6.9 so với 35.0 ml/kg</a:t>
            </a:r>
          </a:p>
          <a:p>
            <a:pPr marL="0" indent="0" algn="ctr">
              <a:lnSpc>
                <a:spcPct val="104000"/>
              </a:lnSpc>
              <a:spcBef>
                <a:spcPts val="400"/>
              </a:spcBef>
              <a:buNone/>
            </a:pPr>
            <a:r>
              <a:rPr lang="en-US" sz="1750" dirty="0">
                <a:solidFill>
                  <a:srgbClr val="000000"/>
                </a:solidFill>
                <a:latin typeface="Arial"/>
                <a:cs typeface="Arial"/>
              </a:rPr>
              <a:t>Chênh lệch trung bình 13.2 ml/kg</a:t>
            </a:r>
          </a:p>
          <a:p>
            <a:pPr marL="0" indent="0" algn="ctr">
              <a:lnSpc>
                <a:spcPct val="104000"/>
              </a:lnSpc>
              <a:spcBef>
                <a:spcPts val="400"/>
              </a:spcBef>
              <a:buNone/>
            </a:pPr>
            <a:r>
              <a:rPr lang="en-US" sz="1750" dirty="0">
                <a:solidFill>
                  <a:srgbClr val="000000"/>
                </a:solidFill>
                <a:latin typeface="Arial"/>
                <a:cs typeface="Arial"/>
              </a:rPr>
              <a:t>KTC 95% -15.2 đến 41.6</a:t>
            </a:r>
          </a:p>
          <a:p>
            <a:pPr marL="0" indent="0" algn="ctr">
              <a:lnSpc>
                <a:spcPct val="104000"/>
              </a:lnSpc>
              <a:spcBef>
                <a:spcPts val="400"/>
              </a:spcBef>
              <a:buNone/>
            </a:pPr>
            <a:r>
              <a:rPr lang="en-US" sz="1750" dirty="0">
                <a:solidFill>
                  <a:srgbClr val="000000"/>
                </a:solidFill>
                <a:latin typeface="Arial"/>
                <a:cs typeface="Arial"/>
              </a:rPr>
              <a:t>p = 0.42</a:t>
            </a:r>
          </a:p>
        </p:txBody>
      </p:sp>
      <p:sp>
        <p:nvSpPr>
          <p:cNvPr id="72" name="CardHead"/>
          <p:cNvSpPr/>
          <p:nvPr/>
        </p:nvSpPr>
        <p:spPr>
          <a:xfrm>
            <a:off x="4283066" y="200687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Số 0 ở đâu?</a:t>
            </a:r>
          </a:p>
        </p:txBody>
      </p:sp>
      <p:sp>
        <p:nvSpPr>
          <p:cNvPr id="73" name="CardBody"/>
          <p:cNvSpPr/>
          <p:nvPr/>
        </p:nvSpPr>
        <p:spPr>
          <a:xfrm>
            <a:off x="4283066" y="2646879"/>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0 = không khác biệt</a:t>
            </a:r>
          </a:p>
          <a:p>
            <a:pPr marL="0" indent="0" algn="ctr">
              <a:lnSpc>
                <a:spcPct val="104000"/>
              </a:lnSpc>
              <a:spcBef>
                <a:spcPts val="400"/>
              </a:spcBef>
              <a:buNone/>
            </a:pPr>
            <a:r>
              <a:rPr lang="en-US" sz="1750" dirty="0">
                <a:solidFill>
                  <a:srgbClr val="000000"/>
                </a:solidFill>
                <a:latin typeface="Arial"/>
                <a:cs typeface="Arial"/>
              </a:rPr>
              <a:t>KTC chứa số 0</a:t>
            </a:r>
          </a:p>
          <a:p>
            <a:pPr marL="0" indent="0" algn="ctr">
              <a:lnSpc>
                <a:spcPct val="104000"/>
              </a:lnSpc>
              <a:spcBef>
                <a:spcPts val="400"/>
              </a:spcBef>
              <a:buNone/>
            </a:pPr>
            <a:r>
              <a:rPr lang="en-US" sz="1750" dirty="0">
                <a:solidFill>
                  <a:srgbClr val="000000"/>
                </a:solidFill>
                <a:latin typeface="Arial"/>
                <a:cs typeface="Arial"/>
              </a:rPr>
              <a:t>Nên 'không khác biệt' phù hợp với dữ liệu</a:t>
            </a:r>
          </a:p>
        </p:txBody>
      </p:sp>
      <p:sp>
        <p:nvSpPr>
          <p:cNvPr id="74" name="CardHead"/>
          <p:cNvSpPr/>
          <p:nvPr/>
        </p:nvSpPr>
        <p:spPr>
          <a:xfrm>
            <a:off x="8108932" y="200687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Rộng đến đâu?</a:t>
            </a:r>
          </a:p>
        </p:txBody>
      </p:sp>
      <p:sp>
        <p:nvSpPr>
          <p:cNvPr id="75" name="CardBody"/>
          <p:cNvSpPr/>
          <p:nvPr/>
        </p:nvSpPr>
        <p:spPr>
          <a:xfrm>
            <a:off x="8108932" y="2646879"/>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Từ 15 ml/kg theo một hướng đến 42 ml/kg theo hướng kia</a:t>
            </a:r>
          </a:p>
          <a:p>
            <a:pPr marL="0" indent="0" algn="ctr">
              <a:lnSpc>
                <a:spcPct val="104000"/>
              </a:lnSpc>
              <a:spcBef>
                <a:spcPts val="400"/>
              </a:spcBef>
              <a:buNone/>
            </a:pPr>
            <a:r>
              <a:rPr lang="en-US" sz="1750" dirty="0">
                <a:solidFill>
                  <a:srgbClr val="000000"/>
                </a:solidFill>
                <a:latin typeface="Arial"/>
                <a:cs typeface="Arial"/>
              </a:rPr>
              <a:t>Rất kém chính xác: chỉ 48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có ý nghĩa' với KTC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ví dụ xuyên suốt trong một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Bài báo 2 (Hyun 2023): cân bằng dịch tích lũy dương so với âm, các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Ngày 1: KTC cắt qua 1. Ngày 2 và 3: KTC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Log-rank, Cox và nguy cơ tỷ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thuật ngữ anh chị sẽ gặp trong mọi bài báo về sống còn. KM = Kaplan-Meier. HR = tỷ số nguy cơ tức thời.</a:t>
            </a:r>
          </a:p>
        </p:txBody>
      </p:sp>
      <p:sp>
        <p:nvSpPr>
          <p:cNvPr id="70" name="CardHead"/>
          <p:cNvSpPr/>
          <p:nvPr/>
        </p:nvSpPr>
        <p:spPr>
          <a:xfrm>
            <a:off x="457200" y="220902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Kiểm định log-rank</a:t>
            </a:r>
          </a:p>
        </p:txBody>
      </p:sp>
      <p:sp>
        <p:nvSpPr>
          <p:cNvPr id="71" name="CardBody"/>
          <p:cNvSpPr/>
          <p:nvPr/>
        </p:nvSpPr>
        <p:spPr>
          <a:xfrm>
            <a:off x="457200"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toàn bộ đường KM</a:t>
            </a:r>
          </a:p>
          <a:p>
            <a:pPr marL="0" indent="0" algn="ctr">
              <a:lnSpc>
                <a:spcPct val="104000"/>
              </a:lnSpc>
              <a:spcBef>
                <a:spcPts val="400"/>
              </a:spcBef>
              <a:buNone/>
            </a:pPr>
            <a:r>
              <a:rPr lang="en-US" sz="1750" dirty="0">
                <a:solidFill>
                  <a:srgbClr val="000000"/>
                </a:solidFill>
                <a:latin typeface="Arial"/>
                <a:cs typeface="Arial"/>
              </a:rPr>
              <a:t>Cho giá trị p</a:t>
            </a:r>
          </a:p>
          <a:p>
            <a:pPr marL="0" indent="0" algn="ctr">
              <a:lnSpc>
                <a:spcPct val="104000"/>
              </a:lnSpc>
              <a:spcBef>
                <a:spcPts val="400"/>
              </a:spcBef>
              <a:buNone/>
            </a:pPr>
            <a:r>
              <a:rPr lang="en-US" sz="1750" dirty="0">
                <a:solidFill>
                  <a:srgbClr val="000000"/>
                </a:solidFill>
                <a:latin typeface="Arial"/>
                <a:cs typeface="Arial"/>
              </a:rPr>
              <a:t>Không cho độ lớn, không hiệu chỉnh</a:t>
            </a:r>
          </a:p>
        </p:txBody>
      </p:sp>
      <p:sp>
        <p:nvSpPr>
          <p:cNvPr id="72" name="CardHead"/>
          <p:cNvSpPr/>
          <p:nvPr/>
        </p:nvSpPr>
        <p:spPr>
          <a:xfrm>
            <a:off x="4283066" y="220902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Hồi quy Cox</a:t>
            </a:r>
          </a:p>
        </p:txBody>
      </p:sp>
      <p:sp>
        <p:nvSpPr>
          <p:cNvPr id="73" name="CardBody"/>
          <p:cNvSpPr/>
          <p:nvPr/>
        </p:nvSpPr>
        <p:spPr>
          <a:xfrm>
            <a:off x="4283066"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 HR kèm KTC 95%</a:t>
            </a:r>
          </a:p>
          <a:p>
            <a:pPr marL="0" indent="0" algn="ctr">
              <a:lnSpc>
                <a:spcPct val="104000"/>
              </a:lnSpc>
              <a:spcBef>
                <a:spcPts val="400"/>
              </a:spcBef>
              <a:buNone/>
            </a:pPr>
            <a:r>
              <a:rPr lang="en-US" sz="1750" dirty="0">
                <a:solidFill>
                  <a:srgbClr val="000000"/>
                </a:solidFill>
                <a:latin typeface="Arial"/>
                <a:cs typeface="Arial"/>
              </a:rPr>
              <a:t>Không tác động = 1</a:t>
            </a:r>
          </a:p>
          <a:p>
            <a:pPr marL="0" indent="0" algn="ctr">
              <a:lnSpc>
                <a:spcPct val="104000"/>
              </a:lnSpc>
              <a:spcBef>
                <a:spcPts val="400"/>
              </a:spcBef>
              <a:buNone/>
            </a:pPr>
            <a:r>
              <a:rPr lang="en-US" sz="1750" dirty="0">
                <a:solidFill>
                  <a:srgbClr val="000000"/>
                </a:solidFill>
                <a:latin typeface="Arial"/>
                <a:cs typeface="Arial"/>
              </a:rPr>
              <a:t>Hiệu chỉnh được yếu tố gây nhiễu</a:t>
            </a:r>
          </a:p>
        </p:txBody>
      </p:sp>
      <p:sp>
        <p:nvSpPr>
          <p:cNvPr id="74" name="CardHead"/>
          <p:cNvSpPr/>
          <p:nvPr/>
        </p:nvSpPr>
        <p:spPr>
          <a:xfrm>
            <a:off x="8108932" y="220902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Nguy cơ tỷ lệ</a:t>
            </a:r>
          </a:p>
        </p:txBody>
      </p:sp>
      <p:sp>
        <p:nvSpPr>
          <p:cNvPr id="75" name="CardBody"/>
          <p:cNvSpPr/>
          <p:nvPr/>
        </p:nvSpPr>
        <p:spPr>
          <a:xfrm>
            <a:off x="8108932" y="2849021"/>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Giả định HR không đổi theo thời gian</a:t>
            </a:r>
          </a:p>
          <a:p>
            <a:pPr marL="0" indent="0" algn="ctr">
              <a:lnSpc>
                <a:spcPct val="104000"/>
              </a:lnSpc>
              <a:spcBef>
                <a:spcPts val="400"/>
              </a:spcBef>
              <a:buNone/>
            </a:pPr>
            <a:r>
              <a:rPr lang="en-US" sz="1750" dirty="0">
                <a:solidFill>
                  <a:srgbClr val="000000"/>
                </a:solidFill>
                <a:latin typeface="Arial"/>
                <a:cs typeface="Arial"/>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2 (Hyun 2023): HR từ mô hình Cox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Đường 'không tác động': 0 cho hiệu số, 1 cho tỷ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giá trị không tác động trước, rồi xem KTC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Mô hình dự báo tốt phân biệt được người bệnh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Học máy (ML)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Dự đoán nguy cơ từng người</a:t>
            </a:r>
          </a:p>
          <a:p>
            <a:pPr marL="0" indent="0" algn="ctr">
              <a:lnSpc>
                <a:spcPct val="104000"/>
              </a:lnSpc>
              <a:spcBef>
                <a:spcPts val="400"/>
              </a:spcBef>
              <a:buNone/>
            </a:pPr>
            <a:r>
              <a:rPr lang="en-US" sz="1600" dirty="0">
                <a:solidFill>
                  <a:srgbClr val="000000"/>
                </a:solidFill>
                <a:latin typeface="Arial"/>
                <a:cs typeface="Arial"/>
              </a:rPr>
              <a:t>Không để giải thích nguyên nhân</a:t>
            </a:r>
          </a:p>
          <a:p>
            <a:pPr marL="0" indent="0" algn="ctr">
              <a:lnSpc>
                <a:spcPct val="104000"/>
              </a:lnSpc>
              <a:spcBef>
                <a:spcPts val="400"/>
              </a:spcBef>
              <a:buNone/>
            </a:pPr>
            <a:r>
              <a:rPr lang="en-US" sz="1600" dirty="0">
                <a:solidFill>
                  <a:srgbClr val="000000"/>
                </a:solidFill>
                <a:latin typeface="Arial"/>
                <a:cs typeface="Arial"/>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Học máy cần rất nhiều biến cố</a:t>
            </a:r>
          </a:p>
          <a:p>
            <a:pPr marL="0" indent="0" algn="ctr">
              <a:lnSpc>
                <a:spcPct val="104000"/>
              </a:lnSpc>
              <a:spcBef>
                <a:spcPts val="400"/>
              </a:spcBef>
              <a:buNone/>
            </a:pPr>
            <a:r>
              <a:rPr lang="en-US" sz="1600" dirty="0">
                <a:solidFill>
                  <a:srgbClr val="000000"/>
                </a:solidFill>
                <a:latin typeface="Arial"/>
                <a:cs typeface="Arial"/>
              </a:rPr>
              <a:t>Nguy cơ quá khớp cao</a:t>
            </a:r>
          </a:p>
          <a:p>
            <a:pPr marL="0" indent="0" algn="ctr">
              <a:lnSpc>
                <a:spcPct val="104000"/>
              </a:lnSpc>
              <a:spcBef>
                <a:spcPts val="400"/>
              </a:spcBef>
              <a:buNone/>
            </a:pPr>
            <a:r>
              <a:rPr lang="en-US" sz="1600" dirty="0">
                <a:solidFill>
                  <a:srgbClr val="000000"/>
                </a:solidFill>
                <a:latin typeface="Arial"/>
                <a:cs typeface="Arial"/>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Phân biệt (AUC)</a:t>
            </a:r>
          </a:p>
          <a:p>
            <a:pPr marL="0" indent="0" algn="ctr">
              <a:lnSpc>
                <a:spcPct val="104000"/>
              </a:lnSpc>
              <a:spcBef>
                <a:spcPts val="400"/>
              </a:spcBef>
              <a:buNone/>
            </a:pPr>
            <a:r>
              <a:rPr lang="en-US" sz="1600" dirty="0">
                <a:solidFill>
                  <a:srgbClr val="000000"/>
                </a:solidFill>
                <a:latin typeface="Arial"/>
                <a:cs typeface="Arial"/>
              </a:rPr>
              <a:t>Biểu đồ hiệu chuẩn</a:t>
            </a:r>
          </a:p>
          <a:p>
            <a:pPr marL="0" indent="0" algn="ctr">
              <a:lnSpc>
                <a:spcPct val="104000"/>
              </a:lnSpc>
              <a:spcBef>
                <a:spcPts val="400"/>
              </a:spcBef>
              <a:buNone/>
            </a:pPr>
            <a:r>
              <a:rPr lang="en-US" sz="1600" dirty="0">
                <a:solidFill>
                  <a:srgbClr val="000000"/>
                </a:solidFill>
                <a:latin typeface="Arial"/>
                <a:cs typeface="Arial"/>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TRIPOD+AI</a:t>
            </a:r>
          </a:p>
          <a:p>
            <a:pPr marL="0" indent="0" algn="ctr">
              <a:lnSpc>
                <a:spcPct val="104000"/>
              </a:lnSpc>
              <a:spcBef>
                <a:spcPts val="400"/>
              </a:spcBef>
              <a:buNone/>
            </a:pPr>
            <a:r>
              <a:rPr lang="en-US" sz="1600" dirty="0">
                <a:solidFill>
                  <a:srgbClr val="000000"/>
                </a:solidFill>
                <a:latin typeface="Arial"/>
                <a:cs typeface="Arial"/>
              </a:rPr>
              <a:t>Mã, dữ liệu, công bằng</a:t>
            </a:r>
          </a:p>
          <a:p>
            <a:pPr marL="0" indent="0" algn="ctr">
              <a:lnSpc>
                <a:spcPct val="104000"/>
              </a:lnSpc>
              <a:spcBef>
                <a:spcPts val="400"/>
              </a:spcBef>
              <a:buNone/>
            </a:pPr>
            <a:r>
              <a:rPr lang="en-US" sz="1600" dirty="0">
                <a:solidFill>
                  <a:srgbClr val="000000"/>
                </a:solidFill>
                <a:latin typeface="Arial"/>
                <a:cs typeface="Arial"/>
              </a:rPr>
              <a:t>Tác động lên người bệnh?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Bổ sung: Phân tích các trường hợp đầy đủ và quy gán đa bội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gán đa bội giữ mọi người bệnh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điều người phản biện sẽ tìm.</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Báo cáo</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thiếu theo từng biến</a:t>
            </a:r>
          </a:p>
          <a:p>
            <a:pPr marL="0" indent="0" algn="ctr">
              <a:lnSpc>
                <a:spcPct val="104000"/>
              </a:lnSpc>
              <a:spcBef>
                <a:spcPts val="400"/>
              </a:spcBef>
              <a:buNone/>
            </a:pPr>
            <a:r>
              <a:rPr lang="en-US" sz="1600" dirty="0">
                <a:solidFill>
                  <a:srgbClr val="000000"/>
                </a:solidFill>
                <a:latin typeface="Arial"/>
                <a:cs typeface="Arial"/>
              </a:rPr>
              <a:t>Sơ đồ: ai và vì sao</a:t>
            </a:r>
          </a:p>
          <a:p>
            <a:pPr marL="0" indent="0" algn="ctr">
              <a:lnSpc>
                <a:spcPct val="104000"/>
              </a:lnSpc>
              <a:spcBef>
                <a:spcPts val="400"/>
              </a:spcBef>
              <a:buNone/>
            </a:pPr>
            <a:r>
              <a:rPr lang="en-US" sz="1600" dirty="0">
                <a:solidFill>
                  <a:srgbClr val="000000"/>
                </a:solidFill>
                <a:latin typeface="Arial"/>
                <a:cs typeface="Arial"/>
              </a:rPr>
              <a:t>Trong Bảng 1 hoặc chú thích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So sánh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Người bệnh có và không có dữ liệu đầy đủ</a:t>
            </a:r>
          </a:p>
          <a:p>
            <a:pPr marL="0" indent="0" algn="ctr">
              <a:lnSpc>
                <a:spcPct val="104000"/>
              </a:lnSpc>
              <a:spcBef>
                <a:spcPts val="400"/>
              </a:spcBef>
              <a:buNone/>
            </a:pPr>
            <a:r>
              <a:rPr lang="en-US" sz="1600" dirty="0">
                <a:solidFill>
                  <a:srgbClr val="000000"/>
                </a:solidFill>
                <a:latin typeface="Arial"/>
                <a:cs typeface="Arial"/>
              </a:rPr>
              <a:t>Họ có khác nhau không?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Độ nhạy (Cấp độ 3)</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Trường hợp đầy đủ so với quy gán đa bội</a:t>
            </a:r>
          </a:p>
          <a:p>
            <a:pPr marL="0" indent="0" algn="ctr">
              <a:lnSpc>
                <a:spcPct val="104000"/>
              </a:lnSpc>
              <a:spcBef>
                <a:spcPts val="400"/>
              </a:spcBef>
              <a:buNone/>
            </a:pPr>
            <a:r>
              <a:rPr lang="en-US" sz="1600" dirty="0">
                <a:solidFill>
                  <a:srgbClr val="000000"/>
                </a:solidFill>
                <a:latin typeface="Arial"/>
                <a:cs typeface="Arial"/>
              </a:rPr>
              <a:t>Script mẫu: 05_missing.R</a:t>
            </a:r>
          </a:p>
          <a:p>
            <a:pPr marL="0" indent="0" algn="ctr">
              <a:lnSpc>
                <a:spcPct val="104000"/>
              </a:lnSpc>
              <a:spcBef>
                <a:spcPts val="400"/>
              </a:spcBef>
              <a:buNone/>
            </a:pPr>
            <a:r>
              <a:rPr lang="en-US" sz="1600" dirty="0">
                <a:solidFill>
                  <a:srgbClr val="000000"/>
                </a:solidFill>
                <a:latin typeface="Arial"/>
                <a:cs typeface="Arial"/>
              </a:rPr>
              <a:t>Thực hành ở Cấp độ 3, Học phần H</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 hoạch</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Viết trong SAP trước khi thấy dữ liệu</a:t>
            </a:r>
          </a:p>
          <a:p>
            <a:pPr marL="0" indent="0" algn="ctr">
              <a:lnSpc>
                <a:spcPct val="104000"/>
              </a:lnSpc>
              <a:spcBef>
                <a:spcPts val="400"/>
              </a:spcBef>
              <a:buNone/>
            </a:pPr>
            <a:r>
              <a:rPr lang="en-US" sz="1600" dirty="0">
                <a:solidFill>
                  <a:srgbClr val="000000"/>
                </a:solidFill>
                <a:latin typeface="Arial"/>
                <a:cs typeface="Arial"/>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