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trở lại. Hôm qua (Buổi 5) chúng ta đã thu thập, làm sạch và mô tả dữ liệu. Hôm nay chúng ta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kiểm tra nhanh một phút.</a:t>
            </a:r>
          </a:p>
          <a:p>
            <a:r>
              <a:rPr lang="en-US" sz="1400" b="0" dirty="0"/>
              <a:t>Bộ dữ liệu khóa học FLUID-ICU quay lại hai lần: ở 6.2 (so sánh các nhóm) và 6.4 (mô hình, sống còn và dữ liệu thiếu). Mỗi nhóm diễn giải gói kết quả của mình; các diễn giải đó trở thành phần Kết quả của bản thảo ở Cuối tuần 4.</a:t>
            </a:r>
          </a:p>
          <a:p>
            <a:r>
              <a:rPr lang="en-US" sz="1400" b="0" dirty="0"/>
              <a:t>Thời lượng: ôn tập 0:00, 6.1 lúc 0:10, 6.2 lúc 0:50, giải lao 1:10, 6.3 lúc 1:25, 6.4 lúc 2:00, xây dựng đề cương 2:25, tổng kết 2:55.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đọc to từng câu; 2 phút một mình, 2 phút với người bên cạnh, rồi công bố đáp án.</a:t>
            </a:r>
          </a:p>
          <a:p>
            <a:r>
              <a:rPr lang="en-US" sz="1400" b="0" dirty="0"/>
              <a:t>C1: trung vị (IQR),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bệnh nhân FLU-529: giá trị được đặt là thiếu và gửi câu hỏi đến cơ sở. Nhật ký làm sạch ghi mã bệnh nhân, giá trị gốc, cách xử lý (ở đây: đặt là thiếu), lý do (đã đối chiếu hồ sơ gốc) và ai làm khi nào.</a:t>
            </a:r>
          </a:p>
          <a:p>
            <a:r>
              <a:rPr lang="en-US" sz="1400" b="0" dirty="0"/>
              <a:t>Đọc ba bốn câu trả lời cuối Buổi 5 trước khi bắt đầu 6.1.</a:t>
            </a:r>
          </a:p>
          <a:p>
            <a:r>
              <a:rPr lang="en-US" sz="1400" b="0" dirty="0"/>
              <a:t>Thời lượng: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mẫu và quần thể, khoảng tin cậy, giá trị p, kiểm tra nhanh, sai lầm và power, cỡ mẫu với trình diễn trực tiếp, chọn kiểm định, so sánh nhiều lần, kiểm tra nhanh lần hai).</a:t>
            </a:r>
          </a:p>
          <a:p>
            <a:r>
              <a:rPr lang="en-US" sz="1400" b="0" dirty="0"/>
              <a:t>Thông điệp chính: thống kê tồn tại vì chúng ta không thể nghiên cứu mọi bệnh nhân sốc nhiễm khuẩn trên thế giới. Ta nghiên cứu một mẫu và dùng thống kê để nói câu trả lời của mình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ta nghiên cứu một mẫu 40, 400 hay 620 bệnh nhân; ước lượng cách sự thật bao xa? Vũ điệu của các khoảng tin cậy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trong ngày. Hãy dành thời gian.</a:t>
            </a:r>
          </a:p>
          <a:p>
            <a:r>
              <a:rPr lang="en-US" sz="1400" b="0" dirty="0"/>
              <a:t>Chúng tôi mô phỏng cùng một nghiên cứu 20 lần, mỗi lần 25 bệnh nhân, từ một quần thể có cân bằng dịch trung bình thật là 30 ml/kg (đường đứt nét). Mỗi nghiên cứu cho một ước lượng khác nhau (chấm) và một khoảng tin cậy 95% khác nhau (đoạn thẳng đứng). Các khoảng 'nhảy múa'.</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khoảng tin cậy (CI) 95% là khoảng các giá trị của tác động thật phù hợp với dữ liệu của ta.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điều gì làm các khoảng ngắn lại? Dự kiến: nhiều bệnh nhân hơn, bệnh nhân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TA lên hình. Giá trị p là vùng màu cam: tỉ lệ các kết quả ít nhất cực đoan như kết quả của ta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ta nghi ngờ giả định 'không khác biệt'.</a:t>
            </a:r>
          </a:p>
          <a:p>
            <a:r>
              <a:rPr lang="en-US" sz="1400" b="0" dirty="0"/>
              <a:t>p = 0.42 (Bài báo 1)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Tránh nói 'giá trị p là xác suất kết quả do ngẫu nhiên'; xem trang tiếp theo.</a:t>
            </a:r>
          </a:p>
          <a:p>
            <a:r>
              <a:rPr lang="en-US" sz="1400" b="0" dirty="0"/>
              <a:t>Hỏi: p nhỏ có cho biết tác động lớn không? Dự kiến: không. Đó là hiểu sai số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Mời cả lớp biểu quyết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bệnh nhân, một khác biệt nhỏ không có ý nghĩa lâm sàng vẫn có p rất nhỏ. Hãy xem độ lớn tác động và hỏi liệu nó có quan trọng với bệnh nhân không.</a:t>
            </a:r>
          </a:p>
          <a:p>
            <a:r>
              <a:rPr lang="en-US" sz="1400" b="0" dirty="0"/>
              <a:t>3. 'p = 0.42, vậy hai chiến lược tương đương.' Sai: Bài báo 1 là ví dụ hoàn hảo. CI rộng cho thấy ta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làm đúng: HR 2.13 (95% CI 1.48-3.06), p &lt; 0.001.</a:t>
            </a:r>
          </a:p>
          <a:p>
            <a:r>
              <a:rPr lang="en-US" sz="1400" b="0" dirty="0"/>
              <a:t>Năm câu này có trong bài tập đúng/sai ở phiếu bài tập của học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Giơ tay hoặc thẻ màu (xanh đúng, đỏ sai) cho mỗi câu, rồi công bố.</a:t>
            </a:r>
          </a:p>
          <a:p>
            <a:r>
              <a:rPr lang="en-US" sz="1400" b="0" dirty="0"/>
              <a:t>1. Đúng: cách đọc thực tế của 95% CI (Bài báo 2, ngày 2).</a:t>
            </a:r>
          </a:p>
          <a:p>
            <a:r>
              <a:rPr lang="en-US" sz="1400" b="0" dirty="0"/>
              <a:t>2. Sai: không có bằng chứng không phải là bằng chứng của việc không có; CI của Bài báo 1 rất rộng (-15.2 đến 41.6).</a:t>
            </a:r>
          </a:p>
          <a:p>
            <a:r>
              <a:rPr lang="en-US" sz="1400" b="0" dirty="0"/>
              <a:t>3. Sai: p được tính khi giả định không có tác động; nó không phải xác suất không có tác động.</a:t>
            </a:r>
          </a:p>
          <a:p>
            <a:r>
              <a:rPr lang="en-US" sz="1400" b="0" dirty="0"/>
              <a:t>4. Đúng: nhiều bệnh nhân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Ta kết luận điều trị có hiệu quả trong khi thực tế không. Ta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Power (lực mẫu, năng lực thống kê)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bệnh nhân hơn.</a:t>
            </a:r>
          </a:p>
          <a:p>
            <a:r>
              <a:rPr lang="en-US" sz="1400" b="0" dirty="0"/>
              <a:t>Liên hệ lâm sàng: một thử nghiệm nhỏ 'âm tính' có thể chỉ là một đám cháy bị bỏ sót. Bài báo 1 là nghiên cứu pilot được thiết kế để phát hiện một khác biệt lớn; một khác biệt thật nhỏ hơn rất dễ bị bỏ sót.</a:t>
            </a:r>
          </a:p>
          <a:p>
            <a:r>
              <a:rPr lang="en-US" sz="1400" b="0" dirty="0"/>
              <a:t>Hỏi: sai lầm nào tệ hơn khi thử một thuốc mới, đắt và nhiều rủi ro? Còn với một can thiệp rẻ và an toàn? Không có một đáp án duy nhất; để cả lớp tranh luận một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bệnh nhân hơn khi (1) mức khác biệt muốn phát hiện lớn hơn và (2) bệnh nhân ít khác biệt nhau hơn (ít nhiễu, SD nhỏ hơn). Alpha và power thường cố định ở 5% và 80-90%.</a:t>
            </a:r>
          </a:p>
          <a:p>
            <a:r>
              <a:rPr lang="en-US" sz="1400" b="0" dirty="0"/>
              <a:t>Đọc các đường cong: với khác biệt 30 ml/kg và SD 35, cần 22 bệnh nhân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power 80%, alpha 5% hai phía: 22 mỗi nhóm, tổng 44, tăng thêm 10% cho tử vong thành 50 bệnh nhân.</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bệnh nhân năm ngoái' mà không tính toán; người phản biện sẽ hỏi về power.</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Nếu thiếu thời gian, chỉ làm Bước 2 và 3. Kịch bản đầy đủ với kết quả dự kiến trong Course/Demos/s6_demo.md.</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power 80%, tỉ lệ 1:1. Kết quả dự kiến: 22 mỗi nhóm (tổng 44). Cộng 10% cho tử vong: 50. Khớp với bài báo.</a:t>
            </a:r>
          </a:p>
          <a:p>
            <a:r>
              <a:rPr lang="en-US" sz="1400" b="0" dirty="0"/>
              <a:t>Bước 3: hai tỉ lệ (câu hỏi thật của ta: tử vong 28 ngày). Thường quy 40%, hạn chế dịch 30%, power 80%, alpha 5%. Kết quả dự kiến: khoảng 356 mỗi nhóm khi không hiệu chỉnh liên tục (khoảng 376 khi có hiệu chỉnh). Các phương pháp khác nhau cho con số hơi khác nhau; điều đó bình thường.</a:t>
            </a:r>
          </a:p>
          <a:p>
            <a:r>
              <a:rPr lang="en-US" sz="1400" b="0" dirty="0"/>
              <a:t>Bước 4: thay đổi từng đầu vào: power 90% (n tăng lên khoảng 477 mỗi nhóm); khác biệt 40% so với 35% (n tăng lên hơn 1400 mỗi nhóm). Mời cả lớp đoán hướng thay đổi trước khi bấm.</a:t>
            </a:r>
          </a:p>
          <a:p>
            <a:r>
              <a:rPr lang="en-US" sz="1400" b="0" dirty="0"/>
              <a:t>Bước 5: nếu mất mạng, mở Course/Resources/tools/sample_size_calculator.xlsx và trình bày ba ví dụ tương tự; các ô màu vàng là ô nhập.</a:t>
            </a:r>
          </a:p>
          <a:p>
            <a:r>
              <a:rPr lang="en-US" sz="1400" b="0" dirty="0"/>
              <a:t>Thông điệp chính: Bài báo 1 cần 50 bệnh nhân cho kết cục cân bằng dịch, nhưng một thử nghiệm về tử vong cần hàng trăm bệnh nhân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khi bình phương (chi-square). Tần số nhỏ? Dùng kiểm định chính xác Fisher.</a:t>
            </a:r>
          </a:p>
          <a:p>
            <a:r>
              <a:rPr lang="en-US" sz="1400" b="0" dirty="0"/>
              <a:t>Dữ liệu ghép cặp (cùng bệnh nhân đo trước và sau, hoặc các cặp được ghép): dùng phiên bản ghép cặp: t ghép cặp, Wilcoxon cho cặp (signed-rank),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Sơ đồ này là một trong những công cụ mang về của khóa học, đồng thời là cơ sở cho bài tập 'chọn kiểm định'.</a:t>
            </a:r>
          </a:p>
          <a:p>
            <a:r>
              <a:rPr lang="en-US" sz="1400" b="0" dirty="0"/>
              <a:t>Hỏi: so sánh tỉ lệ tổn thương thận cấp ở 24 so với 24 bệnh nhân, chỉ có 3 và 7 biến cố? Dự kiến: Fisher chính xác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sơ đồ chọn kiểm định hỏi 'ghép cặp hay không?'. Hình này cho thấy vì sao điều đó quan trọng.</a:t>
            </a:r>
          </a:p>
          <a:p>
            <a:r>
              <a:rPr lang="en-US" sz="1400" b="0" dirty="0"/>
              <a:t>Lactat mô phỏng ở 20 bệnh nhân lúc vào ICU và 6 giờ sau. Bên trái: vẽ như hai đám mây riêng, giá trị trước và sau chồng lấp nhiều; bệnh nhân khác nhau rất nhiều, và sự khác biệt đó che lấp sự thay đổi.</a:t>
            </a:r>
          </a:p>
          <a:p>
            <a:r>
              <a:rPr lang="en-US" sz="1400" b="0" dirty="0"/>
              <a:t>Bên phải: cùng các con số, nhưng hai giá trị của mỗi bệnh nhân được nối lại. Mọi đường đều đi xuống. Mỗi bệnh nhân tự làm chứng cho chính mình, nên nhiễu giữa các bệnh nhân biến mất. Kiểm định ghép cặp (t ghép cặp, hoặc Wilcoxon cho cặp nếu dữ liệu lệch) dùng đúng điều này và có power cao hơn nhiều.</a:t>
            </a:r>
          </a:p>
          <a:p>
            <a:r>
              <a:rPr lang="en-US" sz="1400" b="0" dirty="0"/>
              <a:t>Thiết kế ghép cặp: trước/sau trên cùng bệnh nhân, thử nghiệm bắt chéo, các cặp được ghép (Bài báo 2 ghép bệnh nhân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anh chị đo điểm đau ở 30 bệnh nhân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Với mỗi tình huống, cả lớp nói tên kiểm định theo sơ đồ quyết định (số đo hay phân loại? hình dạng hay tần số? ghép cặp?).</a:t>
            </a:r>
          </a:p>
          <a:p>
            <a:r>
              <a:rPr lang="en-US" sz="1400" b="0" dirty="0"/>
              <a:t>1. Mann-Whitney U: số đo, lệch, hai nhóm độc lập (đây chính là câu hỏi thời gian nằm ICU của FLUID-ICU).</a:t>
            </a:r>
          </a:p>
          <a:p>
            <a:r>
              <a:rPr lang="en-US" sz="1400" b="0" dirty="0"/>
              <a:t>2. Khi bình phương: kết cục nhị phân, hai nhóm độc lập lớn.</a:t>
            </a:r>
          </a:p>
          <a:p>
            <a:r>
              <a:rPr lang="en-US" sz="1400" b="0" dirty="0"/>
              <a:t>3. t ghép cặp (hoặc Wilcoxon cho cặp nếu thay đổi bị lệch): cùng bệnh nhân đo hai lần.</a:t>
            </a:r>
          </a:p>
          <a:p>
            <a:r>
              <a:rPr lang="en-US" sz="1400" b="0" dirty="0"/>
              <a:t>4. Fisher chính xác: kết cục nhị phân, tần số rất nhỏ.</a:t>
            </a:r>
          </a:p>
          <a:p>
            <a:r>
              <a:rPr lang="en-US" sz="1400" b="0" dirty="0"/>
              <a:t>Chuyển ý: giờ chúng ta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trình diễn trực tiếp các kiểm định 6 phút, bảng kết quả, một ví dụ minh họa, rồi 7 phút để các nhóm diễn giải phép so sánh của mình).</a:t>
            </a:r>
          </a:p>
          <a:p>
            <a:r>
              <a:rPr lang="en-US" sz="1400" b="0" dirty="0"/>
              <a:t>Thông điệp chính: sơ đồ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Course/Demos/s6_demo.md (Phần B), dùng Course/Data/R/03_compare.R.</a:t>
            </a:r>
          </a:p>
          <a:p>
            <a:r>
              <a:rPr lang="en-US" sz="1400" b="0" dirty="0"/>
              <a:t>Với mỗi phép so sánh, mời cả lớp nói tên kiểm định TRƯỚC khi chạy (sơ đồ quyết định).</a:t>
            </a:r>
          </a:p>
          <a:p>
            <a:r>
              <a:rPr lang="en-US" sz="1400" b="0" dirty="0"/>
              <a:t>Cho thấy: tuổi với kiểm định t; SOFA và lactat với Mann-Whitney (chú ý 91 bệnh nhân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134/373 (35.9%) so với 45/245 (18.4%); hiệu số nguy cơ 17.6 điểm phần trăm (95% CI 10.7 đến 24.4); RR 1.96; khi bình phương p &lt; 0.001.</a:t>
            </a:r>
          </a:p>
          <a:p>
            <a:r>
              <a:rPr lang="en-US" sz="1400" b="0" dirty="0"/>
              <a:t>AKI (nhị phân): 230/373 (61.7%) so với 71/245 (29.0%); khi bình phương p &lt; 0.001.</a:t>
            </a:r>
          </a:p>
          <a:p>
            <a:r>
              <a:rPr lang="en-US" sz="1400" b="0" dirty="0"/>
              <a:t>Số ngày không thở máy (biến đếm 0-28, dồn ở 0 và 28): trung vị 20 (0 đến 28) so với 28 (22 đến 28); Mann-Whitney p &lt; 0.001.</a:t>
            </a:r>
          </a:p>
          <a:p>
            <a:r>
              <a:rPr lang="en-US" sz="1400" b="0" dirty="0"/>
              <a:t>Thời gian nằm ICU ở người sống (lệch): trung vị 7.5 (5.2 đến 11.2) so với 4.8 (3.3 đến 7.1) ngày; Mann-Whitney p &lt; 0.001; chênh lệch Hodges-Lehmann 2.5 ngày (95% CI 1.8 đến 3.2).</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con số nào anh chị đưa vào tóm tắt cho tử vong: p &lt; 0.001, hay hiệu số nguy cơ kèm CI? Dự kiến: hiệu số nguy cơ kèm CI (và sau đó là OR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bệnh nhân cân bằng dương tử vong (35.9%); 45 trong 245 bệnh nhân cân bằng âm (18.4%).</a:t>
            </a:r>
          </a:p>
          <a:p>
            <a:r>
              <a:rPr lang="en-US" sz="1400" b="0" dirty="0"/>
              <a:t>Hiệu số nguy cơ: 35.9 - 18.4 = 17.6 điểm phần trăm (làm tròn), 95% CI 10.7 đến 24.4: cách xa 0.</a:t>
            </a:r>
          </a:p>
          <a:p>
            <a:r>
              <a:rPr lang="en-US" sz="1400" b="0" dirty="0"/>
              <a:t>Tỉ số nguy cơ: 35.9 / 18.4 = 1.96: nguy cơ khoảng gấp đôi.</a:t>
            </a:r>
          </a:p>
          <a:p>
            <a:r>
              <a:rPr lang="en-US" sz="1400" b="0" dirty="0"/>
              <a:t>Kiểm định: khi bình phương p &lt; 0.001: khác biệt như vậy sẽ rất đáng ngạc nhiên nếu không có khác biệt.</a:t>
            </a:r>
          </a:p>
          <a:p>
            <a:r>
              <a:rPr lang="en-US" sz="1400" b="0" dirty="0"/>
              <a:t>Nhưng: đây là đoàn hệ; bệnh nhân cân bằng dương nặng hơn (SOFA 8 so với 6). So sánh thô không tách được dịch truyền khỏi mức độ nặng.</a:t>
            </a:r>
          </a:p>
          <a:p>
            <a:r>
              <a:rPr lang="en-US" sz="1400" b="0" dirty="0"/>
              <a:t>Câu mẫu: 'Tử vong 28 ngày là 35.9% ở bệnh nhân cân bằng dương và 18.4% ở bệnh nhân cân bằng âm (hiệu số nguy cơ 17.6 điểm phần trăm, 95% CI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4; đáp án mẫu trong s6_solutions.md.</a:t>
            </a:r>
          </a:p>
          <a:p>
            <a:r>
              <a:rPr lang="en-US" sz="1400" b="1" dirty="0"/>
              <a:t>Câu mẫu theo câu hỏi:</a:t>
            </a:r>
          </a:p>
          <a:p>
            <a:r>
              <a:rPr lang="en-US" sz="1400" b="0" dirty="0"/>
              <a:t>Q1: tử vong 35.9% so với 18.4% (hiệu số nguy cơ 17.6 điểm, 95% CI 10.7 đến 24.4).</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(95% CI 1.8 đến 3.2).</a:t>
            </a:r>
          </a:p>
          <a:p>
            <a:r>
              <a:rPr lang="en-US" sz="1400" b="0" dirty="0"/>
              <a:t>Lý do sai lệch (mọi nhóm): nhiễu do chỉ định; nhóm cân bằng dương nặng hơn.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mở 04_models.R và 05_missing.R trên máy chiếu và kiểm tra các hình dự phòng cho phần 6.4.</a:t>
            </a:r>
          </a:p>
          <a:p>
            <a:r>
              <a:rPr lang="en-US" sz="1400" b="0" dirty="0"/>
              <a:t>Thu các câu hỏi các nhóm ghi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tương quan, hồi quy tuyến tính và logistic, chọn mô hình, hiệu chỉnh, đọc bảng hồi quy với kiểm tra 5 phút, quá khớp, phân tích sống còn và biểu đồ rừng của ví dụ xuyên suốt;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ta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bệnh nhân, một r rất nhỏ như 0.1 vẫn có thể 'có ý nghĩa' mà vô dụng.</a:t>
            </a:r>
          </a:p>
          <a:p>
            <a:r>
              <a:rPr lang="en-US" sz="1400" b="0" dirty="0"/>
              <a:t>Hỏi: khung nào giống tuổi so với huyết áp tâm thu ở người lớn? Dự kiến: dương,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tỉ số P/F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95% CI; giá trị không tác động là 0.</a:t>
            </a:r>
          </a:p>
          <a:p>
            <a:r>
              <a:rPr lang="en-US" sz="1400" b="0" dirty="0"/>
              <a:t>R²: tỉ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tỉ số P/F âm).</a:t>
            </a:r>
          </a:p>
          <a:p>
            <a:r>
              <a:rPr lang="en-US" sz="1400" b="0" dirty="0"/>
              <a:t>Hỏi: trong bảng, B = -15 (95% CI -19 đến -11). Nghĩa là gì? Dự kiến: mỗi lít tăng thêm liên quan với tỉ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bệnh nhân mô phỏng, ở trên nếu tử vong và ở dưới nếu sống. Đường xanh: xác suất tử vong ở mỗi mức lactat: khoảng 9% ở 2 mmol/L, 29% ở 6, 62% ở 10.</a:t>
            </a:r>
          </a:p>
          <a:p>
            <a:r>
              <a:rPr lang="en-US" sz="1400" b="0" dirty="0"/>
              <a:t>Mô hình báo cáo tỉ số chênh: ở đây mỗi 1 mmol/L tăng thêm nhân ODDS tử vong lên 1.42 lần. OR không đổi dọc theo đường cong; còn thay đổi xác suất thì thay đổi (nhỏ ở hai đầu, lớn ở giữa).</a:t>
            </a:r>
          </a:p>
          <a:p>
            <a:r>
              <a:rPr lang="en-US" sz="1400" b="0" dirty="0"/>
              <a:t>Đây chính là OR anh chị đọc trong bảng hồi quy logistic, kèm 95% CI; giá trị không tác động là 1. OR hiệu chỉnh đến từ mô hình có nhiều biến.</a:t>
            </a:r>
          </a:p>
          <a:p>
            <a:r>
              <a:rPr lang="en-US" sz="1400" b="0" dirty="0"/>
              <a:t>Lỗi thường gặp: 'OR 1.42 nghĩa là tử vong nhiều hơn 42%'. Đó là odds cao hơn 42% mỗi đơn vị; thay đổi nguy cơ phụ thuộc vị trí trên đường cong.</a:t>
            </a:r>
          </a:p>
          <a:p>
            <a:r>
              <a:rPr lang="en-US" sz="1400" b="0" dirty="0"/>
              <a:t>Hỏi: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tỉ số chênh (OR). Không tác động = 1.</a:t>
            </a:r>
          </a:p>
          <a:p>
            <a:r>
              <a:rPr lang="en-US" sz="1400" b="0" dirty="0"/>
              <a:t>Thời gian đến sự kiện (thời gian đến tử vong, bệnh nhân còn sống ở ngày 28 được kiểm duyệt): hồi quy Cox. Báo cáo tỉ số nguy cơ tức thời (hazard ratio, HR). Không tác động = 1. Bài báo 2 dùng hồi quy Cox.</a:t>
            </a:r>
          </a:p>
          <a:p>
            <a:r>
              <a:rPr lang="en-US" sz="1400" b="0" dirty="0"/>
              <a:t>Vì sao 0 và 1? Hiệu số bằng 0 nghĩa là không khác biệt; tỉ số bằng 1 nghĩa là hai nhóm như nhau (2 chia 2 bằng 1).</a:t>
            </a:r>
          </a:p>
          <a:p>
            <a:r>
              <a:rPr lang="en-US" sz="1400" b="0" dirty="0"/>
              <a:t>Lỗi thường gặp: tìm xem 'CI có cắt qua 0 không' trong bảng OR. Với tỉ số, đó là 1.</a:t>
            </a:r>
          </a:p>
          <a:p>
            <a:r>
              <a:rPr lang="en-US" sz="1400" b="0" dirty="0"/>
              <a:t>Hỏi: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bệnh nhân giống nhau về yếu tố đó.</a:t>
            </a:r>
          </a:p>
          <a:p>
            <a:r>
              <a:rPr lang="en-US" sz="1400" b="0" dirty="0"/>
              <a:t>Bên trái (thô): bệnh nhân được truyền nhiều dịch tử vong nhiều hơn (33% so với 18%). Có vẻ như dịch truyền có hại.</a:t>
            </a:r>
          </a:p>
          <a:p>
            <a:r>
              <a:rPr lang="en-US" sz="1400" b="0" dirty="0"/>
              <a:t>Bên phải (phân tầng theo mức độ nặng): ở bệnh nhân nhẹ hơn, 10% tử vong dù nhiều hay ít dịch. Ở bệnh nhân nặng hơn, 40% tử vong trong cả hai trường hợp. Trong từng mức độ nặng KHÔNG có khác biệt.</a:t>
            </a:r>
          </a:p>
          <a:p>
            <a:r>
              <a:rPr lang="en-US" sz="1400" b="0" dirty="0"/>
              <a:t>Chuyện gì đã xảy ra? Bệnh nhân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Bệnh nhân có cân bằng dịch dương có odds tử vong gấp 1.8 lần, sau khi hiệu chỉnh các biến khác trong bảng.</a:t>
            </a:r>
          </a:p>
          <a:p>
            <a:r>
              <a:rPr lang="en-US" sz="1400" b="0" dirty="0"/>
              <a:t>3. 95% CI: 1.20 đến 2.70. Các giá trị hợp lý từ tăng 20% đến tăng 170% odds.</a:t>
            </a:r>
          </a:p>
          <a:p>
            <a:r>
              <a:rPr lang="en-US" sz="1400" b="0" dirty="0"/>
              <a:t>4. Giá trị không tác động: CI có chứa 1 không? Không, nên p &lt; 0.05 (p = 0.004). Với giới nữ (0.65-1.30) và lactat (0.98-1.24), CI chứa 1, tô màu đỏ: phù hợp với không có liên quan.</a:t>
            </a:r>
          </a:p>
          <a:p>
            <a:r>
              <a:rPr lang="en-US" sz="1400" b="0" dirty="0"/>
              <a:t>Các dòng tính theo đơn vị: OR 1.15 mỗi điểm SOFA nghĩa là mỗi điểm thêm nhân odds lên 1.15 lần; thêm 5 điểm nhân odds lên khoảng 2 lần (1.15 mũ 5).</a:t>
            </a:r>
          </a:p>
          <a:p>
            <a:r>
              <a:rPr lang="en-US" sz="1400" b="0" dirty="0"/>
              <a:t>Bảng này là số liệu giả định, được xây dựng để giá trị p khớp với CI.</a:t>
            </a:r>
          </a:p>
          <a:p>
            <a:r>
              <a:rPr lang="en-US" sz="1400" b="0" dirty="0"/>
              <a:t>Cách diễn đạt: 'có liên quan với', không phải 'gây ra'. Đây là phân tích quan sát.</a:t>
            </a:r>
          </a:p>
          <a:p>
            <a:r>
              <a:rPr lang="en-US" sz="1400" b="0" dirty="0"/>
              <a:t>Lỗi thường gặp: hiểu OR 1.8 là 'tử vong nhiều hơn 80%'. Đó là ODDS cao hơn 80%; khi kết cục thường gặp (như tử vong ở ICU), tỉ số nguy cơ (RR) nhỏ hơn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theo cặp (5 phút: 3 phút theo cặp, 2 phút phản hồi). Bảng và đáp án trong Course/Practicals/s6_exercises.md và Course/Solutions/s6_solutions.md (bài 5).</a:t>
            </a:r>
          </a:p>
          <a:p>
            <a:r>
              <a:rPr lang="en-US" sz="1400" b="0" dirty="0"/>
              <a:t>Điều cần lắng nghe: nhóm tham chiếu đúng ('so với không'), dùng từ 'odds' thay vì 'nguy cơ', 'có liên quan với' thay vì 'gây ra', và đọc đúng các CI có chứa 1.</a:t>
            </a:r>
          </a:p>
          <a:p>
            <a:r>
              <a:rPr lang="en-US" sz="1400" b="0" dirty="0"/>
              <a:t>Câu mẫu cho phơi nhiễm chính: 'Sau khi hiệu chỉnh tuổi, giới và mức độ nặng, bệnh nhân dùng benzodiazepine có odds bị sảng cao khoảng gấp đôi (OR 2.1, 95% CI 1.4 đến 3.2).'</a:t>
            </a:r>
          </a:p>
          <a:p>
            <a:r>
              <a:rPr lang="en-US" sz="1400" b="0" dirty="0"/>
              <a:t>Câu hỏi về kết luận của tác giả và bài đọc đường Kaplan-Meier (bài 6) có thể làm ở nhà.</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TA, không phải sự thật. Nó khớp hoàn hảo với bệnh nhân của ta và thất bại với những bệnh nhân tiếp theo.</a:t>
            </a:r>
          </a:p>
          <a:p>
            <a:r>
              <a:rPr lang="en-US" sz="1400" b="0" dirty="0"/>
              <a:t>Hình: đường đỏ đi qua cả 10 điểm đặc (dữ liệu của ta) nhưng bỏ lỡ các điểm rỗng (bệnh nhân mới); đường thẳng xanh đơn giản dự đoán tốt hơn cho bệnh nhân mới.</a:t>
            </a:r>
          </a:p>
          <a:p>
            <a:r>
              <a:rPr lang="en-US" sz="1400" b="0" dirty="0"/>
              <a:t>Quy tắc ước lượng: khoảng 10 biến cố (ca tử vong, không phải số bệnh nhân)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nhiều lần, giữ lại các phát hiện ngẫu nhiên, ước lượng quá cao tác động của các biến còn lại, cho CI quá hẹp, và các mẫu khác nhau chọn ra các biến khác nhau.</a:t>
            </a:r>
          </a:p>
          <a:p>
            <a:r>
              <a:rPr lang="en-US" sz="1400" b="0" dirty="0"/>
              <a:t>Tốt hơn: chọn yếu tố gây nhiễu từ trước dựa trên kiến thức lâm sàng và y văn (sơ đồ nhân quả giúp ích), ghi vào SAP (6.4), và giữ trong giới hạn số biến cố mỗi biến.</a:t>
            </a:r>
          </a:p>
          <a:p>
            <a:r>
              <a:rPr lang="en-US" sz="1400" b="0" dirty="0"/>
              <a:t>Hỏi: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lúc ta theo dõi.</a:t>
            </a:r>
          </a:p>
          <a:p>
            <a:r>
              <a:rPr lang="en-US" sz="1400" b="0" dirty="0"/>
              <a:t>Mỗi đường là một bệnh nhân được theo dõi từ khi vào ICU. Dấu X đỏ là biến cố (tử vong). Vòng tròn là bệnh nhân bị kiểm duyệt (censored): ta ngừng theo dõi trước khi có biến cố, vì mất theo dõi (chuyển viện, không liên lạc được) hoặc vì nghiên cứu kết thúc ở ngày 28.</a:t>
            </a:r>
          </a:p>
          <a:p>
            <a:r>
              <a:rPr lang="en-US" sz="1400" b="0" dirty="0"/>
              <a:t>Kiểm duyệt KHÔNG có nghĩa là bị loại. Bệnh nhân 3 cho ta biết họ còn sống trong 12 ngày, và phương pháp sống còn sử dụng thông tin đó. Loại họ ra, hay tính họ là sống đủ 28 ngày, đều làm sai lệch kết quả.</a:t>
            </a:r>
          </a:p>
          <a:p>
            <a:r>
              <a:rPr lang="en-US" sz="1400" b="0" dirty="0"/>
              <a:t>Vì sao không chỉ so sánh tỉ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một bệnh nhân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tỉ lệ còn sống theo thời gian ở mỗi nhóm, có xử lý đúng các bệnh nhân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bệnh nhân bị kiểm duyệt.</a:t>
            </a:r>
          </a:p>
          <a:p>
            <a:r>
              <a:rPr lang="en-US" sz="1400" b="0" dirty="0"/>
              <a:t>3. Khoảng cách theo chiều dọc giữa hai đường là khác biệt về sống còn tại thời điểm đó; ở đây khoảng 70% so với 59% còn sống ở ngày 28 (đoàn hệ mô phỏng, 150 mỗi nhóm, tương tự câu hỏi của Bài báo 2).</a:t>
            </a:r>
          </a:p>
          <a:p>
            <a:r>
              <a:rPr lang="en-US" sz="1400" b="0" dirty="0"/>
              <a:t>4. Số còn theo dõi (number at risk) dưới hình cho biết còn bao nhiêu bệnh nhân đang được theo dõi. Khi con số này giảm, phần cuối bên phải của đường cong dựa trên ít bệnh nhân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(trang sau).</a:t>
            </a:r>
          </a:p>
          <a:p>
            <a:r>
              <a:rPr lang="en-US" sz="1400" b="0" dirty="0"/>
              <a:t>Bài báo 2 có đúng loại hình này (ước lượng Kaplan-Meier sống còn đến ngày 28 trong các đoàn hệ ghép cặp).</a:t>
            </a:r>
          </a:p>
          <a:p>
            <a:r>
              <a:rPr lang="en-US" sz="1400" b="0" dirty="0"/>
              <a:t>Hỏi: nếu hai đường cong cắt nhau ở giữa, điều đó gợi ý gì? Dự kiến: tác động thay đổi theo thời gian; giả định nguy cơ tỉ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SAP, OR thô và hiệu chỉnh, mô hình hiệu chỉnh, Kaplan-Meier và Cox, lactat bị thiếu, ca đầy đủ so với đa phép gán, rồi phiếu bài tập nhóm 7 phút).</a:t>
            </a:r>
          </a:p>
          <a:p>
            <a:r>
              <a:rPr lang="en-US" sz="1400" b="0" dirty="0"/>
              <a:t>Thông điệp chính: đây là phần 6.3 (mô hình) áp dụng cho FLUID-ICU, và là thành quả của cả cuối tuần: anh chị sẽ THẤY nhiễu do chỉ định làm một tỉ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ở phần 6.3 / Buổi 6 có thật cho FLUID-ICU. Mở Course/Data/SAP_FLUID-ICU.md trên màn hình.</a:t>
            </a:r>
          </a:p>
          <a:p>
            <a:r>
              <a:rPr lang="en-US" sz="1400" b="0" dirty="0"/>
              <a:t>Phân tích chính: tử vong 28 ngày bằng hồi quy logistic đa biến; số đo tác động: tỉ số chênh kèm 95% CI; cũng báo cáo OR thô và hiệu số nguy cơ.</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(AKI,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tỉ lệ.</a:t>
            </a:r>
          </a:p>
          <a:p>
            <a:r>
              <a:rPr lang="en-US" sz="1400" b="0" dirty="0"/>
              <a:t>Một yếu tố thay đổi tác động định trước: suy tim (trang bổ sung cho thấy kết quả).</a:t>
            </a:r>
          </a:p>
          <a:p>
            <a:r>
              <a:rPr lang="en-US" sz="1400" b="0" dirty="0"/>
              <a:t>Dữ liệu thiếu: được đánh giá và xử lý bằng ca đầy đủ cùng đa phép gán (m = 20) làm phân tích độ nhạy.</a:t>
            </a:r>
          </a:p>
          <a:p>
            <a:r>
              <a:rPr lang="en-US" sz="1400" b="0" dirty="0"/>
              <a:t>Hỏi: vì sao viết trước bảo vệ tác giả? Dự kiến: không ai có thể cáo buộc họ chọn cách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Dành 4 phút.</a:t>
            </a:r>
          </a:p>
          <a:p>
            <a:r>
              <a:rPr lang="en-US" sz="1400" b="0" dirty="0"/>
              <a:t>OR thô, cả 618 bệnh nhân: 2.49 (95% CI 1.70 đến 3.70): cân bằng dương có vẻ liên quan mạnh với tử vong.</a:t>
            </a:r>
          </a:p>
          <a:p>
            <a:r>
              <a:rPr lang="en-US" sz="1400" b="0" dirty="0"/>
              <a:t>OR thô ở 527 ca đầy đủ: 2.22 (1.48 đến 3.39): cùng bệnh nhân với mô hình hiệu chỉnh, nên so sánh công bằng.</a:t>
            </a:r>
          </a:p>
          <a:p>
            <a:r>
              <a:rPr lang="en-US" sz="1400" b="0" dirty="0"/>
              <a:t>OR hiệu chỉnh (tuổi, SOFA, lactat, vận mạch, thở máy, CKD), n = 527: 1.62 (95% CI 1.02 đến 2.59), p = 0.044.</a:t>
            </a:r>
          </a:p>
          <a:p>
            <a:r>
              <a:rPr lang="en-US" sz="1400" b="0" dirty="0"/>
              <a:t>Vì sao giảm: bệnh nhân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CI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Chúng có trong mô hình để hiệu chỉnh; chúng không phải câu hỏi. Đừng diễn giải quá mức (lỗi 'ngụy biện Bảng 2').</a:t>
            </a:r>
          </a:p>
          <a:p>
            <a:r>
              <a:rPr lang="en-US" sz="1400" b="0" dirty="0"/>
              <a:t>Chú ý đơn vị: mỗi năm, mỗi điểm, mỗi mmol/L: OR nhỏ cho mỗi đơn vị có thể là tác động lớn qua nhiều đơn vị.</a:t>
            </a:r>
          </a:p>
          <a:p>
            <a:r>
              <a:rPr lang="en-US" sz="1400" b="0" dirty="0"/>
              <a:t>Hỏi: dòng nào đưa vào phần tóm tắt? Dự kiến: chỉ dòng phơi nhiễm (cân bằng dương), kèm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bệnh nhân tử vong.</a:t>
            </a:r>
          </a:p>
          <a:p>
            <a:r>
              <a:rPr lang="en-US" sz="1400" b="0" dirty="0"/>
              <a:t>Kiểm định log-rank: p &lt; 0.001 (khi bình phương 21.4): hai đường cong khác nhau. Nhưng log-rank chưa hiệu chỉnh: cùng nhiễu như OR thô.</a:t>
            </a:r>
          </a:p>
          <a:p>
            <a:r>
              <a:rPr lang="en-US" sz="1400" b="0" dirty="0"/>
              <a:t>Hỏi: khác biệt lớn hơn ở giai đoạn sớm hay muộn? Dự kiến: mở ra trong những ngày đầu rồi hai đường chạy gần song song, điều này hỗ trợ giả định nguy cơ tỉ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tỉ số nguy cơ tức thời, hiệu chỉnh theo cùng các yếu tố gây nhiễu.</a:t>
            </a:r>
          </a:p>
          <a:p>
            <a:r>
              <a:rPr lang="en-US" sz="1400" b="0" dirty="0"/>
              <a:t>HR thô 2.17 (95% CI 1.55 đến 3.05) giảm còn HR hiệu chỉnh 1.46 (95% CI 1.00 đến 2.13), p = 0.053: cùng nhiễu như với OR.</a:t>
            </a:r>
          </a:p>
          <a:p>
            <a:r>
              <a:rPr lang="en-US" sz="1400" b="0" dirty="0"/>
              <a:t>Đã kiểm tra nguy cơ tỉ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lỗi hiểu sai giá trị p, 6.1).</a:t>
            </a:r>
          </a:p>
          <a:p>
            <a:r>
              <a:rPr lang="en-US" sz="1400" b="0" dirty="0"/>
              <a:t>Hỏi: anh chị viết điều này thế nào trong phần Kết quả? Dự kiến: báo cáo cả hai ước lượng kèm CI,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bệnh nhân có một số giá trị lactat bị thiếu.</a:t>
            </a:r>
          </a:p>
          <a:p>
            <a:r>
              <a:rPr lang="en-US" sz="1400" b="0" dirty="0"/>
              <a:t>MCAR, thiếu hoàn toàn ngẫu nhiên: rơi ống mẫu, máy xét nghiệm hỏng. Việc thiếu không liên quan gì đến bệnh nhân. Những bệnh nhân còn lại là một tập con ngẫu nhiên; phân tích ca đầy đủ không bị sai lệch, chỉ kém chính xác hơn. Hiếm gặp trong thực tế.</a:t>
            </a:r>
          </a:p>
          <a:p>
            <a:r>
              <a:rPr lang="en-US" sz="1400" b="0" dirty="0"/>
              <a:t>MAR, thiếu ngẫu nhiên (có điều kiện theo những gì đã ghi): lactat không được đo ở bệnh nhân vào ban đêm. Việc thiếu phụ thuộc vào một điều ta CÓ trong dữ liệu (giờ nhập viện). Các phương pháp như đa phép gán có thể dùng biến đã ghi nhận đó để sửa sai lệch.</a:t>
            </a:r>
          </a:p>
          <a:p>
            <a:r>
              <a:rPr lang="en-US" sz="1400" b="0" dirty="0"/>
              <a:t>MNAR, thiếu không ngẫu nhiên: các giá trị lactat bị thiếu là những giá trị cao nhất (bệnh nhân nặng nhất, giá trị vượt ngưỡng máy; các số màu đỏ ta không bao giờ thấy). Việc thiếu phụ thuộc chính giá trị bị thiếu. Không phương pháp thống kê nào sửa được hoàn toàn; ta chỉ có thể kiểm tra xem nó ảnh hưởng đến đâu (phân tích độ nhạy).</a:t>
            </a:r>
          </a:p>
          <a:p>
            <a:r>
              <a:rPr lang="en-US" sz="1400" b="0" dirty="0"/>
              <a:t>Ta 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thiếu đầu tiên ở phần 5.1: bệnh nhân nặng nhất bị thiếu là MNAR, trường hợp xấu nhất.</a:t>
            </a:r>
          </a:p>
          <a:p>
            <a:r>
              <a:rPr lang="en-US" sz="1400" b="0" dirty="0"/>
              <a:t>Hỏi: kết cục ngày 28 bị thiếu ở bệnh nhân chuyển sang bệnh viện khác. Cơ chế nào có khả năng nhất? Dự kiến: có thể là MNAR (bệnh nhân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bệnh nhân (15.0%). Hình cho thấy tỉ lệ thiếu theo điểm SOFA: cao hơn nhiều ở bệnh nhân nhẹ nhất.</a:t>
            </a:r>
          </a:p>
          <a:p>
            <a:r>
              <a:rPr lang="en-US" sz="1400" b="0" dirty="0"/>
              <a:t>Bệnh nhân không có lactat có SOFA trung vị 5 (4 đến 6) so với 8 (6 đến 10) ở người có lactat, và tử vong thấp hơn: 18/93 (19.4%) so với 161/527 (30.6%).</a:t>
            </a:r>
          </a:p>
          <a:p>
            <a:r>
              <a:rPr lang="en-US" sz="1400" b="0" dirty="0"/>
              <a:t>Vậy dữ liệu không thiếu hoàn toàn ngẫu nhiên (MCAR): phân tích ca đầy đủ bỏ chủ yếu các bệnh nhân nhẹ hơn. Việc thiếu phụ thuộc những gì đã ghi nhận (mức độ nặng, ICU): thiếu ngẫu nhiên có điều kiện (MAR) là hợp lý, đúng tình huống đa phép gán hoạt động tốt.</a:t>
            </a:r>
          </a:p>
          <a:p>
            <a:r>
              <a:rPr lang="en-US" sz="1400" b="0" dirty="0"/>
              <a:t>Hỏi: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ca đầy đủ 1.39 (1.24 đến 1.57), n = 527; đa phép gán 1.45 (1.29 đến 1.64), n = 620. Thêm SOFA: 1.21 (1.05 đến 1.39) so với 1.23 (1.07 đến 1.42).</a:t>
            </a:r>
          </a:p>
          <a:p>
            <a:r>
              <a:rPr lang="en-US" sz="1400" b="0" dirty="0"/>
              <a:t>Mô hình chính Q1 với đa phép gán (m = 20, n = 620): OR hiệu chỉnh 1.70 (95% CI 1.09 đến 2.64), p = 0.020, so với 1.62 (1.02 đến 2.59) ở ca đầy đủ.</a:t>
            </a:r>
          </a:p>
          <a:p>
            <a:r>
              <a:rPr lang="en-US" sz="1400" b="0" dirty="0"/>
              <a:t>Diễn giải: kết luận không phụ thuộc vào cách xử lý lactat bị thiếu: một kết quả vững. Nếu hai cách cho kết quả rất khác nhau, ta phải nói rõ.</a:t>
            </a:r>
          </a:p>
          <a:p>
            <a:r>
              <a:rPr lang="en-US" sz="1400" b="0" dirty="0"/>
              <a:t>Chú ý thêm: lactat trung vị là 2.6 mmol/L ở ca đầy đủ và 2.4 sau khi gán: các giá trị gán thấp hơn, như dự kiến, vì bệnh nhân bị thiếu nhẹ hơn.</a:t>
            </a:r>
          </a:p>
          <a:p>
            <a:r>
              <a:rPr lang="en-US" sz="1400" b="0" dirty="0"/>
              <a:t>Hỏi: anh chị viết gì trong phần Phương pháp? Dự kiến: 'Lactat bị thiếu (15.0%) được xử lý bằng đa phép gán (20 bộ dữ liệu) như phân tích độ nhạy; kết quả tương tự phân tích ca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8; đáp án mẫu trong s6_solutions.md.</a:t>
            </a:r>
          </a:p>
          <a:p>
            <a:r>
              <a:rPr lang="en-US" sz="1400" b="1" dirty="0"/>
              <a:t>Con số chính theo câu hỏi (đều có trong key_results.md và các gói kết quả):</a:t>
            </a:r>
          </a:p>
          <a:p>
            <a:r>
              <a:rPr lang="en-US" sz="1400" b="0" dirty="0"/>
              <a:t>Q1: OR thô 2.49 (1.70 đến 3.70) -&gt; hiệu chỉnh 1.62 (1.02 đến 2.59); HR Cox hiệu chỉnh 1.46 (1.00 đến 2.13); OR hiệu chỉnh với đa phép gán 1.70 (1.09 đến 2.64).</a:t>
            </a:r>
          </a:p>
          <a:p>
            <a:r>
              <a:rPr lang="en-US" sz="1400" b="0" dirty="0"/>
              <a:t>Q2: OR AKI mỗi 10 ml/kg thô 1.37 (1.27 đến 1.47) -&gt; hiệu chỉnh 1.27 (1.16 đến 1.40).</a:t>
            </a:r>
          </a:p>
          <a:p>
            <a:r>
              <a:rPr lang="en-US" sz="1400" b="0" dirty="0"/>
              <a:t>Q3: số ngày không thở máy mỗi 10 ml/kg thô -1.48 (-1.84 đến -1.13) -&gt; hiệu chỉnh -0.61 (-1.00 đến -0.21) ngày.</a:t>
            </a:r>
          </a:p>
          <a:p>
            <a:r>
              <a:rPr lang="en-US" sz="1400" b="0" dirty="0"/>
              <a:t>Q4: OR lactat mỗi 1 mmol/L hiệu chỉnh, ca đầy đủ 1.39 (1.24 đến 1.57) so với đa phép gán 1.45 (1.29 đến 1.64).</a:t>
            </a:r>
          </a:p>
          <a:p>
            <a:r>
              <a:rPr lang="en-US" sz="1400" b="0" dirty="0"/>
              <a:t>Q5: tỉ số trung bình nhân thời gian nằm ICU thô 1.50 (1.34 đến 1.68) -&gt; hiệu chỉnh 1.24 (1.10 đến 1.39).</a:t>
            </a:r>
          </a:p>
          <a:p>
            <a:r>
              <a:rPr lang="en-US" sz="1400" b="0" dirty="0"/>
              <a:t>Mẫu hình cần chỉ ra: ở mọi câu hỏi, ước lượng hiệu chỉnh gần 'không tác động' hơn ước lượng thô: dấu vân tay của nhiễu do chỉ định.</a:t>
            </a:r>
          </a:p>
          <a:p>
            <a:r>
              <a:rPr lang="en-US" sz="1400" b="0" dirty="0"/>
              <a:t>Các câu này trở thành phần cốt lõi của mục Kết quả viết ở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a:t>
            </a:r>
          </a:p>
          <a:p>
            <a:r>
              <a:rPr lang="en-US" sz="1400" b="0" dirty="0"/>
              <a:t>Cỡ mẫu: một câu với bốn đầu vào (giá trị dự kiến mỗi nhóm, alpha, power) và phần dự phòng bỏ cuộc: 'Giả định tử vong 28 ngày là 40% với chăm sóc thường quy và 30% với chiến lược hạn chế dịch, 356 bệnh nhân mỗi nhóm cho power 80% với alpha hai phía 5%; dự phòng 10% mất theo dõi, chúng tôi sẽ tuyển 396 bệnh nhân mỗi nhóm.' (356 / 0.9 = 395.6, làm tròn lên.)</a:t>
            </a:r>
          </a:p>
          <a:p>
            <a:r>
              <a:rPr lang="en-US" sz="1400" b="0" dirty="0"/>
              <a:t>Kế hoạch phân tích dễ hiểu: cách tóm tắt cho từng loại biến, kiểm định hoặc mô hình cho kết cục chính, số đo tác động kèm 95% CI.</a:t>
            </a:r>
          </a:p>
          <a:p>
            <a:r>
              <a:rPr lang="en-US" sz="1400" b="0" dirty="0"/>
              <a:t>Yếu tố gây nhiễu: với thiết kế quan sát, nêu tên (từ phần sai lệch ở Phần 2) trong giới hạn số biến cố mỗi biến; không chọn từng bước.</a:t>
            </a:r>
          </a:p>
          <a:p>
            <a:r>
              <a:rPr lang="en-US" sz="1400" b="0" dirty="0"/>
              <a:t>Kế hoạch dữ liệu thiếu: mức thiếu dự kiến và vì sao (tư duy MCAR / MAR / MNAR), phòng ngừa (Buổi 5), cách xử lý chính và một phân tích độ nhạy, như FLUID-ICU đã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Các nhóm hoàn thành Phần 3 của mẫu đề cương; phiếu bài tập (bài tập Buổi 6, bài 9) có cùng các tiêu đề.</a:t>
            </a:r>
          </a:p>
          <a:p>
            <a:r>
              <a:rPr lang="en-US" sz="1400" b="0" dirty="0"/>
              <a:t>Nhắc thời gian ở phút 8, 18, 23 và 30.</a:t>
            </a:r>
          </a:p>
          <a:p>
            <a:r>
              <a:rPr lang="en-US" sz="1400" b="0" dirty="0"/>
              <a:t>Giảng viên đi quanh và hỏi: Kết cục là số đo, phân loại hay thời gian đến sự kiện, vậy kiểm định hay mô hình nào? Tác động dự kiến lấy từ đâu? Điều gì dễ bị thiếu nhất, và vì sao (tư duy MCAR / MAR / MNAR)?</a:t>
            </a:r>
          </a:p>
          <a:p>
            <a:r>
              <a:rPr lang="en-US" sz="1400" b="0" dirty="0"/>
              <a:t>SAP của FLUID-ICU là mẫu tốt: các nhóm vừa thấy nó được viết trước khi phân tích.</a:t>
            </a:r>
          </a:p>
          <a:p>
            <a:r>
              <a:rPr lang="en-US" sz="1400" b="0" dirty="0"/>
              <a:t>Cỡ mẫu: các nhóm cần bốn đầu vào và nguồn, chưa cần con số cuối cùng. Đề nghị chạy bảng tính giúp họ.</a:t>
            </a:r>
          </a:p>
          <a:p>
            <a:r>
              <a:rPr lang="en-US" sz="1400" b="0" dirty="0"/>
              <a:t>Vấn đề thường gặp: kế hoạch phân tích chỉ ghi 'sẽ dùng SPSS'; chọn biến từng bước; không nói gì về dữ liệu thiếu; cỡ mẫu = 'tất cả bệnh nhân có được'.</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a:t>
            </a:r>
          </a:p>
          <a:p>
            <a:r>
              <a:rPr lang="en-US" sz="1400" b="0" dirty="0"/>
              <a:t>95% CI: khoảng các giá trị hợp lý. Giá trị p: dữ liệu đáng ngạc nhiên đến đâu nếu không có tác động. Power: khả năng phát hiện tác động thật.</a:t>
            </a:r>
          </a:p>
          <a:p>
            <a:r>
              <a:rPr lang="en-US" sz="1400" b="0" dirty="0"/>
              <a:t>t / Mann-Whitney: so sánh một số đo giữa hai nhóm (đối xứng / lệch). Khi bình phương: so sánh tỉ lệ. Ghép cặp: cùng bệnh nhân đo hai lần.</a:t>
            </a:r>
          </a:p>
          <a:p>
            <a:r>
              <a:rPr lang="en-US" sz="1400" b="0" dirty="0"/>
              <a:t>OR hiệu chỉnh: tỉ số chênh sau khi tính đến yếu tố gây nhiễu. Tỉ số nguy cơ tức thời: tỉ số tốc độ tử vong theo thời gian (Cox). Kiểm duyệt: theo dõi kết thúc mà chưa có biến cố.</a:t>
            </a:r>
          </a:p>
          <a:p>
            <a:r>
              <a:rPr lang="en-US" sz="1400" b="0" dirty="0"/>
              <a:t>SAP: kế hoạch phân tích viết trước khi thấy dữ liệu. MCAR / MAR / MNAR: vì sao dữ liệu bị thiếu. Đa phép gán: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Đọc CI: độ lớn, chiều hướng, độ chính xác; giá trị không tác động 0 hay 1; tránh năm lỗi hiểu sai giá trị p.</a:t>
            </a:r>
          </a:p>
          <a:p>
            <a:r>
              <a:rPr lang="en-US" sz="1400" b="0" dirty="0"/>
              <a:t>Hiệu chỉnh trung thực: FLUID-ICU cho thấy nhiễu do chỉ định: OR thô giảm sau khi hiệu chỉnh mức độ nặng. Yếu tố gây nhiễu được chọn theo kiến thức, không theo chọn từng bước.</a:t>
            </a:r>
          </a:p>
          <a:p>
            <a:r>
              <a:rPr lang="en-US" sz="1400" b="0" dirty="0"/>
              <a:t>Lập kế hoạch trước: SAP của FLUID-ICU được viết trước khi phân tích; lactat bị thiếu được báo cáo, xử lý bằng đa phép gán và đối chiếu với phân tích ca đầy đủ.</a:t>
            </a:r>
          </a:p>
          <a:p>
            <a:r>
              <a:rPr lang="en-US" sz="1400" b="0" dirty="0"/>
              <a:t>Cuối tuần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Câu trả lời tốt: 'Tỉ số nguy cơ thật có thể hợp lý nằm trong khoảng 1.48 đến 3.06; mọi giá trị đều lớn hơn 1, nên dữ liệu gợi ý tử vong cao hơn.' Đọc vài câu khi bắt đầu Buổi 7.</a:t>
            </a:r>
          </a:p>
          <a:p>
            <a:r>
              <a:rPr lang="en-US" sz="1400" b="0" dirty="0"/>
              <a:t>Về nhà: hoàn thành Phần 3 đề cương; bắt đầu chuẩn bị bài trình bày 6 phút (6 slide, Course/Assignment/presentation_guide.md); đọc lại gói kết quả và phiếu diễn giải của nhóm, sẽ trở thành phần Phương pháp và Kết quả viết ở Buổi 7; bài tập tùy chọn trong phiếu bài tập Buổi 6.</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hiệu chỉnh cho tử vong, cân bằng dương so với âm: suy tim (n = 90) 4.39 (95% CI 1.65 đến 12.38); không suy tim (n = 437) 1.29 (0.77 đến 2.19). p tương tác = 0.031 (Wald; kiểm định tỉ số khả dĩ p = 0.028).</a:t>
            </a:r>
          </a:p>
          <a:p>
            <a:r>
              <a:rPr lang="en-US" sz="1400" b="0" dirty="0"/>
              <a:t>Hợp lý về lâm sàng: bệnh nhân suy tim dung nạp dịch kém hơn.</a:t>
            </a:r>
          </a:p>
          <a:p>
            <a:r>
              <a:rPr lang="en-US" sz="1400" b="0" dirty="0"/>
              <a:t>Nhưng: phân nhóm nhỏ (90 bệnh nhân), CI rất rộng, và SAP ghi rằng p tương tác &lt; 0.05 là 'bằng chứng cần xác nhận, chưa phải kết luận chắc chắn'. Báo cáo như phân tích thăm dò.</a:t>
            </a:r>
          </a:p>
          <a:p>
            <a:r>
              <a:rPr lang="en-US" sz="1400" b="0" dirty="0"/>
              <a:t>Nối với 6.3 (trang tương tác) và so sánh nhiều lần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2.</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hiệu chỉnh 1.27 (1.16 đến 1.40), p &lt; 0.001 (n = 527).</a:t>
            </a:r>
          </a:p>
          <a:p>
            <a:r>
              <a:rPr lang="en-US" sz="1400" b="0" dirty="0"/>
              <a:t>Thận trọng: có thể có nhân quả ngược: bệnh nhân đang bị AKI tiểu ít hơn, nên cân bằng dịch dương hơn. Thời điểm AKI so với cân bằng dịch là quan trọng; bàn trong phần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3.</a:t>
            </a:r>
          </a:p>
          <a:p>
            <a:r>
              <a:rPr lang="en-US" sz="1400" b="0" dirty="0"/>
              <a:t>Số ngày không thở máy đến ngày 28 bằng 0 với bệnh nhân tử vong hoặc thở máy suốt, và bằng 28 với người không bao giờ thở máy: hai đống dồn,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hiệu chỉnh -0.61 (-1.00 đến -0.21) ngày, p = 0.003 (n = 527).</a:t>
            </a:r>
          </a:p>
          <a:p>
            <a:r>
              <a:rPr lang="en-US" sz="1400" b="0" dirty="0"/>
              <a:t>Ý chính: luôn xem phân phối trước khi chọn cách tóm tắt và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ta muốn tìm hiểu (mọi người lớn bị sốc nhiễm khuẩn); ta không bao giờ thấy hết. MẪU là những bệnh nhân ta thực sự nghiên cứu.</a:t>
            </a:r>
          </a:p>
          <a:p>
            <a:r>
              <a:rPr lang="en-US" sz="1400" b="0" dirty="0"/>
              <a:t>Trong mẫu 40 bệnh nhân, 12 người tử vong: 30%. Đó là ƯỚC LƯỢNG của tỉ lệ tử vong thật.</a:t>
            </a:r>
          </a:p>
          <a:p>
            <a:r>
              <a:rPr lang="en-US" sz="1400" b="0" dirty="0"/>
              <a:t>Một mẫu 40 bệnh nhân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tỉ lệ tử vong thật có thể hợp lý nằm ở bất kỳ đâu trong khoảng này. Với chỉ 40 bệnh nhân, khoảng này rộng.</a:t>
            </a:r>
          </a:p>
          <a:p>
            <a:r>
              <a:rPr lang="en-US" sz="1400" b="0" dirty="0"/>
              <a:t>Hai điều kiện để mẫu phản ánh được quần thể: mẫu phải đại diện (sai lệch chọn lựa, Buổi 4) và đủ lớn (độ chính xác, sắp học).</a:t>
            </a:r>
          </a:p>
          <a:p>
            <a:r>
              <a:rPr lang="en-US" sz="1400" b="0" dirty="0"/>
              <a:t>Hỏi: nếu nghiên cứu 400 bệnh nhân thay vì 40, khoảng tin cậy sẽ thế nào? Dự kiến: hẹp hơn. Đó là trang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CI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95% CI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thử nghiệm (pilot) với 48 bệnh nhân.</a:t>
            </a:r>
          </a:p>
          <a:p>
            <a:r>
              <a:rPr lang="en-US" sz="1400" b="0" dirty="0"/>
              <a:t>Nếu có người hỏi vì sao 13.2 không bằng 35.0 trừ 6.9 (28.1): 13.2 là hiệu của hai giá trị TRUNG BÌNH, được tác giả báo cáo kèm 95% CI;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CI sẽ trông thế nào nếu thử nghiệm có 500 bệnh nhân?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CI của chúng so với đường không tác động. Mỗi ô vuông là một HR, mỗi đoạn ngang là 95% CI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đoàn hệ, và ngay cả sau ghép cặp, bệnh nhân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CI ngày 1 và ngày 2 có độ rộng khác nhau? Dự kiến: số bệnh nhân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tỉ lệ): cho tỉ số nguy cơ tức thời (hazard ratio), tức tỉ số tốc độ tử vong tức thời giữa hai nhóm, kèm 95% CI; giá trị không tác động là 1. Giống hồi quy logistic, nó có thể đưa vào nhiều biến, nên HR có thể được hiệu chỉnh. Bài báo 2 dùng mô hình Cox (có tính đến cụm) trên các cặp đã ghép: HR ngày 2 là 2.13 (95% CI 1.48 đến 3.06).</a:t>
            </a:r>
          </a:p>
          <a:p>
            <a:r>
              <a:rPr lang="en-US" sz="1400" b="0" dirty="0"/>
              <a:t>Nguy cơ tỉ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yếu tố gây nhiễu (Buổi 4), và là lý do ta hiệu chỉnh trong mô hình (các trang sau).</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(các trang trước)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bệnh nhân có và không có ARDS; bệnh nhân ARDS chỉ đơn giản bắt đầu ở mức cao hơn. Một ước lượng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nhiều lần!),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(95% CI -15.2 đến 41.6). Khoảng cắt qua 0: không có khác biệt có ý nghĩa thống kê, và rất kém chính xác.</a:t>
            </a:r>
          </a:p>
          <a:p>
            <a:r>
              <a:rPr lang="en-US" sz="1400" b="0" dirty="0"/>
              <a:t>Bên phải, Bài báo 2, đoàn hệ ngày 2 (tỉ số, giá trị không tác động = 1): HR 2.13 (95% CI 1.48 đến 3.06), p &lt; 0.001. Toàn bộ khoảng nằm trên 1: cân bằng dịch dương đến ngày 2 có liên quan với tử vong 28 ngày cao hơn.</a:t>
            </a:r>
          </a:p>
          <a:p>
            <a:r>
              <a:rPr lang="en-US" sz="1400" b="0" dirty="0"/>
              <a:t>Chú ý thang tỉ số được vẽ theo thang log: HR 0.5 (giảm một nửa) và HR 2 (gấp đôi) cách đều 1. Vì vậy biểu đồ rừng (forest plot) của các tỉ số trông đối xứng quanh 1.</a:t>
            </a:r>
          </a:p>
          <a:p>
            <a:r>
              <a:rPr lang="en-US" sz="1400" b="0" dirty="0"/>
              <a:t>Quy tắc: CI 95% không chứa giá trị không tác động tương đương p &lt; 0.05, và ngược lại. CI cho biết mọi điều giá trị p cho biết, cộng thêm độ lớn và độ chính xác.</a:t>
            </a:r>
          </a:p>
          <a:p>
            <a:r>
              <a:rPr lang="en-US" sz="1400" b="0" dirty="0"/>
              <a:t>Hỏi: nếu CI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bệnh nhân tử vong so với bệnh nhân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bệnh nhân, điều trị và cách đo khác nhau. Mô hình phải được thử trên những bệnh nhân KHÔNG dùng để xây dựng nó, tốt nhất ở nơi khác, trước khi ai đó sử dụng.</a:t>
            </a:r>
          </a:p>
          <a:p>
            <a:r>
              <a:rPr lang="en-US" sz="1400" b="0" dirty="0"/>
              <a:t>AUC cao thôi chưa đủ: mô hình có thể xếp hạng bệnh nhân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ta.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bệnh nhân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ca đầy đủ (complete-case, phía trên): chỉ dùng những bệnh nhân không thiếu giá trị nào ở các biến được phân tích. Đơn giản và là mặc định của hầu hết phần mềm, nhưng mất bệnh nhân (ở đây 3 trong 5 dòng) và câu trả lời bị sai lệch trừ khi dữ liệu là MCAR. Với nhiều biến, mỗi biến thiếu một chút cộng lại thành mất rất nhiều.</a:t>
            </a:r>
          </a:p>
          <a:p>
            <a:r>
              <a:rPr lang="en-US" sz="1400" b="0" dirty="0"/>
              <a:t>Đa phép gán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CI bao gồm thêm độ không chắc chắn do không biết các giá trị bị thiếu.</a:t>
            </a:r>
          </a:p>
          <a:p>
            <a:r>
              <a:rPr lang="en-US" sz="1400" b="0" dirty="0"/>
              <a:t>Phương pháp hoạt động tốt khi dữ liệu là MAR và mô hình gán có các biến giải thích việc thiếu. Đây không phải 'bịa dữ liệu': đây là sự trung thực về những gì ta không biết.</a:t>
            </a:r>
          </a:p>
          <a:p>
            <a:r>
              <a:rPr lang="en-US" sz="1400" b="0" dirty="0"/>
              <a:t>Số liệu minh họa. Ở phần 6.4 anh chị thấy nó được chạy trên bộ dữ liệu khóa học; việc của anh chị là nhận ra nó và hỏi xem nó có phù hợp không.</a:t>
            </a:r>
          </a:p>
          <a:p>
            <a:r>
              <a:rPr lang="en-US" sz="1400" b="0" dirty="0"/>
              <a:t>Hỏi: một bài báo loại 30% bệnh nhân vì thiếu dữ liệu và chỉ phân tích ca đầy đủ. Anh chị hỏi gì? Dự kiến: ai bị loại, họ có khác biệt không, và có phân tích độ nhạy với đa phép gán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dòng chảy cho biết ai bị mất và vì sao (CONSORT, STROBE, Buổi 7-8).</a:t>
            </a:r>
          </a:p>
          <a:p>
            <a:r>
              <a:rPr lang="en-US" sz="1400" b="0" dirty="0"/>
              <a:t>So sánh: bệnh nhân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ca đầy đủ so với đa phép gán;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hôm nay: mức thiếu dự kiến, phòng ngừa (5.1), cách xử lý chính, một phân tích độ nhạy.</a:t>
            </a:r>
          </a:p>
          <a:p>
            <a:r>
              <a:rPr lang="en-US" sz="1400" b="0" dirty="0"/>
              <a:t>Hỏi: Bài báo 1 phân tích 48 trong 50 bệnh nhân được phân bổ ngẫu nhiên; hai bệnh nhân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3 · Chủ Nhật</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5 (10 phút)</a:t>
            </a:r>
          </a:p>
          <a:p>
            <a:pPr marL="274320" indent="-274320" algn="l">
              <a:spcBef>
                <a:spcPts val="440"/>
              </a:spcBef>
              <a:buFont typeface="Arial"/>
              <a:buChar char="•"/>
            </a:pPr>
            <a:r>
              <a:rPr lang="en-US" sz="1900" dirty="0">
                <a:solidFill>
                  <a:srgbClr val="000000"/>
                </a:solidFill>
                <a:latin typeface="Segoe UI"/>
                <a:cs typeface="Segoe UI"/>
              </a:rPr>
              <a:t>6.1 Từ mẫu đến quần thể: CI, giá trị p, power, cỡ mẫu, chọn kiểm định</a:t>
            </a:r>
          </a:p>
          <a:p>
            <a:pPr marL="274320" indent="-274320" algn="l">
              <a:spcBef>
                <a:spcPts val="440"/>
              </a:spcBef>
              <a:buFont typeface="Arial"/>
              <a:buChar char="•"/>
            </a:pPr>
            <a:r>
              <a:rPr lang="en-US" sz="1900" dirty="0">
                <a:solidFill>
                  <a:srgbClr val="000000"/>
                </a:solidFill>
                <a:latin typeface="Segoe UI"/>
                <a:cs typeface="Segoe UI"/>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Segoe UI"/>
                <a:cs typeface="Segoe UI"/>
              </a:rPr>
              <a:t>6.3 Mối liên quan và mô hình: hồi quy, Kaplan-Meier và Cox</a:t>
            </a:r>
          </a:p>
          <a:p>
            <a:pPr marL="274320" indent="-274320" algn="l">
              <a:spcBef>
                <a:spcPts val="440"/>
              </a:spcBef>
              <a:buFont typeface="Arial"/>
              <a:buChar char="•"/>
            </a:pPr>
            <a:r>
              <a:rPr lang="en-US" sz="1900" dirty="0">
                <a:solidFill>
                  <a:srgbClr val="000000"/>
                </a:solidFill>
                <a:latin typeface="Segoe UI"/>
                <a:cs typeface="Segoe UI"/>
              </a:rPr>
              <a:t>6.4 Mô hình hóa bộ dữ liệu: OR hiệu chỉnh, HR Cox, dữ liệu thiếu, SAP</a:t>
            </a:r>
          </a:p>
          <a:p>
            <a:pPr marL="274320" indent="-274320" algn="l">
              <a:spcBef>
                <a:spcPts val="440"/>
              </a:spcBef>
              <a:buFont typeface="Arial"/>
              <a:buChar char="•"/>
            </a:pPr>
            <a:r>
              <a:rPr lang="en-US" sz="1900" dirty="0">
                <a:solidFill>
                  <a:srgbClr val="000000"/>
                </a:solidFill>
                <a:latin typeface="Segoe UI"/>
                <a:cs typeface="Segoe UI"/>
              </a:rPr>
              <a:t>Xây dựng đề cương 6: cỡ mẫu, kế hoạch phân tích,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Thời gian nằm ICU của 300 bệnh nhân lệch phải. Đưa cách tóm tắt nào vào Bảng 1?</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Một mục CRF ghi 'Lactat: ____'. Nêu hai điều còn thiếu.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Trong dữ liệu thô FLUID-ICU, có một tuổi là 210. Phép kiểm tra nào bắt được, và ghi gì vào nhật ký làm sạch?</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C2: đơn vị (mmol/L), thời điểm, lựa chọn 'không làm'</a:t>
            </a:r>
          </a:p>
          <a:p>
            <a:pPr marL="274320" indent="-274320" algn="l">
              <a:lnSpc>
                <a:spcPct val="104000"/>
              </a:lnSpc>
              <a:spcBef>
                <a:spcPts val="300"/>
              </a:spcBef>
              <a:buFont typeface="Arial"/>
              <a:buChar char="•"/>
            </a:pPr>
            <a:r>
              <a:rPr lang="en-US" sz="1500" dirty="0">
                <a:solidFill>
                  <a:srgbClr val="000000"/>
                </a:solidFill>
                <a:latin typeface="Segoe UI"/>
                <a:cs typeface="Segoe UI"/>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6.1 Từ mẫu đến quần thể, không sợ hãi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Nghiên cứu một ít bệnh nhân để hiểu về rất nhiều bệnh nhân.</a:t>
            </a:r>
          </a:p>
          <a:p>
            <a:pPr marL="0" indent="0" algn="ctr">
              <a:spcBef>
                <a:spcPts val="1200"/>
              </a:spcBef>
              <a:buNone/>
            </a:pPr>
            <a:r>
              <a:rPr lang="en-US" sz="1900" i="1" dirty="0">
                <a:solidFill>
                  <a:srgbClr val="595959"/>
                </a:solidFill>
                <a:latin typeface="Segoe UI"/>
                <a:cs typeface="Segoe UI"/>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Vũ điệu của các khoảng tin cậy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Khoảng 95/100 khoảng như vậy chứa giá trị thật; ta không biết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kết quả của ta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câu dưới đây đều xuất hiện trong các bài báo đã đăng. Tất cả đều sai.</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'Xác suất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KHÔNG phải xác suất</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'Tác động lớn'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nhỏ KHÔNG có nghĩa</a:t>
            </a:r>
          </a:p>
          <a:p>
            <a:pPr marL="0" indent="0" algn="l">
              <a:lnSpc>
                <a:spcPct val="104000"/>
              </a:lnSpc>
              <a:spcBef>
                <a:spcPts val="400"/>
              </a:spcBef>
              <a:buNone/>
            </a:pPr>
            <a:r>
              <a:rPr lang="en-US" sz="1450" dirty="0">
                <a:solidFill>
                  <a:srgbClr val="000000"/>
                </a:solidFill>
                <a:latin typeface="Segoe UI"/>
                <a:cs typeface="Segoe UI"/>
              </a:rPr>
              <a:t>tác động lớn hay quan trọng</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'Không tác động'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&gt; 0.05 KHÔNG chứng minh</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'Xu hướng'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 0.08 KHÔNG phải</a:t>
            </a:r>
          </a:p>
          <a:p>
            <a:pPr marL="0" indent="0" algn="l">
              <a:lnSpc>
                <a:spcPct val="104000"/>
              </a:lnSpc>
              <a:spcBef>
                <a:spcPts val="400"/>
              </a:spcBef>
              <a:buNone/>
            </a:pPr>
            <a:r>
              <a:rPr lang="en-US" sz="1450" dirty="0">
                <a:solidFill>
                  <a:srgbClr val="000000"/>
                </a:solidFill>
                <a:latin typeface="Segoe UI"/>
                <a:cs typeface="Segoe UI"/>
              </a:rPr>
              <a:t>'gần có ý nghĩa'</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'Chỉ có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Chỉ p là KHÔNG đủ:</a:t>
            </a:r>
          </a:p>
          <a:p>
            <a:pPr marL="0" indent="0" algn="l">
              <a:lnSpc>
                <a:spcPct val="104000"/>
              </a:lnSpc>
              <a:spcBef>
                <a:spcPts val="400"/>
              </a:spcBef>
              <a:buNone/>
            </a:pPr>
            <a:r>
              <a:rPr lang="en-US" sz="1450" dirty="0">
                <a:solidFill>
                  <a:srgbClr val="000000"/>
                </a:solidFill>
                <a:latin typeface="Segoe UI"/>
                <a:cs typeface="Segoe UI"/>
              </a:rPr>
              <a:t>cần tác động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độ lớn tác động kèm 95% CI; giá trị p chỉ là vai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CI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'HR 2.13 (95% CI 1.48-3.06)': dữ liệu phù hợp với HR thật từ khoảng 1.5 đến 3.1. Đúng hay sai?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'p = 0.42, vậy hai chiến lược tương đương.' Đúng hay sai?</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'p = 0.03 nghĩa là có 3% khả năng không có tác động.' Đúng hay sai?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'Nghiên cứu lớn hơn thường cho CI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Sai: ta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Sai: p giả định không có tác động</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đọc được CI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Alpha = nguy cơ báo động giả; power = khả năng phát hiện tác động thật.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Cỡ mẫu: tác động lớn hơn, ít nhiễu hơn = ít bệnh nhân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một công cụ tính trực tuyến miễn phí (ví dụ OpenEpi) trên trình duyệt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Hai trung bình: 70 so với 40 ml/kg, SD 35, power 80%, alpha 5% -&gt; 22 mỗi nhóm</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Hai tỉ lệ: tử vong 40% so với 30% -&gt; khoảng 356 mỗi nhóm</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Thay đổi từng đầu vào một và xem con số thay đổi</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Dự phòng không cần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Điều gì làm n thay đổi?</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nhỏ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(SD) nhiều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Power cao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Các nhóm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một sơ đồ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 hình dạng + ghép cặp hay không =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hay không ghép cặp? Cùng hay khác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bệnh nhân đo hai lần = kiểm định ghép cặp; khác bệnh nhân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lần: bài toán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Cần làm gì</a:t>
            </a:r>
          </a:p>
          <a:p>
            <a:pPr marL="274320" indent="-274320" algn="l">
              <a:spcBef>
                <a:spcPts val="440"/>
              </a:spcBef>
              <a:buFont typeface="Arial"/>
              <a:buChar char="•"/>
            </a:pPr>
            <a:r>
              <a:rPr lang="en-US" sz="1450" dirty="0">
                <a:solidFill>
                  <a:srgbClr val="000000"/>
                </a:solidFill>
                <a:latin typeface="Segoe UI"/>
                <a:cs typeface="Segoe UI"/>
              </a:rPr>
              <a:t>Định trước MỘT kết cục chính</a:t>
            </a:r>
          </a:p>
          <a:p>
            <a:pPr marL="274320" indent="-274320" algn="l">
              <a:spcBef>
                <a:spcPts val="440"/>
              </a:spcBef>
              <a:buFont typeface="Arial"/>
              <a:buChar char="•"/>
            </a:pPr>
            <a:r>
              <a:rPr lang="en-US" sz="1450" dirty="0">
                <a:solidFill>
                  <a:srgbClr val="000000"/>
                </a:solidFill>
                <a:latin typeface="Segoe UI"/>
                <a:cs typeface="Segoe UI"/>
              </a:rPr>
              <a:t>Gọi phần còn lại là thăm dò</a:t>
            </a:r>
          </a:p>
          <a:p>
            <a:pPr marL="274320" indent="-274320" algn="l">
              <a:spcBef>
                <a:spcPts val="440"/>
              </a:spcBef>
              <a:buFont typeface="Arial"/>
              <a:buChar char="•"/>
            </a:pPr>
            <a:r>
              <a:rPr lang="en-US" sz="1450" dirty="0">
                <a:solidFill>
                  <a:srgbClr val="000000"/>
                </a:solidFill>
                <a:latin typeface="Segoe UI"/>
                <a:cs typeface="Segoe UI"/>
              </a:rPr>
              <a:t>Hiệu chỉnh, VD Bonferroni: 0.05 / số kiểm định</a:t>
            </a:r>
          </a:p>
          <a:p>
            <a:pPr marL="274320" indent="-274320" algn="l">
              <a:spcBef>
                <a:spcPts val="440"/>
              </a:spcBef>
              <a:buFont typeface="Arial"/>
              <a:buChar char="•"/>
            </a:pPr>
            <a:r>
              <a:rPr lang="en-US" sz="1450" dirty="0">
                <a:solidFill>
                  <a:srgbClr val="000000"/>
                </a:solidFill>
                <a:latin typeface="Segoe UI"/>
                <a:cs typeface="Segoe UI"/>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(lệch) ở nhóm cân bằng dịch dương và âm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Tử vong 28 ngày (có/không) ở 300 so với 300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lúc vào và sau 6 giờ trên cùng 40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Lọc máu (có/không): 2/24 so với 5/24 bệnh nhân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Mann-Whitney U</a:t>
            </a:r>
          </a:p>
          <a:p>
            <a:pPr marL="274320" indent="-274320" algn="l">
              <a:lnSpc>
                <a:spcPct val="104000"/>
              </a:lnSpc>
              <a:spcBef>
                <a:spcPts val="300"/>
              </a:spcBef>
              <a:buFont typeface="Arial"/>
              <a:buChar char="•"/>
            </a:pPr>
            <a:r>
              <a:rPr lang="en-US" sz="1500" dirty="0">
                <a:solidFill>
                  <a:srgbClr val="000000"/>
                </a:solidFill>
                <a:latin typeface="Segoe UI"/>
                <a:cs typeface="Segoe UI"/>
              </a:rPr>
              <a:t>Khi bình phương</a:t>
            </a:r>
          </a:p>
          <a:p>
            <a:pPr marL="274320" indent="-274320" algn="l">
              <a:lnSpc>
                <a:spcPct val="104000"/>
              </a:lnSpc>
              <a:spcBef>
                <a:spcPts val="300"/>
              </a:spcBef>
              <a:buFont typeface="Arial"/>
              <a:buChar char="•"/>
            </a:pPr>
            <a:r>
              <a:rPr lang="en-US" sz="1500" dirty="0">
                <a:solidFill>
                  <a:srgbClr val="000000"/>
                </a:solidFill>
                <a:latin typeface="Segoe UI"/>
                <a:cs typeface="Segoe UI"/>
              </a:rPr>
              <a:t>t ghép cặp</a:t>
            </a:r>
          </a:p>
          <a:p>
            <a:pPr marL="274320" indent="-274320" algn="l">
              <a:lnSpc>
                <a:spcPct val="104000"/>
              </a:lnSpc>
              <a:spcBef>
                <a:spcPts val="300"/>
              </a:spcBef>
              <a:buFont typeface="Arial"/>
              <a:buChar char="•"/>
            </a:pPr>
            <a:r>
              <a:rPr lang="en-US" sz="1500" dirty="0">
                <a:solidFill>
                  <a:srgbClr val="000000"/>
                </a:solidFill>
                <a:latin typeface="Segoe UI"/>
                <a:cs typeface="Segoe UI"/>
              </a:rPr>
              <a:t>Fisher chính xác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dùng được sơ đồ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Chọn kiểm định theo kết cục, rồi đọc kết quả như một tác động kèm CI.</a:t>
            </a:r>
          </a:p>
          <a:p>
            <a:pPr marL="0" indent="0" algn="ctr">
              <a:spcBef>
                <a:spcPts val="1200"/>
              </a:spcBef>
              <a:buNone/>
            </a:pPr>
            <a:r>
              <a:rPr lang="en-US" sz="1900" i="1" dirty="0">
                <a:solidFill>
                  <a:srgbClr val="595959"/>
                </a:solidFill>
                <a:latin typeface="Segoe UI"/>
                <a:cs typeface="Segoe UI"/>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03_compare.R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Tuổi (đối xứng): kiểm định t</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SOFA và lactat (lệch): Mann-Whitney</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Tử vong 28 ngày (có/không): bảng 2x2 và khi bình phương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Sơ đồ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Số đo hay phân loại?</a:t>
            </a:r>
          </a:p>
          <a:p>
            <a:pPr marL="274320" indent="-274320" algn="l">
              <a:lnSpc>
                <a:spcPct val="104000"/>
              </a:lnSpc>
              <a:spcBef>
                <a:spcPts val="300"/>
              </a:spcBef>
              <a:buFont typeface="Arial"/>
              <a:buChar char="•"/>
            </a:pPr>
            <a:r>
              <a:rPr lang="en-US" sz="1500" dirty="0">
                <a:solidFill>
                  <a:srgbClr val="000000"/>
                </a:solidFill>
                <a:latin typeface="Segoe UI"/>
                <a:cs typeface="Segoe UI"/>
              </a:rPr>
              <a:t>Đối xứng hay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Ghép cặp hay không?</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Nguy cơ</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134/373 = 35.9%</a:t>
            </a:r>
          </a:p>
          <a:p>
            <a:pPr marL="0" indent="0" algn="l">
              <a:lnSpc>
                <a:spcPct val="104000"/>
              </a:lnSpc>
              <a:spcBef>
                <a:spcPts val="200"/>
              </a:spcBef>
              <a:buNone/>
            </a:pPr>
            <a:r>
              <a:rPr lang="en-US" sz="1500" dirty="0">
                <a:solidFill>
                  <a:srgbClr val="000000"/>
                </a:solidFill>
                <a:latin typeface="Segoe UI"/>
                <a:cs typeface="Segoe UI"/>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Hiệu số</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17.6 điểm phần trăm</a:t>
            </a:r>
          </a:p>
          <a:p>
            <a:pPr marL="0" indent="0" algn="l">
              <a:lnSpc>
                <a:spcPct val="104000"/>
              </a:lnSpc>
              <a:spcBef>
                <a:spcPts val="200"/>
              </a:spcBef>
              <a:buNone/>
            </a:pPr>
            <a:r>
              <a:rPr lang="en-US" sz="1500" dirty="0">
                <a:solidFill>
                  <a:srgbClr val="000000"/>
                </a:solidFill>
                <a:latin typeface="Segoe UI"/>
                <a:cs typeface="Segoe UI"/>
              </a:rPr>
              <a:t>95% CI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Tỉ số</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RR 1.96:</a:t>
            </a:r>
          </a:p>
          <a:p>
            <a:pPr marL="0" indent="0" algn="l">
              <a:lnSpc>
                <a:spcPct val="104000"/>
              </a:lnSpc>
              <a:spcBef>
                <a:spcPts val="200"/>
              </a:spcBef>
              <a:buNone/>
            </a:pPr>
            <a:r>
              <a:rPr lang="en-US" sz="1500" dirty="0">
                <a:solidFill>
                  <a:srgbClr val="000000"/>
                </a:solidFill>
                <a:latin typeface="Segoe UI"/>
                <a:cs typeface="Segoe UI"/>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định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Khi bình phương</a:t>
            </a:r>
          </a:p>
          <a:p>
            <a:pPr marL="0" indent="0" algn="l">
              <a:lnSpc>
                <a:spcPct val="104000"/>
              </a:lnSpc>
              <a:spcBef>
                <a:spcPts val="200"/>
              </a:spcBef>
              <a:buNone/>
            </a:pPr>
            <a:r>
              <a:rPr lang="en-US" sz="1500" dirty="0">
                <a:solidFill>
                  <a:srgbClr val="000000"/>
                </a:solidFill>
                <a:latin typeface="Segoe UI"/>
                <a:cs typeface="Segoe UI"/>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Nhưng...</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Chưa hiệu chỉnh:</a:t>
            </a:r>
          </a:p>
          <a:p>
            <a:pPr marL="0" indent="0" algn="l">
              <a:lnSpc>
                <a:spcPct val="104000"/>
              </a:lnSpc>
              <a:spcBef>
                <a:spcPts val="200"/>
              </a:spcBef>
              <a:buNone/>
            </a:pPr>
            <a:r>
              <a:rPr lang="en-US" sz="1500" dirty="0">
                <a:solidFill>
                  <a:srgbClr val="000000"/>
                </a:solidFill>
                <a:latin typeface="Segoe UI"/>
                <a:cs typeface="Segoe UI"/>
              </a:rPr>
              <a:t>bệnh nhân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tác động và CI;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phép so sánh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kết cục của nhóm trong gói kết quả (bảng so sánh)</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Kiểm định nào được dùng, và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kết quả như một tác động kèm 95% CI (hoặc trung vị kèm IQR)</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một câu cho phần Kết quả: không chỉ ghi 'có ý nghĩa', không dùng từ nhân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Ghi một lý do khiến phép so sánh có thể bị sai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Tránh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có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'chứng minh', 'gây ra'</a:t>
            </a:r>
          </a:p>
          <a:p>
            <a:pPr marL="274320" indent="-274320" algn="l">
              <a:lnSpc>
                <a:spcPct val="104000"/>
              </a:lnSpc>
              <a:spcBef>
                <a:spcPts val="300"/>
              </a:spcBef>
              <a:buFont typeface="Arial"/>
              <a:buChar char="•"/>
            </a:pPr>
            <a:r>
              <a:rPr lang="en-US" sz="1500" dirty="0">
                <a:solidFill>
                  <a:srgbClr val="000000"/>
                </a:solidFill>
                <a:latin typeface="Segoe UI"/>
                <a:cs typeface="Segoe UI"/>
              </a:rPr>
              <a:t>'xu hướng' khi p &gt; 0.05</a:t>
            </a:r>
          </a:p>
          <a:p>
            <a:pPr marL="274320" indent="-274320" algn="l">
              <a:lnSpc>
                <a:spcPct val="104000"/>
              </a:lnSpc>
              <a:spcBef>
                <a:spcPts val="300"/>
              </a:spcBef>
              <a:buFont typeface="Arial"/>
              <a:buChar char="•"/>
            </a:pPr>
            <a:r>
              <a:rPr lang="en-US" sz="1500" dirty="0">
                <a:solidFill>
                  <a:srgbClr val="000000"/>
                </a:solidFill>
                <a:latin typeface="Segoe UI"/>
                <a:cs typeface="Segoe UI"/>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Kết quả cho kết cục của nhóm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ghi một câu hỏi về kết quả so sánh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6.3: mối liên quan và mô hình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Tương quan</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tuyến tính và logistic</a:t>
            </a:r>
          </a:p>
          <a:p>
            <a:pPr marL="274320" indent="-274320" algn="l">
              <a:lnSpc>
                <a:spcPct val="104000"/>
              </a:lnSpc>
              <a:spcBef>
                <a:spcPts val="300"/>
              </a:spcBef>
              <a:buFont typeface="Arial"/>
              <a:buChar char="•"/>
            </a:pPr>
            <a:r>
              <a:rPr lang="en-US" sz="1500" dirty="0">
                <a:solidFill>
                  <a:srgbClr val="000000"/>
                </a:solidFill>
                <a:latin typeface="Segoe UI"/>
                <a:cs typeface="Segoe UI"/>
              </a:rPr>
              <a:t>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Kaplan-Meier và Cox</a:t>
            </a:r>
          </a:p>
          <a:p>
            <a:pPr marL="274320" indent="-274320" algn="l">
              <a:lnSpc>
                <a:spcPct val="104000"/>
              </a:lnSpc>
              <a:spcBef>
                <a:spcPts val="300"/>
              </a:spcBef>
              <a:buFont typeface="Arial"/>
              <a:buChar char="•"/>
            </a:pPr>
            <a:r>
              <a:rPr lang="en-US" sz="1500" dirty="0">
                <a:solidFill>
                  <a:srgbClr val="000000"/>
                </a:solidFill>
                <a:latin typeface="Segoe UI"/>
                <a:cs typeface="Segoe UI"/>
              </a:rPr>
              <a:t>Mô hình trên bộ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chạy mô hình mới đọc được mô hình.</a:t>
            </a:r>
          </a:p>
          <a:p>
            <a:pPr marL="0" indent="0" algn="ctr">
              <a:spcBef>
                <a:spcPts val="1200"/>
              </a:spcBef>
              <a:buNone/>
            </a:pPr>
            <a:r>
              <a:rPr lang="en-US" sz="1900" i="1" dirty="0">
                <a:solidFill>
                  <a:srgbClr val="595959"/>
                </a:solidFill>
                <a:latin typeface="Segoe UI"/>
                <a:cs typeface="Segoe UI"/>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Hồi quy logistic biến kết cục có/không thành tỉ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Hiệu chỉnh = so sánh những bệnh nhân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dòng: so sánh gì, tác động, 95% CI, CI có chứa giá trị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đọc một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Phiếu bài tập 'Buổi 6, bài 5': bảng giả định về sảng mắc phải trong bệnh viện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Mỗi dòng: so sánh gì, tác động, 95% CI, có chứa 1 không?</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MỘT câu bằng ngôn ngữ dễ hiểu cho phơi nhiễm chính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Về nhà: bài 6 (đọc đường cong Kaplan-Meier)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Đọc theo 4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 cái gì?</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lớn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CI rộng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Mỗi cặp có một câu diễn giải đúng,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Vì sao chọn từng bước gây hiểu nhầm</a:t>
            </a:r>
          </a:p>
          <a:p>
            <a:pPr marL="274320" indent="-274320" algn="l">
              <a:spcBef>
                <a:spcPts val="440"/>
              </a:spcBef>
              <a:buFont typeface="Arial"/>
              <a:buChar char="•"/>
            </a:pPr>
            <a:r>
              <a:rPr lang="en-US" sz="1450" dirty="0">
                <a:solidFill>
                  <a:srgbClr val="000000"/>
                </a:solidFill>
                <a:latin typeface="Segoe UI"/>
                <a:cs typeface="Segoe UI"/>
              </a:rPr>
              <a:t>Chọn biến theo giá trị p</a:t>
            </a:r>
          </a:p>
          <a:p>
            <a:pPr marL="274320" indent="-274320" algn="l">
              <a:spcBef>
                <a:spcPts val="440"/>
              </a:spcBef>
              <a:buFont typeface="Arial"/>
              <a:buChar char="•"/>
            </a:pPr>
            <a:r>
              <a:rPr lang="en-US" sz="1450" dirty="0">
                <a:solidFill>
                  <a:srgbClr val="000000"/>
                </a:solidFill>
                <a:latin typeface="Segoe UI"/>
                <a:cs typeface="Segoe UI"/>
              </a:rPr>
              <a:t>Tìm ra 'yếu tố dự báo' ngẫu nhiên</a:t>
            </a:r>
          </a:p>
          <a:p>
            <a:pPr marL="274320" indent="-274320" algn="l">
              <a:spcBef>
                <a:spcPts val="440"/>
              </a:spcBef>
              <a:buFont typeface="Arial"/>
              <a:buChar char="•"/>
            </a:pPr>
            <a:r>
              <a:rPr lang="en-US" sz="1450" dirty="0">
                <a:solidFill>
                  <a:srgbClr val="000000"/>
                </a:solidFill>
                <a:latin typeface="Segoe UI"/>
                <a:cs typeface="Segoe UI"/>
              </a:rPr>
              <a:t>Tác động quá lớn, CI quá hẹp</a:t>
            </a:r>
          </a:p>
          <a:p>
            <a:pPr marL="274320" indent="-274320" algn="l">
              <a:spcBef>
                <a:spcPts val="440"/>
              </a:spcBef>
              <a:buFont typeface="Arial"/>
              <a:buChar char="•"/>
            </a:pPr>
            <a:r>
              <a:rPr lang="en-US" sz="1450" dirty="0">
                <a:solidFill>
                  <a:srgbClr val="000000"/>
                </a:solidFill>
                <a:latin typeface="Segoe UI"/>
                <a:cs typeface="Segoe UI"/>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nhân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Hiệu chỉnh theo kế hoạch, đọc CI, và trung thực về các ô trống.</a:t>
            </a:r>
          </a:p>
          <a:p>
            <a:pPr marL="0" indent="0" algn="ctr">
              <a:spcBef>
                <a:spcPts val="1200"/>
              </a:spcBef>
              <a:buNone/>
            </a:pPr>
            <a:r>
              <a:rPr lang="en-US" sz="1900" i="1" dirty="0">
                <a:solidFill>
                  <a:srgbClr val="595959"/>
                </a:solidFill>
                <a:latin typeface="Segoe UI"/>
                <a:cs typeface="Segoe UI"/>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SAP_FLUID-ICU.md: được viết và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Chính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Tử vong 28 ngày</a:t>
            </a:r>
          </a:p>
          <a:p>
            <a:pPr marL="0" indent="0" algn="l">
              <a:lnSpc>
                <a:spcPct val="104000"/>
              </a:lnSpc>
              <a:spcBef>
                <a:spcPts val="200"/>
              </a:spcBef>
              <a:buNone/>
            </a:pPr>
            <a:r>
              <a:rPr lang="en-US" sz="1500" dirty="0">
                <a:solidFill>
                  <a:srgbClr val="000000"/>
                </a:solidFill>
                <a:latin typeface="Segoe UI"/>
                <a:cs typeface="Segoe UI"/>
              </a:rPr>
              <a:t>hồi quy logistic,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Gây nhiễu</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Tuổi, SOFA, lactat,</a:t>
            </a:r>
          </a:p>
          <a:p>
            <a:pPr marL="0" indent="0" algn="l">
              <a:lnSpc>
                <a:spcPct val="104000"/>
              </a:lnSpc>
              <a:spcBef>
                <a:spcPts val="200"/>
              </a:spcBef>
              <a:buNone/>
            </a:pPr>
            <a:r>
              <a:rPr lang="en-US" sz="1500" dirty="0">
                <a:solidFill>
                  <a:srgbClr val="000000"/>
                </a:solidFill>
                <a:latin typeface="Segoe UI"/>
                <a:cs typeface="Segoe UI"/>
              </a:rPr>
              <a:t>vận mạch, thở máy,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Hỗ trợ</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Kaplan-Meier, log-rank</a:t>
            </a:r>
          </a:p>
          <a:p>
            <a:pPr marL="0" indent="0" algn="l">
              <a:lnSpc>
                <a:spcPct val="104000"/>
              </a:lnSpc>
              <a:spcBef>
                <a:spcPts val="200"/>
              </a:spcBef>
              <a:buNone/>
            </a:pPr>
            <a:r>
              <a:rPr lang="en-US" sz="1500" dirty="0">
                <a:solidFill>
                  <a:srgbClr val="000000"/>
                </a:solidFill>
                <a:latin typeface="Segoe UI"/>
                <a:cs typeface="Segoe UI"/>
              </a:rPr>
              <a:t>tỉ số nguy cơ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nhóm</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định trước:</a:t>
            </a:r>
          </a:p>
          <a:p>
            <a:pPr marL="0" indent="0" algn="l">
              <a:lnSpc>
                <a:spcPct val="104000"/>
              </a:lnSpc>
              <a:spcBef>
                <a:spcPts val="200"/>
              </a:spcBef>
              <a:buNone/>
            </a:pPr>
            <a:r>
              <a:rPr lang="en-US" sz="1500" dirty="0">
                <a:solidFill>
                  <a:srgbClr val="000000"/>
                </a:solidFill>
                <a:latin typeface="Segoe UI"/>
                <a:cs typeface="Segoe UI"/>
              </a:rPr>
              <a:t>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Dữ liệu thiếu</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Ca đầy đủ +</a:t>
            </a:r>
          </a:p>
          <a:p>
            <a:pPr marL="0" indent="0" algn="l">
              <a:lnSpc>
                <a:spcPct val="104000"/>
              </a:lnSpc>
              <a:spcBef>
                <a:spcPts val="200"/>
              </a:spcBef>
              <a:buNone/>
            </a:pPr>
            <a:r>
              <a:rPr lang="en-US" sz="15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từng dòng: so sánh gì, OR, 95% CI,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Cox: cùng câu chuyện bằng tỉ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Phân tích hỗ trợ của Q1 (04_models.R).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2.17</a:t>
            </a:r>
          </a:p>
          <a:p>
            <a:pPr marL="0" indent="0" algn="l">
              <a:lnSpc>
                <a:spcPct val="104000"/>
              </a:lnSpc>
              <a:spcBef>
                <a:spcPts val="400"/>
              </a:spcBef>
              <a:buNone/>
            </a:pPr>
            <a:r>
              <a:rPr lang="en-US" sz="1600" dirty="0">
                <a:solidFill>
                  <a:srgbClr val="000000"/>
                </a:solidFill>
                <a:latin typeface="Segoe UI"/>
                <a:cs typeface="Segoe UI"/>
              </a:rPr>
              <a:t>95% CI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1.46</a:t>
            </a:r>
          </a:p>
          <a:p>
            <a:pPr marL="0" indent="0" algn="l">
              <a:lnSpc>
                <a:spcPct val="104000"/>
              </a:lnSpc>
              <a:spcBef>
                <a:spcPts val="400"/>
              </a:spcBef>
              <a:buNone/>
            </a:pPr>
            <a:r>
              <a:rPr lang="en-US" sz="1600" dirty="0">
                <a:solidFill>
                  <a:srgbClr val="000000"/>
                </a:solidFill>
                <a:latin typeface="Segoe UI"/>
                <a:cs typeface="Segoe UI"/>
              </a:rPr>
              <a:t>95% CI 1.00 đến 2.13</a:t>
            </a:r>
          </a:p>
          <a:p>
            <a:pPr marL="0" indent="0" algn="l">
              <a:lnSpc>
                <a:spcPct val="104000"/>
              </a:lnSpc>
              <a:spcBef>
                <a:spcPts val="400"/>
              </a:spcBef>
              <a:buNone/>
            </a:pPr>
            <a:r>
              <a:rPr lang="en-US" sz="1600" dirty="0">
                <a:solidFill>
                  <a:srgbClr val="000000"/>
                </a:solidFill>
                <a:latin typeface="Segoe UI"/>
                <a:cs typeface="Segoe UI"/>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tỉ lệ:</a:t>
            </a:r>
          </a:p>
          <a:p>
            <a:pPr marL="0" indent="0" algn="l">
              <a:lnSpc>
                <a:spcPct val="104000"/>
              </a:lnSpc>
              <a:spcBef>
                <a:spcPts val="400"/>
              </a:spcBef>
              <a:buNone/>
            </a:pPr>
            <a:r>
              <a:rPr lang="en-US" sz="1600" dirty="0">
                <a:solidFill>
                  <a:srgbClr val="000000"/>
                </a:solidFill>
                <a:latin typeface="Segoe UI"/>
                <a:cs typeface="Segoe UI"/>
              </a:rPr>
              <a:t>kiểm định chung p = 0.10</a:t>
            </a:r>
          </a:p>
          <a:p>
            <a:pPr marL="0" indent="0" algn="l">
              <a:lnSpc>
                <a:spcPct val="104000"/>
              </a:lnSpc>
              <a:spcBef>
                <a:spcPts val="400"/>
              </a:spcBef>
              <a:buNone/>
            </a:pPr>
            <a:r>
              <a:rPr lang="en-US" sz="1600" dirty="0">
                <a:solidFill>
                  <a:srgbClr val="000000"/>
                </a:solidFill>
                <a:latin typeface="Segoe UI"/>
                <a:cs typeface="Segoe UI"/>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 1.62, p = 0.044</a:t>
            </a:r>
          </a:p>
          <a:p>
            <a:pPr marL="0" indent="0" algn="l">
              <a:lnSpc>
                <a:spcPct val="104000"/>
              </a:lnSpc>
              <a:spcBef>
                <a:spcPts val="400"/>
              </a:spcBef>
              <a:buNone/>
            </a:pPr>
            <a:r>
              <a:rPr lang="en-US" sz="1600" dirty="0">
                <a:solidFill>
                  <a:srgbClr val="000000"/>
                </a:solidFill>
                <a:latin typeface="Segoe UI"/>
                <a:cs typeface="Segoe UI"/>
              </a:rPr>
              <a:t>HR hiệu chỉnh 1.46, p = 0.053</a:t>
            </a:r>
          </a:p>
          <a:p>
            <a:pPr marL="0" indent="0" algn="l">
              <a:lnSpc>
                <a:spcPct val="104000"/>
              </a:lnSpc>
              <a:spcBef>
                <a:spcPts val="400"/>
              </a:spcBef>
              <a:buNone/>
            </a:pPr>
            <a:r>
              <a:rPr lang="en-US" sz="1600" dirty="0">
                <a:solidFill>
                  <a:srgbClr val="000000"/>
                </a:solidFill>
                <a:latin typeface="Segoe UI"/>
                <a:cs typeface="Segoe UI"/>
              </a:rPr>
              <a:t>Cùng hướng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0.044 và p = 0.053 kể cùng một câu chuyện: hãy đọc ước lượng và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Lactat thiếu chủ yếu ở bệnh nhân nhẹ hơn: không phải MCAR;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Ca đầy đủ so với đa phép gán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cả 620 bệnh nhân;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mô hình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ước lượng thô và hiệu chỉnh trong gói kết quả</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Hiệu chỉnh làm ước lượng thay đổi bao nhiêu?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95% CI hiệu chỉnh có chứa 1 (hoặc 0) không?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Phân tích độ nhạy dữ liệu thiếu có thay đổi câu trả lời không?</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hai câu Kết quả: thô, rồi hiệu chỉnh, kèm CI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Từ nên dùng</a:t>
            </a:r>
          </a:p>
          <a:p>
            <a:pPr marL="274320" indent="-274320" algn="l">
              <a:lnSpc>
                <a:spcPct val="104000"/>
              </a:lnSpc>
              <a:spcBef>
                <a:spcPts val="300"/>
              </a:spcBef>
              <a:buFont typeface="Arial"/>
              <a:buChar char="•"/>
            </a:pPr>
            <a:r>
              <a:rPr lang="en-US" sz="1500" dirty="0">
                <a:solidFill>
                  <a:srgbClr val="000000"/>
                </a:solidFill>
                <a:latin typeface="Segoe UI"/>
                <a:cs typeface="Segoe UI"/>
              </a:rPr>
              <a:t>'có liên quan với'</a:t>
            </a:r>
          </a:p>
          <a:p>
            <a:pPr marL="274320" indent="-274320" algn="l">
              <a:lnSpc>
                <a:spcPct val="104000"/>
              </a:lnSpc>
              <a:spcBef>
                <a:spcPts val="300"/>
              </a:spcBef>
              <a:buFont typeface="Arial"/>
              <a:buChar char="•"/>
            </a:pPr>
            <a:r>
              <a:rPr lang="en-US" sz="1500" dirty="0">
                <a:solidFill>
                  <a:srgbClr val="000000"/>
                </a:solidFill>
                <a:latin typeface="Segoe UI"/>
                <a:cs typeface="Segoe UI"/>
              </a:rPr>
              <a:t>'sau khi 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'95% CI'</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cho mô hình của nhóm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Cỡ mẫu</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40% so với 30%</a:t>
            </a:r>
          </a:p>
          <a:p>
            <a:pPr marL="0" indent="0" algn="l">
              <a:lnSpc>
                <a:spcPct val="104000"/>
              </a:lnSpc>
              <a:spcBef>
                <a:spcPts val="400"/>
              </a:spcBef>
              <a:buNone/>
            </a:pPr>
            <a:r>
              <a:rPr lang="en-US" sz="1600" dirty="0">
                <a:solidFill>
                  <a:srgbClr val="000000"/>
                </a:solidFill>
                <a:latin typeface="Segoe UI"/>
                <a:cs typeface="Segoe UI"/>
              </a:rPr>
              <a:t>power 80%, alpha 5%</a:t>
            </a:r>
          </a:p>
          <a:p>
            <a:pPr marL="0" indent="0" algn="l">
              <a:lnSpc>
                <a:spcPct val="104000"/>
              </a:lnSpc>
              <a:spcBef>
                <a:spcPts val="400"/>
              </a:spcBef>
              <a:buNone/>
            </a:pPr>
            <a:r>
              <a:rPr lang="en-US" sz="1600" dirty="0">
                <a:solidFill>
                  <a:srgbClr val="000000"/>
                </a:solidFill>
                <a:latin typeface="Segoe UI"/>
                <a:cs typeface="Segoe UI"/>
              </a:rPr>
              <a:t>356 mỗi nhóm + 10%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 phân tích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n (%), trung vị (IQR)</a:t>
            </a:r>
          </a:p>
          <a:p>
            <a:pPr marL="0" indent="0" algn="l">
              <a:lnSpc>
                <a:spcPct val="104000"/>
              </a:lnSpc>
              <a:spcBef>
                <a:spcPts val="400"/>
              </a:spcBef>
              <a:buNone/>
            </a:pPr>
            <a:r>
              <a:rPr lang="en-US" sz="1600" dirty="0">
                <a:solidFill>
                  <a:srgbClr val="000000"/>
                </a:solidFill>
                <a:latin typeface="Segoe UI"/>
                <a:cs typeface="Segoe UI"/>
              </a:rPr>
              <a:t>So sánh: khi bình phương</a:t>
            </a:r>
          </a:p>
          <a:p>
            <a:pPr marL="0" indent="0" algn="l">
              <a:lnSpc>
                <a:spcPct val="104000"/>
              </a:lnSpc>
              <a:spcBef>
                <a:spcPts val="400"/>
              </a:spcBef>
              <a:buNone/>
            </a:pPr>
            <a:r>
              <a:rPr lang="en-US" sz="1600" dirty="0">
                <a:solidFill>
                  <a:srgbClr val="000000"/>
                </a:solidFill>
                <a:latin typeface="Segoe UI"/>
                <a:cs typeface="Segoe UI"/>
              </a:rPr>
              <a:t>Báo cáo: RR + 95%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Yếu tố gây nhiễu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từ trước</a:t>
            </a:r>
          </a:p>
          <a:p>
            <a:pPr marL="0" indent="0" algn="l">
              <a:lnSpc>
                <a:spcPct val="104000"/>
              </a:lnSpc>
              <a:spcBef>
                <a:spcPts val="400"/>
              </a:spcBef>
              <a:buNone/>
            </a:pPr>
            <a:r>
              <a:rPr lang="en-US" sz="1600" dirty="0">
                <a:solidFill>
                  <a:srgbClr val="000000"/>
                </a:solidFill>
                <a:latin typeface="Segoe UI"/>
                <a:cs typeface="Segoe UI"/>
              </a:rPr>
              <a:t>khoảng 10 biến cố</a:t>
            </a:r>
          </a:p>
          <a:p>
            <a:pPr marL="0" indent="0" algn="l">
              <a:lnSpc>
                <a:spcPct val="104000"/>
              </a:lnSpc>
              <a:spcBef>
                <a:spcPts val="400"/>
              </a:spcBef>
              <a:buNone/>
            </a:pPr>
            <a:r>
              <a:rPr lang="en-US" sz="1600" dirty="0">
                <a:solidFill>
                  <a:srgbClr val="000000"/>
                </a:solidFill>
                <a:latin typeface="Segoe UI"/>
                <a:cs typeface="Segoe UI"/>
              </a:rPr>
              <a:t>mỗi biến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Dữ liệu thiếu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kiến thiếu + vì sao</a:t>
            </a:r>
          </a:p>
          <a:p>
            <a:pPr marL="0" indent="0" algn="l">
              <a:lnSpc>
                <a:spcPct val="104000"/>
              </a:lnSpc>
              <a:spcBef>
                <a:spcPts val="400"/>
              </a:spcBef>
              <a:buNone/>
            </a:pPr>
            <a:r>
              <a:rPr lang="en-US" sz="1600" dirty="0">
                <a:solidFill>
                  <a:srgbClr val="000000"/>
                </a:solidFill>
                <a:latin typeface="Segoe UI"/>
                <a:cs typeface="Segoe UI"/>
              </a:rPr>
              <a:t>Phòng ngừa</a:t>
            </a:r>
          </a:p>
          <a:p>
            <a:pPr marL="0" indent="0" algn="l">
              <a:lnSpc>
                <a:spcPct val="104000"/>
              </a:lnSpc>
              <a:spcBef>
                <a:spcPts val="400"/>
              </a:spcBef>
              <a:buNone/>
            </a:pPr>
            <a:r>
              <a:rPr lang="en-US" sz="1600" dirty="0">
                <a:solidFill>
                  <a:srgbClr val="000000"/>
                </a:solidFill>
                <a:latin typeface="Segoe UI"/>
                <a:cs typeface="Segoe UI"/>
              </a:rPr>
              <a:t>CC + kiểm tra MI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bao nhiêu bệnh nhân,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Câu phát biểu cỡ mẫu: 4 đầu vào và nguồn của chúng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Kế hoạch phân tích: tóm tắt, kiểm định hoặc mô hình, số đo tác động + 95% CI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Yếu tố gây nhiễu cần hiệu chỉnh, khoảng 10 biến cố mỗi biến (5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dữ liệu thiếu: dự kiến, phòng ngừa, cách xử lý chính, một phân tích độ nhạy (7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tính cỡ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SAP của FLUID-ICU làm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hoàn chỉnh trong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Không chắc chắn</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95% CI</a:t>
            </a:r>
          </a:p>
          <a:p>
            <a:pPr marL="0" indent="0" algn="l">
              <a:lnSpc>
                <a:spcPct val="104000"/>
              </a:lnSpc>
              <a:spcBef>
                <a:spcPts val="400"/>
              </a:spcBef>
              <a:buNone/>
            </a:pPr>
            <a:r>
              <a:rPr lang="en-US" sz="1600" dirty="0">
                <a:solidFill>
                  <a:srgbClr val="000000"/>
                </a:solidFill>
                <a:latin typeface="Segoe UI"/>
                <a:cs typeface="Segoe UI"/>
              </a:rPr>
              <a:t>Giá trị p</a:t>
            </a:r>
          </a:p>
          <a:p>
            <a:pPr marL="0" indent="0" algn="l">
              <a:lnSpc>
                <a:spcPct val="104000"/>
              </a:lnSpc>
              <a:spcBef>
                <a:spcPts val="400"/>
              </a:spcBef>
              <a:buNone/>
            </a:pPr>
            <a:r>
              <a:rPr lang="en-US" sz="1600" dirty="0">
                <a:solidFill>
                  <a:srgbClr val="000000"/>
                </a:solidFill>
                <a:latin typeface="Segoe UI"/>
                <a:cs typeface="Segoe UI"/>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 / Mann-Whitney</a:t>
            </a:r>
          </a:p>
          <a:p>
            <a:pPr marL="0" indent="0" algn="l">
              <a:lnSpc>
                <a:spcPct val="104000"/>
              </a:lnSpc>
              <a:spcBef>
                <a:spcPts val="400"/>
              </a:spcBef>
              <a:buNone/>
            </a:pPr>
            <a:r>
              <a:rPr lang="en-US" sz="1600" dirty="0">
                <a:solidFill>
                  <a:srgbClr val="000000"/>
                </a:solidFill>
                <a:latin typeface="Segoe UI"/>
                <a:cs typeface="Segoe UI"/>
              </a:rPr>
              <a:t>Khi bình phương</a:t>
            </a:r>
          </a:p>
          <a:p>
            <a:pPr marL="0" indent="0" algn="l">
              <a:lnSpc>
                <a:spcPct val="104000"/>
              </a:lnSpc>
              <a:spcBef>
                <a:spcPts val="400"/>
              </a:spcBef>
              <a:buNone/>
            </a:pPr>
            <a:r>
              <a:rPr lang="en-US" sz="1600" dirty="0">
                <a:solidFill>
                  <a:srgbClr val="000000"/>
                </a:solidFill>
                <a:latin typeface="Segoe UI"/>
                <a:cs typeface="Segoe UI"/>
              </a:rPr>
              <a:t>Ghép cặp</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hình</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a:t>
            </a:r>
          </a:p>
          <a:p>
            <a:pPr marL="0" indent="0" algn="l">
              <a:lnSpc>
                <a:spcPct val="104000"/>
              </a:lnSpc>
              <a:spcBef>
                <a:spcPts val="400"/>
              </a:spcBef>
              <a:buNone/>
            </a:pPr>
            <a:r>
              <a:rPr lang="en-US" sz="1600" dirty="0">
                <a:solidFill>
                  <a:srgbClr val="000000"/>
                </a:solidFill>
                <a:latin typeface="Segoe UI"/>
                <a:cs typeface="Segoe UI"/>
              </a:rPr>
              <a:t>Tỉ số nguy cơ (HR)</a:t>
            </a:r>
          </a:p>
          <a:p>
            <a:pPr marL="0" indent="0" algn="l">
              <a:lnSpc>
                <a:spcPct val="104000"/>
              </a:lnSpc>
              <a:spcBef>
                <a:spcPts val="400"/>
              </a:spcBef>
              <a:buNone/>
            </a:pPr>
            <a:r>
              <a:rPr lang="en-US" sz="1600" dirty="0">
                <a:solidFill>
                  <a:srgbClr val="000000"/>
                </a:solidFill>
                <a:latin typeface="Segoe UI"/>
                <a:cs typeface="Segoe UI"/>
              </a:rPr>
              <a:t>Kiểm duyệt</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Trung thực</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SAP</a:t>
            </a:r>
          </a:p>
          <a:p>
            <a:pPr marL="0" indent="0" algn="l">
              <a:lnSpc>
                <a:spcPct val="104000"/>
              </a:lnSpc>
              <a:spcBef>
                <a:spcPts val="400"/>
              </a:spcBef>
              <a:buNone/>
            </a:pPr>
            <a:r>
              <a:rPr lang="en-US" sz="1600" dirty="0">
                <a:solidFill>
                  <a:srgbClr val="000000"/>
                </a:solidFill>
                <a:latin typeface="Segoe UI"/>
                <a:cs typeface="Segoe UI"/>
              </a:rPr>
              <a:t>MCAR / MAR / MNAR</a:t>
            </a:r>
          </a:p>
          <a:p>
            <a:pPr marL="0" indent="0" algn="l">
              <a:lnSpc>
                <a:spcPct val="104000"/>
              </a:lnSpc>
              <a:spcBef>
                <a:spcPts val="400"/>
              </a:spcBef>
              <a:buNone/>
            </a:pPr>
            <a:r>
              <a:rPr lang="en-US" sz="16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Đọc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Tác động + 95% CI</a:t>
            </a:r>
          </a:p>
          <a:p>
            <a:pPr marL="0" indent="0" algn="l">
              <a:lnSpc>
                <a:spcPct val="104000"/>
              </a:lnSpc>
              <a:spcBef>
                <a:spcPts val="400"/>
              </a:spcBef>
              <a:buNone/>
            </a:pPr>
            <a:r>
              <a:rPr lang="en-US" sz="1750" dirty="0">
                <a:solidFill>
                  <a:srgbClr val="000000"/>
                </a:solidFill>
                <a:latin typeface="Segoe UI"/>
                <a:cs typeface="Segoe UI"/>
              </a:rPr>
              <a:t>Giá trị không tác động?</a:t>
            </a:r>
          </a:p>
          <a:p>
            <a:pPr marL="0" indent="0" algn="l">
              <a:lnSpc>
                <a:spcPct val="104000"/>
              </a:lnSpc>
              <a:spcBef>
                <a:spcPts val="400"/>
              </a:spcBef>
              <a:buNone/>
            </a:pPr>
            <a:r>
              <a:rPr lang="en-US" sz="1750" dirty="0">
                <a:solidFill>
                  <a:srgbClr val="000000"/>
                </a:solidFill>
                <a:latin typeface="Segoe UI"/>
                <a:cs typeface="Segoe UI"/>
              </a:rPr>
              <a:t>p chỉ là vai phụ</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Hiệu chỉnh trung thực</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Thô so với hiệu chỉnh</a:t>
            </a:r>
          </a:p>
          <a:p>
            <a:pPr marL="0" indent="0" algn="l">
              <a:lnSpc>
                <a:spcPct val="104000"/>
              </a:lnSpc>
              <a:spcBef>
                <a:spcPts val="400"/>
              </a:spcBef>
              <a:buNone/>
            </a:pPr>
            <a:r>
              <a:rPr lang="en-US" sz="1750" dirty="0">
                <a:solidFill>
                  <a:srgbClr val="000000"/>
                </a:solidFill>
                <a:latin typeface="Segoe UI"/>
                <a:cs typeface="Segoe UI"/>
              </a:rPr>
              <a:t>Gây nhiễu chọn</a:t>
            </a:r>
          </a:p>
          <a:p>
            <a:pPr marL="0" indent="0" algn="l">
              <a:lnSpc>
                <a:spcPct val="104000"/>
              </a:lnSpc>
              <a:spcBef>
                <a:spcPts val="400"/>
              </a:spcBef>
              <a:buNone/>
            </a:pPr>
            <a:r>
              <a:rPr lang="en-US" sz="1750" dirty="0">
                <a:solidFill>
                  <a:srgbClr val="000000"/>
                </a:solidFill>
                <a:latin typeface="Segoe UI"/>
                <a:cs typeface="Segoe UI"/>
              </a:rPr>
              <a:t>từ trước</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 trước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SAP trước dữ liệu</a:t>
            </a:r>
          </a:p>
          <a:p>
            <a:pPr marL="0" indent="0" algn="l">
              <a:lnSpc>
                <a:spcPct val="104000"/>
              </a:lnSpc>
              <a:spcBef>
                <a:spcPts val="400"/>
              </a:spcBef>
              <a:buNone/>
            </a:pPr>
            <a:r>
              <a:rPr lang="en-US" sz="1750" dirty="0">
                <a:solidFill>
                  <a:srgbClr val="000000"/>
                </a:solidFill>
                <a:latin typeface="Segoe UI"/>
                <a:cs typeface="Segoe UI"/>
              </a:rPr>
              <a:t>Dữ liệu thiếu: báo cáo,</a:t>
            </a:r>
          </a:p>
          <a:p>
            <a:pPr marL="0" indent="0" algn="l">
              <a:lnSpc>
                <a:spcPct val="104000"/>
              </a:lnSpc>
              <a:spcBef>
                <a:spcPts val="400"/>
              </a:spcBef>
              <a:buNone/>
            </a:pPr>
            <a:r>
              <a:rPr lang="en-US" sz="1750" dirty="0">
                <a:solidFill>
                  <a:srgbClr val="000000"/>
                </a:solidFill>
                <a:latin typeface="Segoe UI"/>
                <a:cs typeface="Segoe UI"/>
              </a:rPr>
              <a:t>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được lên kế hoạch trước, hiệu chỉnh trung thực và đọc qua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viết một câu giải thích '95% CI 1.48 đến 3.06' cho biết điều gì</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Phần 3 đề cương; chuẩn bị bài trình bày 6 phút</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lại gói kết quả: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Cuối tuần tới</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đạo đức, đăng ký</a:t>
            </a:r>
          </a:p>
          <a:p>
            <a:pPr marL="274320" indent="-274320" algn="l">
              <a:lnSpc>
                <a:spcPct val="104000"/>
              </a:lnSpc>
              <a:spcBef>
                <a:spcPts val="300"/>
              </a:spcBef>
              <a:buFont typeface="Arial"/>
              <a:buChar char="•"/>
            </a:pPr>
            <a:r>
              <a:rPr lang="en-US" sz="1500" dirty="0">
                <a:solidFill>
                  <a:srgbClr val="000000"/>
                </a:solidFill>
                <a:latin typeface="Segoe UI"/>
                <a:cs typeface="Segoe UI"/>
              </a:rPr>
              <a:t>Liêm chính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Viết Phương pháp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bài báo</a:t>
            </a:r>
          </a:p>
          <a:p>
            <a:pPr marL="274320" indent="-274320" algn="l">
              <a:lnSpc>
                <a:spcPct val="104000"/>
              </a:lnSpc>
              <a:spcBef>
                <a:spcPts val="300"/>
              </a:spcBef>
              <a:buFont typeface="Arial"/>
              <a:buChar char="•"/>
            </a:pPr>
            <a:r>
              <a:rPr lang="en-US" sz="1500" dirty="0">
                <a:solidFill>
                  <a:srgbClr val="000000"/>
                </a:solidFill>
                <a:latin typeface="Segoe UI"/>
                <a:cs typeface="Segoe UI"/>
              </a:rPr>
              <a:t>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Tương tác, giá trị không tác động, dự báo và học máy, chi tiết về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Mẫu cho ta một ước lượng; CI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Đọc khoảng tin cậy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Bài báo 1,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Trung vị 6.9 so với 35.0 ml/kg</a:t>
            </a:r>
          </a:p>
          <a:p>
            <a:pPr marL="0" indent="0" algn="l">
              <a:lnSpc>
                <a:spcPct val="104000"/>
              </a:lnSpc>
              <a:spcBef>
                <a:spcPts val="400"/>
              </a:spcBef>
              <a:buNone/>
            </a:pPr>
            <a:r>
              <a:rPr lang="en-US" sz="1750" dirty="0">
                <a:solidFill>
                  <a:srgbClr val="000000"/>
                </a:solidFill>
                <a:latin typeface="Segoe UI"/>
                <a:cs typeface="Segoe UI"/>
              </a:rPr>
              <a:t>Chênh lệch trung bình 13.2 ml/kg</a:t>
            </a:r>
          </a:p>
          <a:p>
            <a:pPr marL="0" indent="0" algn="l">
              <a:lnSpc>
                <a:spcPct val="104000"/>
              </a:lnSpc>
              <a:spcBef>
                <a:spcPts val="400"/>
              </a:spcBef>
              <a:buNone/>
            </a:pPr>
            <a:r>
              <a:rPr lang="en-US" sz="1750" dirty="0">
                <a:solidFill>
                  <a:srgbClr val="000000"/>
                </a:solidFill>
                <a:latin typeface="Segoe UI"/>
                <a:cs typeface="Segoe UI"/>
              </a:rPr>
              <a:t>95% CI -15.2 đến 41.6</a:t>
            </a:r>
          </a:p>
          <a:p>
            <a:pPr marL="0" indent="0" algn="l">
              <a:lnSpc>
                <a:spcPct val="104000"/>
              </a:lnSpc>
              <a:spcBef>
                <a:spcPts val="400"/>
              </a:spcBef>
              <a:buNone/>
            </a:pPr>
            <a:r>
              <a:rPr lang="en-US" sz="1750" dirty="0">
                <a:solidFill>
                  <a:srgbClr val="000000"/>
                </a:solidFill>
                <a:latin typeface="Segoe UI"/>
                <a:cs typeface="Segoe UI"/>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0 = không khác biệt</a:t>
            </a:r>
          </a:p>
          <a:p>
            <a:pPr marL="0" indent="0" algn="l">
              <a:lnSpc>
                <a:spcPct val="104000"/>
              </a:lnSpc>
              <a:spcBef>
                <a:spcPts val="400"/>
              </a:spcBef>
              <a:buNone/>
            </a:pPr>
            <a:r>
              <a:rPr lang="en-US" sz="1750" dirty="0">
                <a:solidFill>
                  <a:srgbClr val="000000"/>
                </a:solidFill>
                <a:latin typeface="Segoe UI"/>
                <a:cs typeface="Segoe UI"/>
              </a:rPr>
              <a:t>CI chứa số 0</a:t>
            </a:r>
          </a:p>
          <a:p>
            <a:pPr marL="0" indent="0" algn="l">
              <a:lnSpc>
                <a:spcPct val="104000"/>
              </a:lnSpc>
              <a:spcBef>
                <a:spcPts val="400"/>
              </a:spcBef>
              <a:buNone/>
            </a:pPr>
            <a:r>
              <a:rPr lang="en-US" sz="1750" dirty="0">
                <a:solidFill>
                  <a:srgbClr val="000000"/>
                </a:solidFill>
                <a:latin typeface="Segoe UI"/>
                <a:cs typeface="Segoe UI"/>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Từ 15 ml/kg theo một hướng</a:t>
            </a:r>
          </a:p>
          <a:p>
            <a:pPr marL="0" indent="0" algn="l">
              <a:lnSpc>
                <a:spcPct val="104000"/>
              </a:lnSpc>
              <a:spcBef>
                <a:spcPts val="400"/>
              </a:spcBef>
              <a:buNone/>
            </a:pPr>
            <a:r>
              <a:rPr lang="en-US" sz="1750" dirty="0">
                <a:solidFill>
                  <a:srgbClr val="000000"/>
                </a:solidFill>
                <a:latin typeface="Segoe UI"/>
                <a:cs typeface="Segoe UI"/>
              </a:rPr>
              <a:t>đến 42 ml/kg theo hướng kia</a:t>
            </a:r>
          </a:p>
          <a:p>
            <a:pPr marL="0" indent="0" algn="l">
              <a:lnSpc>
                <a:spcPct val="104000"/>
              </a:lnSpc>
              <a:spcBef>
                <a:spcPts val="400"/>
              </a:spcBef>
              <a:buNone/>
            </a:pPr>
            <a:r>
              <a:rPr lang="en-US" sz="1750" dirty="0">
                <a:solidFill>
                  <a:srgbClr val="000000"/>
                </a:solidFill>
                <a:latin typeface="Segoe UI"/>
                <a:cs typeface="Segoe UI"/>
              </a:rPr>
              <a:t>Rất kém chính xác: chỉ 48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có ý nghĩa' với CI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Biểu đồ rừng: ví dụ xuyên suốt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Bài báo 2 (Hyun 2023): cân bằng dịch tích lũy dương so với âm, các đoàn hệ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Ngày 1: CI cắt qua 1. Ngày 2 và 3: CI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Log-rank, Cox và nguy cơ tỉ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thuật ngữ anh chị sẽ gặp trong mọi bài báo về sống còn.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Kiểm định log-rank</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toàn bộ đường KM</a:t>
            </a:r>
          </a:p>
          <a:p>
            <a:pPr marL="0" indent="0" algn="l">
              <a:lnSpc>
                <a:spcPct val="104000"/>
              </a:lnSpc>
              <a:spcBef>
                <a:spcPts val="400"/>
              </a:spcBef>
              <a:buNone/>
            </a:pPr>
            <a:r>
              <a:rPr lang="en-US" sz="1750" dirty="0">
                <a:solidFill>
                  <a:srgbClr val="000000"/>
                </a:solidFill>
                <a:latin typeface="Segoe UI"/>
                <a:cs typeface="Segoe UI"/>
              </a:rPr>
              <a:t>Cho giá trị p</a:t>
            </a:r>
          </a:p>
          <a:p>
            <a:pPr marL="0" indent="0" algn="l">
              <a:lnSpc>
                <a:spcPct val="104000"/>
              </a:lnSpc>
              <a:spcBef>
                <a:spcPts val="400"/>
              </a:spcBef>
              <a:buNone/>
            </a:pPr>
            <a:r>
              <a:rPr lang="en-US" sz="1750" dirty="0">
                <a:solidFill>
                  <a:srgbClr val="000000"/>
                </a:solidFill>
                <a:latin typeface="Segoe UI"/>
                <a:cs typeface="Segoe UI"/>
              </a:rPr>
              <a:t>Không cho độ lớn, không hiệu chỉnh</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Hồi quy Cox</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Cho tỉ số nguy cơ tức thời (HR)</a:t>
            </a:r>
          </a:p>
          <a:p>
            <a:pPr marL="0" indent="0" algn="l">
              <a:lnSpc>
                <a:spcPct val="104000"/>
              </a:lnSpc>
              <a:spcBef>
                <a:spcPts val="400"/>
              </a:spcBef>
              <a:buNone/>
            </a:pPr>
            <a:r>
              <a:rPr lang="en-US" sz="1750" dirty="0">
                <a:solidFill>
                  <a:srgbClr val="000000"/>
                </a:solidFill>
                <a:latin typeface="Segoe UI"/>
                <a:cs typeface="Segoe UI"/>
              </a:rPr>
              <a:t>kèm 95% CI, không tác động = 1</a:t>
            </a:r>
          </a:p>
          <a:p>
            <a:pPr marL="0" indent="0" algn="l">
              <a:lnSpc>
                <a:spcPct val="104000"/>
              </a:lnSpc>
              <a:spcBef>
                <a:spcPts val="400"/>
              </a:spcBef>
              <a:buNone/>
            </a:pPr>
            <a:r>
              <a:rPr lang="en-US" sz="1750" dirty="0">
                <a:solidFill>
                  <a:srgbClr val="000000"/>
                </a:solidFill>
                <a:latin typeface="Segoe UI"/>
                <a:cs typeface="Segoe UI"/>
              </a:rPr>
              <a:t>Hiệu chỉnh được yếu tố gây nhiễu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Nguy cơ tỉ lệ</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Giả định HR không đổi</a:t>
            </a:r>
          </a:p>
          <a:p>
            <a:pPr marL="0" indent="0" algn="l">
              <a:lnSpc>
                <a:spcPct val="104000"/>
              </a:lnSpc>
              <a:spcBef>
                <a:spcPts val="400"/>
              </a:spcBef>
              <a:buNone/>
            </a:pPr>
            <a:r>
              <a:rPr lang="en-US" sz="1750" dirty="0">
                <a:solidFill>
                  <a:srgbClr val="000000"/>
                </a:solidFill>
                <a:latin typeface="Segoe UI"/>
                <a:cs typeface="Segoe UI"/>
              </a:rPr>
              <a:t>theo thời gian</a:t>
            </a:r>
          </a:p>
          <a:p>
            <a:pPr marL="0" indent="0" algn="l">
              <a:lnSpc>
                <a:spcPct val="104000"/>
              </a:lnSpc>
              <a:spcBef>
                <a:spcPts val="400"/>
              </a:spcBef>
              <a:buNone/>
            </a:pPr>
            <a:r>
              <a:rPr lang="en-US" sz="1750" dirty="0">
                <a:solidFill>
                  <a:srgbClr val="000000"/>
                </a:solidFill>
                <a:latin typeface="Segoe UI"/>
                <a:cs typeface="Segoe UI"/>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Bài báo 2: Cox HR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Đường 'không tác động': 0 cho hiệu số, 1 cho tỉ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giá trị không tác động trước, rồi xem CI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Mô hình dự báo tốt phân biệt được bệnh nhân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Học máy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đoán nguy cơ từng người</a:t>
            </a:r>
          </a:p>
          <a:p>
            <a:pPr marL="0" indent="0" algn="l">
              <a:lnSpc>
                <a:spcPct val="104000"/>
              </a:lnSpc>
              <a:spcBef>
                <a:spcPts val="400"/>
              </a:spcBef>
              <a:buNone/>
            </a:pPr>
            <a:r>
              <a:rPr lang="en-US" sz="1600" dirty="0">
                <a:solidFill>
                  <a:srgbClr val="000000"/>
                </a:solidFill>
                <a:latin typeface="Segoe UI"/>
                <a:cs typeface="Segoe UI"/>
              </a:rPr>
              <a:t>Không để giải thích nguyên nhân</a:t>
            </a:r>
          </a:p>
          <a:p>
            <a:pPr marL="0" indent="0" algn="l">
              <a:lnSpc>
                <a:spcPct val="104000"/>
              </a:lnSpc>
              <a:spcBef>
                <a:spcPts val="400"/>
              </a:spcBef>
              <a:buNone/>
            </a:pPr>
            <a:r>
              <a:rPr lang="en-US" sz="1600" dirty="0">
                <a:solidFill>
                  <a:srgbClr val="000000"/>
                </a:solidFill>
                <a:latin typeface="Segoe UI"/>
                <a:cs typeface="Segoe UI"/>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Học máy cần RẤT NHIỀU biến cố</a:t>
            </a:r>
          </a:p>
          <a:p>
            <a:pPr marL="0" indent="0" algn="l">
              <a:lnSpc>
                <a:spcPct val="104000"/>
              </a:lnSpc>
              <a:spcBef>
                <a:spcPts val="400"/>
              </a:spcBef>
              <a:buNone/>
            </a:pPr>
            <a:r>
              <a:rPr lang="en-US" sz="1600" dirty="0">
                <a:solidFill>
                  <a:srgbClr val="000000"/>
                </a:solidFill>
                <a:latin typeface="Segoe UI"/>
                <a:cs typeface="Segoe UI"/>
              </a:rPr>
              <a:t>Nguy cơ quá khớp cao</a:t>
            </a:r>
          </a:p>
          <a:p>
            <a:pPr marL="0" indent="0" algn="l">
              <a:lnSpc>
                <a:spcPct val="104000"/>
              </a:lnSpc>
              <a:spcBef>
                <a:spcPts val="400"/>
              </a:spcBef>
              <a:buNone/>
            </a:pPr>
            <a:r>
              <a:rPr lang="en-US" sz="1600" dirty="0">
                <a:solidFill>
                  <a:srgbClr val="000000"/>
                </a:solidFill>
                <a:latin typeface="Segoe UI"/>
                <a:cs typeface="Segoe UI"/>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Phân biệt (AUC)</a:t>
            </a:r>
          </a:p>
          <a:p>
            <a:pPr marL="0" indent="0" algn="l">
              <a:lnSpc>
                <a:spcPct val="104000"/>
              </a:lnSpc>
              <a:spcBef>
                <a:spcPts val="400"/>
              </a:spcBef>
              <a:buNone/>
            </a:pPr>
            <a:r>
              <a:rPr lang="en-US" sz="1600" dirty="0">
                <a:solidFill>
                  <a:srgbClr val="000000"/>
                </a:solidFill>
                <a:latin typeface="Segoe UI"/>
                <a:cs typeface="Segoe UI"/>
              </a:rPr>
              <a:t>Biểu đồ hiệu chuẩn</a:t>
            </a:r>
          </a:p>
          <a:p>
            <a:pPr marL="0" indent="0" algn="l">
              <a:lnSpc>
                <a:spcPct val="104000"/>
              </a:lnSpc>
              <a:spcBef>
                <a:spcPts val="400"/>
              </a:spcBef>
              <a:buNone/>
            </a:pPr>
            <a:r>
              <a:rPr lang="en-US" sz="1600" dirty="0">
                <a:solidFill>
                  <a:srgbClr val="000000"/>
                </a:solidFill>
                <a:latin typeface="Segoe UI"/>
                <a:cs typeface="Segoe UI"/>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TRIPOD+AI</a:t>
            </a:r>
          </a:p>
          <a:p>
            <a:pPr marL="0" indent="0" algn="l">
              <a:lnSpc>
                <a:spcPct val="104000"/>
              </a:lnSpc>
              <a:spcBef>
                <a:spcPts val="400"/>
              </a:spcBef>
              <a:buNone/>
            </a:pPr>
            <a:r>
              <a:rPr lang="en-US" sz="1600" dirty="0">
                <a:solidFill>
                  <a:srgbClr val="000000"/>
                </a:solidFill>
                <a:latin typeface="Segoe UI"/>
                <a:cs typeface="Segoe UI"/>
              </a:rPr>
              <a:t>Mã, dữ liệu, công bằng</a:t>
            </a:r>
          </a:p>
          <a:p>
            <a:pPr marL="0" indent="0" algn="l">
              <a:lnSpc>
                <a:spcPct val="104000"/>
              </a:lnSpc>
              <a:spcBef>
                <a:spcPts val="400"/>
              </a:spcBef>
              <a:buNone/>
            </a:pPr>
            <a:r>
              <a:rPr lang="en-US" sz="1600" dirty="0">
                <a:solidFill>
                  <a:srgbClr val="000000"/>
                </a:solidFill>
                <a:latin typeface="Segoe UI"/>
                <a:cs typeface="Segoe UI"/>
              </a:rPr>
              <a:t>Tác động lên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Phân tích ca đầy đủ và đa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mọi bệnh nhân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điều người phản biện sẽ tìm.</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Số thiếu theo từng biến</a:t>
            </a:r>
          </a:p>
          <a:p>
            <a:pPr marL="0" indent="0" algn="l">
              <a:lnSpc>
                <a:spcPct val="104000"/>
              </a:lnSpc>
              <a:spcBef>
                <a:spcPts val="400"/>
              </a:spcBef>
              <a:buNone/>
            </a:pPr>
            <a:r>
              <a:rPr lang="en-US" sz="1600" dirty="0">
                <a:solidFill>
                  <a:srgbClr val="000000"/>
                </a:solidFill>
                <a:latin typeface="Segoe UI"/>
                <a:cs typeface="Segoe UI"/>
              </a:rPr>
              <a:t>Sơ đồ: ai và vì sao</a:t>
            </a:r>
          </a:p>
          <a:p>
            <a:pPr marL="0" indent="0" algn="l">
              <a:lnSpc>
                <a:spcPct val="104000"/>
              </a:lnSpc>
              <a:spcBef>
                <a:spcPts val="400"/>
              </a:spcBef>
              <a:buNone/>
            </a:pPr>
            <a:r>
              <a:rPr lang="en-US" sz="1600" dirty="0">
                <a:solidFill>
                  <a:srgbClr val="000000"/>
                </a:solidFill>
                <a:latin typeface="Segoe UI"/>
                <a:cs typeface="Segoe UI"/>
              </a:rPr>
              <a:t>Trong Bảng 1 hoặc chú thích</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Bệnh nhân có và không có</a:t>
            </a:r>
          </a:p>
          <a:p>
            <a:pPr marL="0" indent="0" algn="l">
              <a:lnSpc>
                <a:spcPct val="104000"/>
              </a:lnSpc>
              <a:spcBef>
                <a:spcPts val="400"/>
              </a:spcBef>
              <a:buNone/>
            </a:pPr>
            <a:r>
              <a:rPr lang="en-US" sz="1600" dirty="0">
                <a:solidFill>
                  <a:srgbClr val="000000"/>
                </a:solidFill>
                <a:latin typeface="Segoe UI"/>
                <a:cs typeface="Segoe UI"/>
              </a:rPr>
              <a:t>dữ liệu đầy đủ</a:t>
            </a:r>
          </a:p>
          <a:p>
            <a:pPr marL="0" indent="0" algn="l">
              <a:lnSpc>
                <a:spcPct val="104000"/>
              </a:lnSpc>
              <a:spcBef>
                <a:spcPts val="400"/>
              </a:spcBef>
              <a:buNone/>
            </a:pPr>
            <a:r>
              <a:rPr lang="en-US" sz="1600" dirty="0">
                <a:solidFill>
                  <a:srgbClr val="000000"/>
                </a:solidFill>
                <a:latin typeface="Segoe UI"/>
                <a:cs typeface="Segoe UI"/>
              </a:rPr>
              <a:t>Họ có khác nhau không?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Độ nhạy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Ca đầy đủ so với đa phép gán</a:t>
            </a:r>
          </a:p>
          <a:p>
            <a:pPr marL="0" indent="0" algn="l">
              <a:lnSpc>
                <a:spcPct val="104000"/>
              </a:lnSpc>
              <a:spcBef>
                <a:spcPts val="400"/>
              </a:spcBef>
              <a:buNone/>
            </a:pPr>
            <a:r>
              <a:rPr lang="en-US" sz="1600" dirty="0">
                <a:solidFill>
                  <a:srgbClr val="000000"/>
                </a:solidFill>
                <a:latin typeface="Segoe UI"/>
                <a:cs typeface="Segoe UI"/>
              </a:rPr>
              <a:t>Kịch bản tốt nhất / xấu nhất</a:t>
            </a:r>
          </a:p>
          <a:p>
            <a:pPr marL="0" indent="0" algn="l">
              <a:lnSpc>
                <a:spcPct val="104000"/>
              </a:lnSpc>
              <a:spcBef>
                <a:spcPts val="400"/>
              </a:spcBef>
              <a:buNone/>
            </a:pPr>
            <a:r>
              <a:rPr lang="en-US" sz="1600" dirty="0">
                <a:solidFill>
                  <a:srgbClr val="000000"/>
                </a:solidFill>
                <a:latin typeface="Segoe UI"/>
                <a:cs typeface="Segoe UI"/>
              </a:rPr>
              <a:t>Cùng kết luận?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Viết trong SAP</a:t>
            </a:r>
          </a:p>
          <a:p>
            <a:pPr marL="0" indent="0" algn="l">
              <a:lnSpc>
                <a:spcPct val="104000"/>
              </a:lnSpc>
              <a:spcBef>
                <a:spcPts val="400"/>
              </a:spcBef>
              <a:buNone/>
            </a:pPr>
            <a:r>
              <a:rPr lang="en-US" sz="1600" dirty="0">
                <a:solidFill>
                  <a:srgbClr val="000000"/>
                </a:solidFill>
                <a:latin typeface="Segoe UI"/>
                <a:cs typeface="Segoe UI"/>
              </a:rPr>
              <a:t>trước khi thấy dữ liệu</a:t>
            </a:r>
          </a:p>
          <a:p>
            <a:pPr marL="0" indent="0" algn="l">
              <a:lnSpc>
                <a:spcPct val="104000"/>
              </a:lnSpc>
              <a:spcBef>
                <a:spcPts val="400"/>
              </a:spcBef>
              <a:buNone/>
            </a:pPr>
            <a:r>
              <a:rPr lang="en-US" sz="1600" dirty="0">
                <a:solidFill>
                  <a:srgbClr val="000000"/>
                </a:solidFill>
                <a:latin typeface="Segoe UI"/>
                <a:cs typeface="Segoe UI"/>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