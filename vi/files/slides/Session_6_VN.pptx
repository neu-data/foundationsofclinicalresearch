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6 (19:30-22:30, giải lao 20:40-20:55). Buổi nặng về kỹ thuật nhất: đi chậm, bỏ trang bổ sung, không bỏ câu kiểm tra.</a:t>
            </a:r>
          </a:p>
          <a:p>
            <a:r>
              <a:rPr lang="en-US" sz="1400" b="0" dirty="0"/>
              <a:t>FLUID-ICU xuất hiện lại ở 6.2 (so sánh) và 6.4 (mô hình, sống còn, dữ liệu thiếu): Q1 đầy đủ, Q2 đến Q5 ngắn gọn.</a:t>
            </a:r>
          </a:p>
          <a:p>
            <a:r>
              <a:rPr lang="en-US" sz="1400" b="0" dirty="0"/>
              <a:t>Cuối buổi, mỗi học viên chọn một câu hỏi để viết phần Kết quả và nhận hướng dẫn bài tập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Q1 bằng thăm dò, Q2 và Q3: mời hai hoặc ba người trả lời. Rồi mở đáp án.</a:t>
            </a:r>
          </a:p>
          <a:p>
            <a:r>
              <a:rPr lang="en-US" sz="1400" b="0" dirty="0"/>
              <a:t>Q1: trung vị (IQR). Q2: đơn vị, thời điểm, lựa chọn 'không làm'. Q3: kiểm tra khoảng giá trị. Nhật ký ghi mã người bệnh, giá trị, việc đã làm, lý do, ai làm và khi nào.</a:t>
            </a:r>
          </a:p>
          <a:p>
            <a:r>
              <a:rPr lang="en-US" sz="1400" b="0" dirty="0"/>
              <a:t>Trước đó, đọc ba hoặc bốn câu trả lời cuối Buổi 5 và sửa các hiểu lầm.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6.1 (19:40-20:20).</a:t>
            </a:r>
          </a:p>
          <a:p>
            <a:r>
              <a:rPr lang="en-US" sz="1400" b="0" dirty="0"/>
              <a:t>Ta nghiên cứu một mẫu và dùng thống kê để nói câu trả lời có thể cách sự thật bao xa.</a:t>
            </a:r>
          </a:p>
          <a:p>
            <a:r>
              <a:rPr lang="en-US" sz="1400" b="0" dirty="0"/>
              <a:t>Trấn an: đọc đúng KTC và giá trị p đã là hơn nhiều tác giả có bài đăng.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quan trọng nhất tối nay. Cùng một nghiên cứu lặp 20 lần, mỗi lần 25 người bệnh: 19 khoảng chứa giá trị thật, một khoảng trượt. Đó là ý nghĩa của '95%'.</a:t>
            </a:r>
          </a:p>
          <a:p>
            <a:r>
              <a:rPr lang="en-US" sz="1400" b="0" dirty="0"/>
              <a:t>Ngoài đời, ta chỉ thấy một khoảng và không bao giờ thấy đường nét đứt.</a:t>
            </a:r>
          </a:p>
          <a:p>
            <a:r>
              <a:rPr lang="en-US" sz="1400" b="0" dirty="0"/>
              <a:t>Cách nói an toàn: 'một khoảng các giá trị hợp lý'.</a:t>
            </a:r>
          </a:p>
          <a:p>
            <a:r>
              <a:rPr lang="en-US" sz="1400" b="0" dirty="0"/>
              <a:t>Hỏi: điều gì làm khoảng ngắn lại? Kỳ vọng: nhiều người bệnh hơn, ít biến thiên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Hãy hình dung không có khác biệt thật (H0): riêng sự ngẫu nhiên đã làm kết quả dao động quanh số 0. Giá trị p là vùng màu cam: các kết quả ít nhất cũng cực đoan như kết quả của ta.</a:t>
            </a:r>
          </a:p>
          <a:p>
            <a:r>
              <a:rPr lang="en-US" sz="1400" b="0" dirty="0"/>
              <a:t>p = 0.04: đáng ngạc nhiên nếu không có khác biệt. p = 0.42 (Bài báo 1): không đáng ngạc nhiên, nhưng không chứng minh là không có khác biệt.</a:t>
            </a:r>
          </a:p>
          <a:p>
            <a:r>
              <a:rPr lang="en-US" sz="1400" b="0" dirty="0"/>
              <a:t>0.05 chỉ là quy ước: 0.049 và 0.051 là cùng một mức bằng chứng.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Mặc định là hai phía: lợi ích và tác hại đều được tính. Bài báo 1 và SAP của FLUID-ICU dùng kiểm định hai phía.</a:t>
            </a:r>
          </a:p>
          <a:p>
            <a:r>
              <a:rPr lang="en-US" sz="1400" b="0" dirty="0"/>
              <a:t>Một phía làm giá trị p giảm một nửa: chỉ chấp nhận khi có lý do ghi trước khi có dữ liệu. Đổi sau khi xem kết quả là p-hacking.</a:t>
            </a:r>
          </a:p>
          <a:p>
            <a:r>
              <a:rPr lang="en-US" sz="1400" b="0" dirty="0"/>
              <a:t>Không kém hơn là một thiết kế khác, có ngưỡng riêng.</a:t>
            </a:r>
          </a:p>
          <a:p>
            <a:r>
              <a:rPr lang="en-US" sz="1400" b="0" dirty="0"/>
              <a:t>Thăm dò: 'p một phía = 0.03' không giải thích lý do. Có thuyết phục không? Kỳ vọng: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thăm dò đúng/sai nhanh với từng thẻ trước khi giải thích.</a:t>
            </a:r>
          </a:p>
          <a:p>
            <a:r>
              <a:rPr lang="en-US" sz="1400" b="0" dirty="0"/>
              <a:t>1: p giả định H0, không phải xác suất của H0. 2: p rất nhỏ vẫn có thể đi với tác động không đáng kể. 3: Bài báo 1, p = 0.42 với KTC rộng nghĩa là 'chưa biết'. 4: không dùng 'xu hướng'. 5: nêu tác động và KTC, như Bài báo 2 (HR 2.13, 1.48-3.06).</a:t>
            </a:r>
          </a:p>
          <a:p>
            <a:r>
              <a:rPr lang="en-US" sz="1400" b="0" dirty="0"/>
              <a:t>Cũng có trong Bài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(3 phút), mỗi câu một thăm dò đúng/sai.</a:t>
            </a:r>
          </a:p>
          <a:p>
            <a:r>
              <a:rPr lang="en-US" sz="1400" b="0" dirty="0"/>
              <a:t>1 đúng. 2 sai: không có bằng chứng không phải là bằng chứng không có. 3 sai: p giả định không có tác động. 4 đúng.</a:t>
            </a:r>
          </a:p>
          <a:p>
            <a:r>
              <a:rPr lang="en-US" sz="1400" b="0" dirty="0"/>
              <a:t>Nếu lớp chia đôi ở câu 2 hoặc 3, quay lại hình giá trị 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định giống chuông báo cháy. Sai lầm loại I: báo động giả (alpha, 5%). Sai lầm loại II: bỏ sót đám cháy (beta). Lực mẫu: chuông reo khi có cháy (mục tiêu 80-90%).</a:t>
            </a:r>
          </a:p>
          <a:p>
            <a:r>
              <a:rPr lang="en-US" sz="1400" b="0" dirty="0"/>
              <a:t>Một thử nghiệm nhỏ 'âm tính' có thể là bỏ sót đám cháy: Bài báo 1 là nghiên cứu thí điểm.</a:t>
            </a:r>
          </a:p>
          <a:p>
            <a:r>
              <a:rPr lang="en-US" sz="1400" b="0" dirty="0"/>
              <a:t>Hỏi: sai lầm nào tệ hơn với một thuốc đắt và nhiều rủi ro? Với một can thiệp rẻ và an toàn?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Cần ít người bệnh hơn khi khác biệt lớn hơn và người bệnh ít biến thiên hơn.</a:t>
            </a:r>
          </a:p>
          <a:p>
            <a:r>
              <a:rPr lang="en-US" sz="1400" b="0" dirty="0"/>
              <a:t>Giảm khác biệt một nửa: cần khoảng gấp bốn số người bệnh.</a:t>
            </a:r>
          </a:p>
          <a:p>
            <a:r>
              <a:rPr lang="en-US" sz="1400" b="0" dirty="0"/>
              <a:t>Bài báo 1: 70 so với 40 ml/kg, SD 35, lực mẫu 80%: 22 người mỗi nhóm, tổng 50 khi tính cả tử vong.</a:t>
            </a:r>
          </a:p>
          <a:p>
            <a:r>
              <a:rPr lang="en-US" sz="1400" b="0" dirty="0"/>
              <a:t>Tác động kỳ vọng lấy từ nghiên cứu trước hoặc khác biệt nhỏ nhất đủ để thay đổi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5 phút. Kịch bản: s6_demo_VN.md, Phần A.</a:t>
            </a:r>
          </a:p>
          <a:p>
            <a:r>
              <a:rPr lang="en-US" sz="1400" b="0" dirty="0"/>
              <a:t>Tái lập Bài báo 1 (70 so với 40, SD 35): 22 người mỗi nhóm. Rồi tử vong 40% so với 30%: khoảng 356 người mỗi nhóm.</a:t>
            </a:r>
          </a:p>
          <a:p>
            <a:r>
              <a:rPr lang="en-US" sz="1400" b="0" dirty="0"/>
              <a:t>Đổi từng thông số một và cho lớp đoán chiều thay đổi trước.</a:t>
            </a:r>
          </a:p>
          <a:p>
            <a:r>
              <a:rPr lang="en-US" sz="1400" b="0" dirty="0"/>
              <a:t>Khi mất mạng: bảng tính cỡ mẫu. Học viên quan sát và dự đoán, không tự tính.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câu hỏi chọn kiểm định: biến số hay biến phân nhóm, rồi hình dạng hay số đếm. Dữ liệu bắt cặp dùng cột cuối.</a:t>
            </a:r>
          </a:p>
          <a:p>
            <a:r>
              <a:rPr lang="en-US" sz="1400" b="0" dirty="0"/>
              <a:t>Bài báo 1 dùng Mann-Whitney vì cân bằng dịch phân bố lệch.</a:t>
            </a:r>
          </a:p>
          <a:p>
            <a:r>
              <a:rPr lang="en-US" sz="1400" b="0" dirty="0"/>
              <a:t>Ba nhóm trở lên: chỉ nhắc ANOVA hoặc Kruskal-Wallis.</a:t>
            </a:r>
          </a:p>
          <a:p>
            <a:r>
              <a:rPr lang="en-US" sz="1400" b="0" dirty="0"/>
              <a:t>Hỏi: AKI ở 24 so với 24 người bệnh, 3 và 7 biến cố? Kỳ vọng: Fisher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20 người bệnh: vẽ thành hai đám mây thì thay đổi bị che, nối thành cặp thì đường nào cũng đi xuống. Mỗi người bệnh là đối chứng của chính mình.</a:t>
            </a:r>
          </a:p>
          <a:p>
            <a:r>
              <a:rPr lang="en-US" sz="1400" b="0" dirty="0"/>
              <a:t>Lỗi thường gặp: dùng kiểm định không bắt cặp cho dữ liệu trước/sau.</a:t>
            </a:r>
          </a:p>
          <a:p>
            <a:r>
              <a:rPr lang="en-US" sz="1400" b="0" dirty="0"/>
              <a:t>Hỏi: điểm đau trước và sau phác đồ mới ở 30 người bệnh? Kỳ vọng: bắt cặp.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định 20 màu khi không có tác động thật, sẽ có một màu ra p = 0.03. Với 20 kiểm định, khả năng có ít nhất một báo động giả khoảng 64%.</a:t>
            </a:r>
          </a:p>
          <a:p>
            <a:r>
              <a:rPr lang="en-US" sz="1400" b="0" dirty="0"/>
              <a:t>Cách khắc phục: một kết cục chính định trước, các phân tích khác là thăm dò, Bonferroni nếu cần, báo cáo mọi kiểm định.</a:t>
            </a:r>
          </a:p>
          <a:p>
            <a:r>
              <a:rPr lang="en-US" sz="1400" b="0" dirty="0"/>
              <a:t>Hỏi: 12 phân nhóm, một nhóm có p = 0.04. Có tin không? Kỳ vọng: không nhiều.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(3 phút), mỗi tình huống một thăm dò.</a:t>
            </a:r>
          </a:p>
          <a:p>
            <a:r>
              <a:rPr lang="en-US" sz="1400" b="0" dirty="0"/>
              <a:t>1 Mann-Whitney (phân bố lệch, đây là Q5). 2 khi bình phương. 3 t-test bắt cặp. 4 Fisher chính xác.</a:t>
            </a:r>
          </a:p>
          <a:p>
            <a:r>
              <a:rPr lang="en-US" sz="1400" b="0" dirty="0"/>
              <a:t>Tiếp theo: các kiểm định này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6.2 (20:20-20:40).</a:t>
            </a:r>
          </a:p>
          <a:p>
            <a:r>
              <a:rPr lang="en-US" sz="1400" b="0" dirty="0"/>
              <a:t>Bảng chọn kiểm định áp dụng cho FLUID-ICU. Mọi so sánh đều chưa hiệu chỉnh: nhóm cân bằng dương nặng hơn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s6_demo_VN.md, Phần B (03_compare.R).</a:t>
            </a:r>
          </a:p>
          <a:p>
            <a:r>
              <a:rPr lang="en-US" sz="1400" b="0" dirty="0"/>
              <a:t>Mời một người gọi tên kiểm định trước mỗi lần chạy.</a:t>
            </a:r>
          </a:p>
          <a:p>
            <a:r>
              <a:rPr lang="en-US" sz="1400" b="0" dirty="0"/>
              <a:t>Cho xem tử vong dạng bảng 2x2: 134/373 (35.9%) so với 45/245 (18.4%). Kết thúc bằng t-test sai trên thời gian nằm ICU phân bố lệch.</a:t>
            </a:r>
          </a:p>
          <a:p>
            <a:r>
              <a:rPr lang="en-US" sz="1400" b="0" dirty="0"/>
              <a:t>Nếu R lỗi, dùng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loại kết cục một kiểm định, mỗi kết quả đọc thành một tác động.</a:t>
            </a:r>
          </a:p>
          <a:p>
            <a:r>
              <a:rPr lang="en-US" sz="1400" b="0" dirty="0"/>
              <a:t>Tử vong (Q1): chênh lệch nguy cơ 17.6 điểm (10.7 đến 24.4). AKI (Q2): 61.7% so với 29.0%. Số ngày không thở máy (Q3): trung vị 20 so với 28. Thời gian nằm ICU ở người sống sót (Q5): chênh 2.5 ngày (1.8 đến 3.2).</a:t>
            </a:r>
          </a:p>
          <a:p>
            <a:r>
              <a:rPr lang="en-US" sz="1400" b="0" dirty="0"/>
              <a:t>Tất cả chưa hiệu chỉnh: lẫn ảnh hưởng của dịch và mức độ nặng.</a:t>
            </a:r>
          </a:p>
          <a:p>
            <a:r>
              <a:rPr lang="en-US" sz="1400" b="0" dirty="0"/>
              <a:t>Hỏi: số nào đưa vào tóm tắt? Kỳ vọng: tác động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bảng 2x2 của Buổi 4 áp dụng cho bộ dữ liệu.</a:t>
            </a:r>
          </a:p>
          <a:p>
            <a:r>
              <a:rPr lang="en-US" sz="1400" b="0" dirty="0"/>
              <a:t>35.9% so với 18.4%: chênh 17.6 điểm (10.7 đến 24.4), RR 1.96, p &lt; 0.001.</a:t>
            </a:r>
          </a:p>
          <a:p>
            <a:r>
              <a:rPr lang="en-US" sz="1400" b="0" dirty="0"/>
              <a:t>Nhưng nhóm dương nặng hơn: so sánh thô không tách được dịch khỏi mức độ nặng.</a:t>
            </a:r>
          </a:p>
          <a:p>
            <a:r>
              <a:rPr lang="en-US" sz="1400" b="0" dirty="0"/>
              <a:t>Câu mẫu cho phần Kết quả: 'Tử vong 28 ngày là 35.9% ở nhóm cân bằng dương và 18.4% ở nhóm cân bằng âm (chênh lệch nguy cơ 17.6 điểm phần trăm, KTC 95%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7 phút (20:33-20:40). Bài 4. Đáp án: s6_solutions_VN.md.</a:t>
            </a:r>
          </a:p>
          <a:p>
            <a:r>
              <a:rPr lang="en-US" sz="1400" b="0" dirty="0"/>
              <a:t>Q1 (4 phút): thăm dò kiểm định (khi bình phương), cùng viết một câu Kết quả kèm KTC, rồi hỏi một sai lệch: nhiễu do chỉ định.</a:t>
            </a:r>
          </a:p>
          <a:p>
            <a:r>
              <a:rPr lang="en-US" sz="1400" b="0" dirty="0"/>
              <a:t>Q2 đến Q5 (3 phút): đọc mỗi câu một dòng trong đáp án.</a:t>
            </a:r>
          </a:p>
          <a:p>
            <a:r>
              <a:rPr lang="en-US" sz="1400" b="0" dirty="0"/>
              <a:t>Sau đó học viên làm lại cho câu hỏi mình chọn. Rồi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Nói: 20:55 bắt đầu lại với 6.3.</a:t>
            </a:r>
          </a:p>
          <a:p>
            <a:r>
              <a:rPr lang="en-US" sz="1400" b="0" dirty="0"/>
              <a:t>Mở 04_models.R và 05_missing.R. Gom các câu hỏi trong khung chat về phần so sánh và trả lời ở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6.3 (20:55-21:30).</a:t>
            </a:r>
          </a:p>
          <a:p>
            <a:r>
              <a:rPr lang="en-US" sz="1400" b="0" dirty="0"/>
              <a:t>Mọi mô hình trả lời một câu hỏi: kết cục liên quan với phơi nhiễm thế nào, và ta chắc đến đâu? Đọc bốn điều: kết cục, mô hình, con số, giá trị 'không tác động'.</a:t>
            </a:r>
          </a:p>
          <a:p>
            <a:r>
              <a:rPr lang="en-US" sz="1400" b="0" dirty="0"/>
              <a:t>Mô hình là công cụ chính để xử lý nhiễu đã đo được (Buổi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 tóm tắt biểu đồ phân tán bằng một con số, từ -1 đến +1.</a:t>
            </a:r>
          </a:p>
          <a:p>
            <a:r>
              <a:rPr lang="en-US" sz="1400" b="0" dirty="0"/>
              <a:t>Ô cuối là cái bẫy: r gần 0 nhưng có đường cong rất rõ. Luôn nhìn biểu đồ.</a:t>
            </a:r>
          </a:p>
          <a:p>
            <a:r>
              <a:rPr lang="en-US" sz="1400" b="0" dirty="0"/>
              <a:t>Với nhiều người bệnh, r rất nhỏ vẫn có thể 'có ý nghĩa' mà vô dụng.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Hồi quy tuyến tính: đường thẳng phù hợp nhất cho kết cục dạng số. Hệ số góc = thay đổi trên mỗi đơn vị phơi nhiễm, giá trị không tác động là 0. R² = mức đường thẳng giải thích được.</a:t>
            </a:r>
          </a:p>
          <a:p>
            <a:r>
              <a:rPr lang="en-US" sz="1400" b="0" dirty="0"/>
              <a:t>Thêm biến cho ta các hệ số 'đã hiệu chỉnh'.</a:t>
            </a:r>
          </a:p>
          <a:p>
            <a:r>
              <a:rPr lang="en-US" sz="1400" b="0" dirty="0"/>
              <a:t>Hỏi: B = -15 (-19 đến -11)? Kỳ vọng: mỗi lít thêm đi kèm tỷ lệ P/F thấp hơn khoảng 15.</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Với kết cục có/không, đường cong có hình chữ S. Mô hình cho OR trên mỗi đơn vị (ở đây 1.42 mỗi mmol/L lactat). Giá trị không tác động là 1.</a:t>
            </a:r>
          </a:p>
          <a:p>
            <a:r>
              <a:rPr lang="en-US" sz="1400" b="0" dirty="0"/>
              <a:t>Lỗi thường gặp: 'OR 1.42 nghĩa là tử vong nhiều hơn 42%'. Đó là odds cao hơn 42%.</a:t>
            </a:r>
          </a:p>
          <a:p>
            <a:r>
              <a:rPr lang="en-US" sz="1400" b="0" dirty="0"/>
              <a:t>Hỏi: nếu lactat không có tác động thì sao? Kỳ vọng: đường nằm ngang, OR 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cục quyết định mô hình: biến số, hồi quy tuyến tính (chênh lệch, không tác động = 0). Có/không, hồi quy logistic (OR, không tác động = 1). Thời gian đến sự kiện, Cox (HR, không tác động = 1).</a:t>
            </a:r>
          </a:p>
          <a:p>
            <a:r>
              <a:rPr lang="en-US" sz="1400" b="0" dirty="0"/>
              <a:t>Lỗi thường gặp: tìm số 0 trong bảng OR.</a:t>
            </a:r>
          </a:p>
          <a:p>
            <a:r>
              <a:rPr lang="en-US" sz="1400" b="0" dirty="0"/>
              <a:t>Hỏi: thời gian nằm viện dạng số? Kỳ vọng: tuyến tính, giá trị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 nhiều dịch hơn, tử vong nhiều hơn (33% so với 18%). Chia theo mức độ nặng: không có khác biệt trong từng tầng.</a:t>
            </a:r>
          </a:p>
          <a:p>
            <a:r>
              <a:rPr lang="en-US" sz="1400" b="0" dirty="0"/>
              <a:t>Mức độ nặng quyết định cả hai: nhiễu do chỉ định. Mô hình làm phép chia này cho nhiều biến nhiễu cùng lúc.</a:t>
            </a:r>
          </a:p>
          <a:p>
            <a:r>
              <a:rPr lang="en-US" sz="1400" b="0" dirty="0"/>
              <a:t>Chỉ hiệu chỉnh được các biến nhiễu đã đo. Chỉ phân bổ ngẫu nhiên xử lý được phần còn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mỗi dòng theo bốn bước: so sánh gì (nhóm tham chiếu và đơn vị), tác động, KTC, KTC có chứa 1 không?</a:t>
            </a:r>
          </a:p>
          <a:p>
            <a:r>
              <a:rPr lang="en-US" sz="1400" b="0" dirty="0"/>
              <a:t>OR 1.80 (1.20 đến 2.70): odds gấp 1.8 lần, đã hiệu chỉnh.</a:t>
            </a:r>
          </a:p>
          <a:p>
            <a:r>
              <a:rPr lang="en-US" sz="1400" b="0" dirty="0"/>
              <a:t>Dòng giới tính và lactat chứa 1: phù hợp với không có mối liên quan.</a:t>
            </a:r>
          </a:p>
          <a:p>
            <a:r>
              <a:rPr lang="en-US" sz="1400" b="0" dirty="0"/>
              <a:t>Số liệu giả định. Nói 'có liên quan', và 'odds' chứ không phải 'nguy cơ'.</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(4 phút), dùng bảng ở trang trước.</a:t>
            </a:r>
          </a:p>
          <a:p>
            <a:r>
              <a:rPr lang="en-US" sz="1400" b="0" dirty="0"/>
              <a:t>Thăm dò 1: có, phù hợp với không có mối liên quan. Thăm dò 2: odds nhân 1.15 cho mỗi điểm SOFA ('tử vong nhiều hơn 15%' là câu trả lời sai kinh điển).</a:t>
            </a:r>
          </a:p>
          <a:p>
            <a:r>
              <a:rPr lang="en-US" sz="1400" b="0" dirty="0"/>
              <a:t>Câu mẫu: 'Sau hiệu chỉnh, người bệnh có cân bằng dịch dương có odds tử vong đến ngày 28 gấp khoảng 1.8 lần (OR 1.80, KTC 95% 1.20 đến 2.70).'</a:t>
            </a:r>
          </a:p>
          <a:p>
            <a:r>
              <a:rPr lang="en-US" sz="1400" b="0" dirty="0"/>
              <a:t>Bài 5 và 6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Quá nhiều biến so với số biến cố: mô hình học cả nhiễu và thất bại với người bệnh mới.</a:t>
            </a:r>
          </a:p>
          <a:p>
            <a:r>
              <a:rPr lang="en-US" sz="1400" b="0" dirty="0"/>
              <a:t>Quy tắc nhanh: khoảng 10 biến cố cho mỗi biến. Chọn biến từng bước giữ lại các phát hiện do ngẫu nhiên.</a:t>
            </a:r>
          </a:p>
          <a:p>
            <a:r>
              <a:rPr lang="en-US" sz="1400" b="0" dirty="0"/>
              <a:t>Chọn biến nhiễu từ trước và ghi vào SAP.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Vòng tròn là người bệnh bị kiểm duyệt: được theo dõi đến lúc đó mà chưa có biến cố. Bị kiểm duyệt không có nghĩa là bị loại: họ vẫn cho biết mình còn sống đến ngày đó.</a:t>
            </a:r>
          </a:p>
          <a:p>
            <a:r>
              <a:rPr lang="en-US" sz="1400" b="0" dirty="0"/>
              <a:t>Hỏi: ra viện ngày 9, không liên lạc lại được? Kỳ vọng: kiểm duyệt ở ngày 9.</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bước đọc: mỗi bậc đi xuống là tử vong, vạch nhỏ là người bị kiểm duyệt, khoảng cách là khác biệt, và số người còn nguy cơ cho biết phần cuối đường cong chắc đến đâu.</a:t>
            </a:r>
          </a:p>
          <a:p>
            <a:r>
              <a:rPr lang="en-US" sz="1400" b="0" dirty="0"/>
              <a:t>Kiểm định log-rank cho giá trị p, không cho độ lớn tác động (Cox, 6.4).</a:t>
            </a:r>
          </a:p>
          <a:p>
            <a:r>
              <a:rPr lang="en-US" sz="1400" b="0" dirty="0"/>
              <a:t>Hỏi: hai đường cắt nhau giữa chừng? Kỳ vọng: tác động thay đổi theo thời gian.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6.4 (21:30-21:55): các mô hình áp dụng cho FLUID-ICU. Anh chị sẽ thấy nhiễu do chỉ định làm OR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SAP lên màn hình (SAP_FLUID-ICU_VN.md). Phân tích chính: hồi quy logistic cho tử vong 28 ngày. Biến nhiễu chọn từ trước. Kaplan-Meier và Cox để hỗ trợ. Một phân nhóm. Trường hợp đầy đủ cộng quy gán đa bội.</a:t>
            </a:r>
          </a:p>
          <a:p>
            <a:r>
              <a:rPr lang="en-US" sz="1400" b="0" dirty="0"/>
              <a:t>AKI và lọc máu không được hiệu chỉnh: chúng xảy ra sau khi truyền dịch.</a:t>
            </a:r>
          </a:p>
          <a:p>
            <a:r>
              <a:rPr lang="en-US" sz="1400" b="0" dirty="0"/>
              <a:t>Hỏi: vì sao viết trước? Kỳ vọng: không ai có thể nói anh chị chọn phân tích cho giá trị p đẹp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quan trọng nhất của bộ dữ liệu (4 phút).</a:t>
            </a:r>
          </a:p>
          <a:p>
            <a:r>
              <a:rPr lang="en-US" sz="1400" b="0" dirty="0"/>
              <a:t>OR thô 2.49 (1.70 đến 3.70). OR thô trên cùng 527 trường hợp đầy đủ 2.22. Đã hiệu chỉnh 1.62 (1.02 đến 2.59), p = 0.044.</a:t>
            </a:r>
          </a:p>
          <a:p>
            <a:r>
              <a:rPr lang="en-US" sz="1400" b="0" dirty="0"/>
              <a:t>OR nhỏ lại vì người nặng hơn được truyền nhiều dịch hơn và tử vong nhiều hơn. Phần còn lại vừa phải, kém chính xác, và vẫn chỉ là mối liên quan.</a:t>
            </a:r>
          </a:p>
          <a:p>
            <a:r>
              <a:rPr lang="en-US" sz="1400" b="0" dirty="0"/>
              <a:t>Hỏi: có nên hiệu chỉnh thêm AKI? Kỳ vọng: không, AKI xảy ra sau khi truyền dịch.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Mô hình của Q1 dạng biểu đồ rừng (n = 527). Cân bằng dương: OR 1.62 (1.02 đến 2.59).</a:t>
            </a:r>
          </a:p>
          <a:p>
            <a:r>
              <a:rPr lang="en-US" sz="1400" b="0" dirty="0"/>
              <a:t>Các dòng khác là biến nhiễu: có mặt để hiệu chỉnh, không phải để diễn giải.</a:t>
            </a:r>
          </a:p>
          <a:p>
            <a:r>
              <a:rPr lang="en-US" sz="1400" b="0" dirty="0"/>
              <a:t>Hỏi: dòng nào đưa vào tóm tắt? Kỳ vọng: chỉ dòng phơi nhiễm,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đường cong thật theo bốn bước. Phần lớn tử vong trong tuần đầu.</a:t>
            </a:r>
          </a:p>
          <a:p>
            <a:r>
              <a:rPr lang="en-US" sz="1400" b="0" dirty="0"/>
              <a:t>Sống còn ngày 28: 81.6% so với 64.1%, log-rank p &lt; 0.001, nhưng chưa hiệu chỉnh.</a:t>
            </a:r>
          </a:p>
          <a:p>
            <a:r>
              <a:rPr lang="en-US" sz="1400" b="0" dirty="0"/>
              <a:t>Hỏi: khoảng cách lớn hơn lúc đầu hay lúc sau? Kỳ vọng: mở ra sớm, rồi hai đường gần như song song.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HR Cox đã hiệu chỉnh 1.46 (1.00 đến 2.13), p = 0.053. Giả định nguy cơ tỷ lệ chấp nhận được (p = 0.10).</a:t>
            </a:r>
          </a:p>
          <a:p>
            <a:r>
              <a:rPr lang="en-US" sz="1400" b="0" dirty="0"/>
              <a:t>Bài học: OR p = 0.044 và HR p = 0.053 kể cùng một câu chuyện. Đừng để 0.05 quyết định anh chị tin gì.</a:t>
            </a:r>
          </a:p>
          <a:p>
            <a:r>
              <a:rPr lang="en-US" sz="1400" b="0" dirty="0"/>
              <a:t>Hỏi: viết điều này trong phần Kết quả thế nào? Kỳ vọng: cả hai ước lượng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RR: nguy cơ, từ bảng 2x2 (thử nghiệm, thuần tập). OR: odds, từ nghiên cứu bệnh-chứng và hồi quy logistic, gần RR chỉ khi kết cục hiếm. HR: tốc độ xảy ra biến cố theo thời gian, từ Cox.</a:t>
            </a:r>
          </a:p>
          <a:p>
            <a:r>
              <a:rPr lang="en-US" sz="1400" b="0" dirty="0"/>
              <a:t>Hỏi: Bài báo 2 so sánh tử vong theo thời gian. Tỷ số nào? Kỳ vọng: HR.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cơ chế trên cùng 8 người bệnh. MCAR: không liên quan đến người bệnh. MAR: phụ thuộc vào điều đã ghi nhận, quy gán có thể giúp. MNAR: phụ thuộc vào chính giá trị bị thiếu, không phương pháp nào sửa được hoàn toàn.</a:t>
            </a:r>
          </a:p>
          <a:p>
            <a:r>
              <a:rPr lang="en-US" sz="1400" b="0" dirty="0"/>
              <a:t>Dữ liệu không chứng minh được cơ chế nào: hãy ghi lại vì sao giá trị bị thiếu.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Lactat thiếu ở 93 trên 620 (15.0%), chủ yếu ở người bệnh nhẹ hơn (trung vị SOFA 5 so với 8, tử vong 19.4% so với 30.6%).</a:t>
            </a:r>
          </a:p>
          <a:p>
            <a:r>
              <a:rPr lang="en-US" sz="1400" b="0" dirty="0"/>
              <a:t>Vậy không phải MCAR: phân tích trường hợp đầy đủ loại bỏ người nhẹ hơn. MAR là hợp lý, phù hợp với quy gán đa bội.</a:t>
            </a:r>
          </a:p>
          <a:p>
            <a:r>
              <a:rPr lang="en-US" sz="1400" b="0" dirty="0"/>
              <a:t>Hỏi: vì sao người nhẹ hơn lại không được đo lactat?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Phân tích độ nhạy định trước trong SAP.</a:t>
            </a:r>
          </a:p>
          <a:p>
            <a:r>
              <a:rPr lang="en-US" sz="1400" b="0" dirty="0"/>
              <a:t>Q4: OR mỗi mmol/L 1.39 (trường hợp đầy đủ, n = 527) so với 1.45 (quy gán, n = 620).</a:t>
            </a:r>
          </a:p>
          <a:p>
            <a:r>
              <a:rPr lang="en-US" sz="1400" b="0" dirty="0"/>
              <a:t>Q1: OR đã hiệu chỉnh 1.70 (1.09 đến 2.64) khi quy gán so với 1.62 ở trường hợp đầy đủ.</a:t>
            </a:r>
          </a:p>
          <a:p>
            <a:r>
              <a:rPr lang="en-US" sz="1400" b="0" dirty="0"/>
              <a:t>Kết luận không phụ thuộc vào cách xử lý lactat bị thiếu.</a:t>
            </a:r>
          </a:p>
          <a:p>
            <a:r>
              <a:rPr lang="en-US" sz="1400" b="0" dirty="0"/>
              <a:t>Hỏi: báo cáo điều này thế nào? Kỳ vọng: cả hai ước lượng, và nói rằng chúng tương tự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7 phút (21:48-21:55). Bài 8. Đáp án: s6_solutions_VN.md.</a:t>
            </a:r>
          </a:p>
          <a:p>
            <a:r>
              <a:rPr lang="en-US" sz="1400" b="0" dirty="0"/>
              <a:t>Q1 (4 phút): thô 2.49, hiệu chỉnh 1.62. Hỏi vì sao nhỏ lại. Gõ hai câu Kết quả, thô rồi hiệu chỉnh, kèm KTC.</a:t>
            </a:r>
          </a:p>
          <a:p>
            <a:r>
              <a:rPr lang="en-US" sz="1400" b="0" dirty="0"/>
              <a:t>Q2 đến Q5 (3 phút): đọc mỗi câu một dòng trong đáp án.</a:t>
            </a:r>
          </a:p>
          <a:p>
            <a:r>
              <a:rPr lang="en-US" sz="1400" b="0" dirty="0"/>
              <a:t>Quy luật: mọi ước lượng đã hiệu chỉnh đều gần mức không tác động hơn. Các câu này là phần cốt lõi của phần Kết quả mỗi học viên sẽ viết.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làm mẫu.</a:t>
            </a:r>
          </a:p>
          <a:p>
            <a:r>
              <a:rPr lang="en-US" sz="1400" b="0" dirty="0"/>
              <a:t>Cỡ mẫu trong một câu với bốn thông số và phần bù mất mẫu (356 người mỗi nhóm, 396 khi tính 10% mất mẫu).</a:t>
            </a:r>
          </a:p>
          <a:p>
            <a:r>
              <a:rPr lang="en-US" sz="1400" b="0" dirty="0"/>
              <a:t>Kế hoạch phân tích bằng lời đơn giản, biến nhiễu chọn trước, kế hoạch xử lý dữ liệu thiếu.</a:t>
            </a:r>
          </a:p>
          <a:p>
            <a:r>
              <a:rPr lang="en-US" sz="1400" b="0" dirty="0"/>
              <a:t>Mỗi học viên viết phần này cho đề cương của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(21:55-22:25). Mẫu: Research_Proposal_Template_VN.docx. Phiếu: Bài 9.</a:t>
            </a:r>
          </a:p>
          <a:p>
            <a:r>
              <a:rPr lang="en-US" sz="1400" b="0" dirty="0"/>
              <a:t>Làm mẫu trực tiếp (18 phút): cỡ mẫu, kế hoạch phân tích, biến nhiễu, kế hoạch dữ liệu thiếu. Sau đó 10 phút học viên tự viết các thông số cỡ mẫu, 2 phút hỏi đáp.</a:t>
            </a:r>
          </a:p>
          <a:p>
            <a:r>
              <a:rPr lang="en-US" sz="1400" b="0" dirty="0"/>
              <a:t>Chú ý: 'sẽ dùng SPSS' thay cho kế hoạch, chọn biến từng bước, không nhắc đến dữ liệu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 phút). Chỉ vào một từ và mời một người định nghĩa trong một dòng.</a:t>
            </a:r>
          </a:p>
          <a:p>
            <a:r>
              <a:rPr lang="en-US" sz="1400" b="0" dirty="0"/>
              <a:t>Mọi thuật ngữ đều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(1 phút). Mời người tình nguyện nêu một ví dụ cho mỗi thẻ.</a:t>
            </a:r>
          </a:p>
          <a:p>
            <a:r>
              <a:rPr lang="en-US" sz="1400" b="0" dirty="0"/>
              <a:t>Thứ Bảy tuần sau: đạo đức, liêm chính và phần Kết quả, viết trực tiếp trên Q1.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Sản phẩm 2 (2 phút). Nói rõ: chúng tôi đưa kết quả, anh chị viết một phần Kết quả sẵn sàng để nộp. Các phần khác không bắt buộc, và giảng viên vẫn nhận xét.</a:t>
            </a:r>
          </a:p>
          <a:p>
            <a:r>
              <a:rPr lang="en-US" sz="1400" b="0" dirty="0"/>
              <a:t>Mời mọi người ghi câu hỏi mình chọn (Q1 đến Q5) vào khung chat. Q1 dễ bắt đầu nhất vì được làm mẫu trực tiếp vào thứ Bảy tuần sau.</a:t>
            </a:r>
          </a:p>
          <a:p>
            <a:r>
              <a:rPr lang="en-US" sz="1400" b="0" dirty="0"/>
              <a:t>Sau buổi học, gửi email hướng dẫn bài tập bản thảo (Manuscript_Brief_VN.pdf) và mẫu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(22:25-22:30).</a:t>
            </a:r>
          </a:p>
          <a:p>
            <a:r>
              <a:rPr lang="en-US" sz="1400" b="0" dirty="0"/>
              <a:t>Câu hỏi cuối buổi: 'KTC 95% 1.48 đến 3.06' cho biết gì? Câu trả lời tốt: HR thật có thể nằm trong khoảng 1.48 đến 3.06, đều trên 1. Mở đầu Buổi 7 bằng hai hoặc ba câu trả lời.</a:t>
            </a:r>
          </a:p>
          <a:p>
            <a:r>
              <a:rPr lang="en-US" sz="1400" b="0" dirty="0"/>
              <a:t>Về nhà: Phần 3 đề cương, bắt đầu 6 slide, chọn câu hỏi và đọc gói kết quả.</a:t>
            </a:r>
          </a:p>
          <a:p>
            <a:r>
              <a:rPr lang="en-US" sz="1400" b="0" dirty="0"/>
              <a:t>Sau buổi học: gửi email hướng dẫn bài tập bản thảo cho mọi người.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Trang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suy tim (n = 90) OR 4.39 (1.65 đến 12.38) so với 1.29 khi không suy tim, p tương tác 0.031.</a:t>
            </a:r>
          </a:p>
          <a:p>
            <a:r>
              <a:rPr lang="en-US" sz="1400" b="0" dirty="0"/>
              <a:t>Hợp lý, nhưng nhóm nhỏ và kém chính xác: báo cáo như kết quả thăm dò.</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Q2. AKI tăng dần theo nhóm cân bằng dịch: 29%, 54%, 63%, 75%. OR đã hiệu chỉnh 1.27 (1.16 đến 1.40) mỗi 10 ml/kg.</a:t>
            </a:r>
          </a:p>
          <a:p>
            <a:r>
              <a:rPr lang="en-US" sz="1400" b="0" dirty="0"/>
              <a:t>Thận trọng: AKI cũng có thể gây cân bằng dương (quan hệ nhân quả ngược).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Q3. Số ngày không thở máy dồn ở 0 (tử vong) và 28: báo cáo trung vị, dùng kiểm định phi tham số.</a:t>
            </a:r>
          </a:p>
          <a:p>
            <a:r>
              <a:rPr lang="en-US" sz="1400" b="0" dirty="0"/>
              <a:t>Đã hiệu chỉnh -0.61 ngày (-1.00 đến -0.21) mỗi 10 ml/kg.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Mẫu là những người bệnh ta nghiên cứu, quần thể là tất cả những người ta muốn hiểu. 12 trên 40 tử vong: 30% (KTC 95% 17% đến 47%).</a:t>
            </a:r>
          </a:p>
          <a:p>
            <a:r>
              <a:rPr lang="en-US" sz="1400" b="0" dirty="0"/>
              <a:t>Hỏi: 400 người bệnh thay vì 40? Kỳ vọng: khoảng hẹp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Đọc mọi KTC theo ba bước: ước lượng, giá trị không tác động ở đâu, rộng đến đâu.</a:t>
            </a:r>
          </a:p>
          <a:p>
            <a:r>
              <a:rPr lang="en-US" sz="1400" b="0" dirty="0"/>
              <a:t>Bài báo 1: 13.2 ml/kg (-15.2 đến 41.6), p = 0.42. Chứa 0 và cũng chứa một khác biệt lớn: chưa biết.</a:t>
            </a:r>
          </a:p>
          <a:p>
            <a:r>
              <a:rPr lang="en-US" sz="1400" b="0" dirty="0"/>
              <a:t>Nếu có người hỏi vì sao 13.2 không bằng 35.0 trừ 6.9: đó là chênh lệch trung bình, còn trung vị mô tả dữ liệu lệch.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Biểu đồ rừng của Bài báo 2: ngày 1 HR 1.17 (0.85-1.60) cắt qua 1. Ngày 2 HR 2.13 (1.48-3.06) và ngày 3 HR 1.56 (1.10-2.22) nằm trên 1.</a:t>
            </a:r>
          </a:p>
          <a:p>
            <a:r>
              <a:rPr lang="en-US" sz="1400" b="0" dirty="0"/>
              <a:t>Có liên quan, không phải gây ra: vẫn còn nhiễu tồn dư.</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Log-rank: có giá trị p, không có độ lớn, không hiệu chỉnh. Cox: HR đã hiệu chỉnh kèm KTC. Nguy cơ tỷ lệ: giả định HR không đổi, cần kiểm tra khi hai đường cắt nhau.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Bên trái: r = 0.98 nhưng máy đọc thấp hơn 0.9: tương quan không phải là tương đồng (dùng Bland-Altman). Bên phải: dịch và thời gian nằm ICU tương quan chỉ qua mức độ nặng.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Hai đường song song: một tác động đã hiệu chỉnh là đủ. Độ dốc khác nhau: có tương tác, báo cáo tác động ở từng nhóm.</a:t>
            </a:r>
          </a:p>
          <a:p>
            <a:r>
              <a:rPr lang="en-US" sz="1400" b="0" dirty="0"/>
              <a:t>Định trước một vài tương tác cần kiểm định, và kiểm định chính tương tác đó.</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Tìm giá trị không tác động trước: 0 với chênh lệch (Bài báo 1 cắt qua 0), 1 với tỷ số (Bài báo 2 ngày 2 nằm trên 1).</a:t>
            </a:r>
          </a:p>
          <a:p>
            <a:r>
              <a:rPr lang="en-US" sz="1400" b="0" dirty="0"/>
              <a:t>KTC không chứa giá trị không tác động nghĩa là p &lt; 0.05, và KTC còn cho biết độ lớn và độ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Mô hình dự báo được đánh giá bằng khả năng phân biệt (AUC), hiệu chuẩn và thẩm định bên ngoài. Chỉ AUC cao là chưa đủ.</a:t>
            </a:r>
          </a:p>
          <a:p>
            <a:r>
              <a:rPr lang="en-US" sz="1400" b="0" dirty="0"/>
              <a:t>Hỏi: nhà cung cấp nêu AUC 0.92 trên dữ liệu của chính họ. Anh chị hỏi gì?</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Học máy là dự báo. Bốn câu hỏi: dùng để làm gì, đủ dữ liệu chưa, có hiệu quả không (AUC, hiệu chuẩn, thẩm định bên ngoài), có báo cáo đúng không (TRIPOD+AI)?</a:t>
            </a:r>
          </a:p>
          <a:p>
            <a:r>
              <a:rPr lang="en-US" sz="1400" b="0" dirty="0"/>
              <a:t>Chính xác không đồng nghĩa với có lợi.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Trường hợp đầy đủ: đơn giản, mất người bệnh, sai lệch trừ khi MCAR. Quy gán đa bội: điền mỗi ô trống nhiều lần, phân tích từng bộ, rồi gộp lại. Cách này trung thực về những gì ta không biết.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Người phản biện tìm: số giá trị thiếu của từng biến, so sánh người có và không có dữ liệu đầy đủ, một phân tích độ nhạy, và kế hoạch viết từ trước.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7.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19.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0.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1.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2.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3.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24.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5.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6.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27.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8.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 Id="rId4" Type="http://schemas.openxmlformats.org/officeDocument/2006/relationships/image" Target="../media/image29.pn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6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5 (10 phút)</a:t>
            </a:r>
          </a:p>
          <a:p>
            <a:pPr marL="274320" indent="-274320" algn="l">
              <a:spcBef>
                <a:spcPts val="440"/>
              </a:spcBef>
              <a:buFont typeface="Arial"/>
              <a:buChar char="•"/>
            </a:pPr>
            <a:r>
              <a:rPr lang="en-US" sz="1900" dirty="0">
                <a:solidFill>
                  <a:srgbClr val="000000"/>
                </a:solidFill>
                <a:latin typeface="Arial"/>
                <a:cs typeface="Arial"/>
              </a:rPr>
              <a:t>6.1 Từ mẫu đến quần thể: KTC, giá trị p, một phía hay hai phía, lực thống kê, cỡ mẫu, chọn kiểm định</a:t>
            </a:r>
          </a:p>
          <a:p>
            <a:pPr marL="274320" indent="-274320" algn="l">
              <a:spcBef>
                <a:spcPts val="440"/>
              </a:spcBef>
              <a:buFont typeface="Arial"/>
              <a:buChar char="•"/>
            </a:pPr>
            <a:r>
              <a:rPr lang="en-US" sz="1900" dirty="0">
                <a:solidFill>
                  <a:srgbClr val="000000"/>
                </a:solidFill>
                <a:latin typeface="Arial"/>
                <a:cs typeface="Arial"/>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Arial"/>
                <a:cs typeface="Arial"/>
              </a:rPr>
              <a:t>6.3 Mối liên quan và mô hình: hồi quy, Kaplan-Meier và Cox</a:t>
            </a:r>
          </a:p>
          <a:p>
            <a:pPr marL="274320" indent="-274320" algn="l">
              <a:spcBef>
                <a:spcPts val="440"/>
              </a:spcBef>
              <a:buFont typeface="Arial"/>
              <a:buChar char="•"/>
            </a:pPr>
            <a:r>
              <a:rPr lang="en-US" sz="1900" dirty="0">
                <a:solidFill>
                  <a:srgbClr val="000000"/>
                </a:solidFill>
                <a:latin typeface="Arial"/>
                <a:cs typeface="Arial"/>
              </a:rPr>
              <a:t>6.4 Mô hình hóa bộ dữ liệu: OR đã hiệu chỉnh, HR từ mô hình Cox, dữ liệu bị thiếu, SAP</a:t>
            </a:r>
          </a:p>
          <a:p>
            <a:pPr marL="274320" indent="-274320" algn="l">
              <a:spcBef>
                <a:spcPts val="440"/>
              </a:spcBef>
              <a:buFont typeface="Arial"/>
              <a:buChar char="•"/>
            </a:pPr>
            <a:r>
              <a:rPr lang="en-US" sz="1900" dirty="0">
                <a:solidFill>
                  <a:srgbClr val="000000"/>
                </a:solidFill>
                <a:latin typeface="Arial"/>
                <a:cs typeface="Arial"/>
              </a:rPr>
              <a:t>Xây dựng đề cương 6: cỡ mẫu, kế hoạch phân tích, kế hoạch xử lý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Thời gian nằm ICU của 300 người bệnh lệch phải. Đưa cách tóm tắt nào vào Bảng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Một mục CRF ghi 'Lactat: ____'. Nêu hai điều còn thiếu.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Trong dữ liệu thô FLUID-ICU, có một tuổi là 210. Phép kiểm tra nào bắt được, và ghi gì vào nhật ký làm sạch?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qua bình chọn. C2 và C3: hai ba người trả lời, bật micro (mỗi câu 1 đến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 (công bố sau)</a:t>
            </a:r>
          </a:p>
          <a:p>
            <a:pPr marL="0" indent="0" algn="ctr">
              <a:lnSpc>
                <a:spcPct val="104000"/>
              </a:lnSpc>
              <a:spcBef>
                <a:spcPts val="300"/>
              </a:spcBef>
              <a:buNone/>
            </a:pPr>
            <a:r>
              <a:rPr lang="en-US" sz="1500" dirty="0">
                <a:solidFill>
                  <a:srgbClr val="000000"/>
                </a:solidFill>
                <a:latin typeface="Arial"/>
                <a:cs typeface="Arial"/>
              </a:rPr>
              <a:t>C1: trung vị (IQR)</a:t>
            </a:r>
          </a:p>
          <a:p>
            <a:pPr marL="0" indent="0" algn="ctr">
              <a:lnSpc>
                <a:spcPct val="104000"/>
              </a:lnSpc>
              <a:spcBef>
                <a:spcPts val="300"/>
              </a:spcBef>
              <a:buNone/>
            </a:pPr>
            <a:r>
              <a:rPr lang="en-US" sz="1500" dirty="0">
                <a:solidFill>
                  <a:srgbClr val="000000"/>
                </a:solidFill>
                <a:latin typeface="Arial"/>
                <a:cs typeface="Arial"/>
              </a:rPr>
              <a:t>C2: đơn vị (mmol/L), thời điểm, lựa chọn 'không làm'</a:t>
            </a:r>
          </a:p>
          <a:p>
            <a:pPr marL="0" indent="0" algn="ctr">
              <a:lnSpc>
                <a:spcPct val="104000"/>
              </a:lnSpc>
              <a:spcBef>
                <a:spcPts val="300"/>
              </a:spcBef>
              <a:buNone/>
            </a:pPr>
            <a:r>
              <a:rPr lang="en-US" sz="1500" dirty="0">
                <a:solidFill>
                  <a:srgbClr val="000000"/>
                </a:solidFill>
                <a:latin typeface="Arial"/>
                <a:cs typeface="Arial"/>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Từ mẫu đến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Nghiên cứu một ít người bệnh để hiểu về rất nhiều người bệnh.</a:t>
            </a:r>
          </a:p>
          <a:p>
            <a:pPr marL="0" indent="0" algn="ctr">
              <a:spcBef>
                <a:spcPts val="1200"/>
              </a:spcBef>
              <a:buNone/>
            </a:pPr>
            <a:r>
              <a:rPr lang="en-US" sz="1900" i="1" dirty="0">
                <a:solidFill>
                  <a:srgbClr val="595959"/>
                </a:solidFill>
                <a:latin typeface="Arial"/>
                <a:cs typeface="Arial"/>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Khoảng tin cậy qua 20 lần lặp lại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Khoảng 95/100 khoảng như vậy chứa giá trị thật. Không biết được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kết quả của bạn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phía hay hai phía? Mặc định là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(giả thuyết không): không có khác biệt. H1 (giả thuyết đối): có khác biệt. Chiều của H1 quyết định đuôi nào được tính.</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phía (mặc định)</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hai nhóm khác nhau, theo bất kỳ hướng nào</a:t>
            </a:r>
          </a:p>
          <a:p>
            <a:pPr marL="0" indent="0" algn="ctr">
              <a:lnSpc>
                <a:spcPct val="104000"/>
              </a:lnSpc>
              <a:spcBef>
                <a:spcPts val="400"/>
              </a:spcBef>
              <a:buNone/>
            </a:pPr>
            <a:r>
              <a:rPr lang="en-US" sz="1750" dirty="0">
                <a:solidFill>
                  <a:srgbClr val="000000"/>
                </a:solidFill>
                <a:latin typeface="Arial"/>
                <a:cs typeface="Arial"/>
              </a:rPr>
              <a:t>Có lợi và có hại đều được tính</a:t>
            </a:r>
          </a:p>
          <a:p>
            <a:pPr marL="0" indent="0" algn="ctr">
              <a:lnSpc>
                <a:spcPct val="104000"/>
              </a:lnSpc>
              <a:spcBef>
                <a:spcPts val="400"/>
              </a:spcBef>
              <a:buNone/>
            </a:pPr>
            <a:r>
              <a:rPr lang="en-US" sz="1750" dirty="0">
                <a:solidFill>
                  <a:srgbClr val="000000"/>
                </a:solidFill>
                <a:latin typeface="Arial"/>
                <a:cs typeface="Arial"/>
              </a:rPr>
              <a:t>Giá trị p dùng cả hai đuôi</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phía (hiếm khi hợp lý)</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chỉ một hướng, ví dụ 'hạn chế dịch tốt hơn'</a:t>
            </a:r>
          </a:p>
          <a:p>
            <a:pPr marL="0" indent="0" algn="ctr">
              <a:lnSpc>
                <a:spcPct val="104000"/>
              </a:lnSpc>
              <a:spcBef>
                <a:spcPts val="400"/>
              </a:spcBef>
              <a:buNone/>
            </a:pPr>
            <a:r>
              <a:rPr lang="en-US" sz="1750" dirty="0">
                <a:solidFill>
                  <a:srgbClr val="000000"/>
                </a:solidFill>
                <a:latin typeface="Arial"/>
                <a:cs typeface="Arial"/>
              </a:rPr>
              <a:t>Cần lý do vững, viết ra trước khi có dữ liệu</a:t>
            </a:r>
          </a:p>
          <a:p>
            <a:pPr marL="0" indent="0" algn="ctr">
              <a:lnSpc>
                <a:spcPct val="104000"/>
              </a:lnSpc>
              <a:spcBef>
                <a:spcPts val="400"/>
              </a:spcBef>
              <a:buNone/>
            </a:pPr>
            <a:r>
              <a:rPr lang="en-US" sz="1750" dirty="0">
                <a:solidFill>
                  <a:srgbClr val="000000"/>
                </a:solidFill>
                <a:latin typeface="Arial"/>
                <a:cs typeface="Arial"/>
              </a:rPr>
              <a:t>Cùng dữ liệu cho giá trị p chỉ bằng khoảng một nửa</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phải 'không kém hơn'</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Thử nghiệm không kém hơn là một thiết kế khác</a:t>
            </a:r>
          </a:p>
          <a:p>
            <a:pPr marL="0" indent="0" algn="ctr">
              <a:lnSpc>
                <a:spcPct val="104000"/>
              </a:lnSpc>
              <a:spcBef>
                <a:spcPts val="400"/>
              </a:spcBef>
              <a:buNone/>
            </a:pPr>
            <a:r>
              <a:rPr lang="en-US" sz="1750" dirty="0">
                <a:solidFill>
                  <a:srgbClr val="000000"/>
                </a:solidFill>
                <a:latin typeface="Arial"/>
                <a:cs typeface="Arial"/>
              </a:rPr>
              <a:t>Có ngưỡng định trước (Buổi 3)</a:t>
            </a:r>
          </a:p>
          <a:p>
            <a:pPr marL="0" indent="0" algn="ctr">
              <a:lnSpc>
                <a:spcPct val="104000"/>
              </a:lnSpc>
              <a:spcBef>
                <a:spcPts val="400"/>
              </a:spcBef>
              <a:buNone/>
            </a:pPr>
            <a:r>
              <a:rPr lang="en-US" sz="1750" dirty="0">
                <a:solidFill>
                  <a:srgbClr val="000000"/>
                </a:solidFill>
                <a:latin typeface="Arial"/>
                <a:cs typeface="Arial"/>
              </a:rPr>
              <a:t>Cần cách tính cỡ mẫu và phân tích riêng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dùng kiểm định hai phía. Chọn kiểm định một phía sau khi đã xem dữ liệu là không chấp nhận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Mỗi câu dưới đây đều xuất hiện trong các bài báo đã đăng. Tất cả đều sai. (H0 = giả thuyết không: không có khác biệt.)</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'Xác suất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không phải xác suất không có tác động</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'Tác động lớn'</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nhỏ không có nghĩa tác động lớn hay quan trọng</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'Không tác động'</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không chứng minh không có tác động</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'Xu hướng'</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không phải 'gần có ý nghĩa'</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có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Chỉ có p là không đủ</a:t>
            </a:r>
          </a:p>
          <a:p>
            <a:pPr marL="0" indent="0" algn="ctr">
              <a:lnSpc>
                <a:spcPct val="104000"/>
              </a:lnSpc>
              <a:spcBef>
                <a:spcPts val="400"/>
              </a:spcBef>
              <a:buNone/>
            </a:pPr>
            <a:r>
              <a:rPr lang="en-US" sz="1450" dirty="0">
                <a:solidFill>
                  <a:srgbClr val="000000"/>
                </a:solidFill>
                <a:latin typeface="Arial"/>
                <a:cs typeface="Arial"/>
              </a:rPr>
              <a:t>Cần độ lớn tác động và KTC 95%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độ lớn tác động kèm KTC 95%. Giá trị p chỉ là thông tin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KTC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'Tỷ số nguy cơ tức thời (HR) 2.13, khoảng tin cậy 95% (KTC 95%) 1.48 đến 3.06': dữ liệu phù hợp với HR thật từ khoảng 1.5 đến 3.1.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vậy hai chiến lược tương đương.'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nghĩa là có 3% khả năng không có tác động.'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lớn hơn thường cho KTC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Đúng</a:t>
            </a:r>
          </a:p>
          <a:p>
            <a:pPr marL="0" indent="0" algn="ctr">
              <a:lnSpc>
                <a:spcPct val="104000"/>
              </a:lnSpc>
              <a:spcBef>
                <a:spcPts val="300"/>
              </a:spcBef>
              <a:buNone/>
            </a:pPr>
            <a:r>
              <a:rPr lang="en-US" sz="1500" dirty="0">
                <a:solidFill>
                  <a:srgbClr val="000000"/>
                </a:solidFill>
                <a:latin typeface="Arial"/>
                <a:cs typeface="Arial"/>
              </a:rPr>
              <a:t>Sai: chưa biết</a:t>
            </a:r>
          </a:p>
          <a:p>
            <a:pPr marL="0" indent="0" algn="ctr">
              <a:lnSpc>
                <a:spcPct val="104000"/>
              </a:lnSpc>
              <a:spcBef>
                <a:spcPts val="300"/>
              </a:spcBef>
              <a:buNone/>
            </a:pPr>
            <a:r>
              <a:rPr lang="en-US" sz="1500" dirty="0">
                <a:solidFill>
                  <a:srgbClr val="000000"/>
                </a:solidFill>
                <a:latin typeface="Arial"/>
                <a:cs typeface="Arial"/>
              </a:rPr>
              <a:t>Sai: p giả định không có tác động</a:t>
            </a:r>
          </a:p>
          <a:p>
            <a:pPr marL="0" indent="0" algn="ctr">
              <a:lnSpc>
                <a:spcPct val="104000"/>
              </a:lnSpc>
              <a:spcBef>
                <a:spcPts val="300"/>
              </a:spcBef>
              <a:buNone/>
            </a:pPr>
            <a:r>
              <a:rPr lang="en-US" sz="1500" dirty="0">
                <a:solidFill>
                  <a:srgbClr val="000000"/>
                </a:solidFill>
                <a:latin typeface="Arial"/>
                <a:cs typeface="Arial"/>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đọc được KTC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93776"/>
          <a:ext cx="11277600" cy="1705920"/>
        </p:xfrm>
        <a:graphic>
          <a:graphicData uri="http://schemas.openxmlformats.org/drawingml/2006/table">
            <a:tbl>
              <a:tblPr firstRow="1" bandRow="1">
                <a:tableStyleId>{5C22544A-7EE6-4342-B048-85BDC9FD1C3A}</a:tableStyleId>
              </a:tblPr>
              <a:tblGrid>
                <a:gridCol w="3759200"/>
                <a:gridCol w="3759200"/>
                <a:gridCol w="3759200"/>
              </a:tblGrid>
              <a:tr h="56864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Có cháy (tác động thật)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Không có cháy (không có tác động thật)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Chuông reo (p &lt; 0.05, 'có ý nghĩa')</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đúng: lực thống kê (mục tiêu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động giả: sai lầm loại I (alpha, thường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Chuông im (p từ 0.05 trở lên)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Bỏ sót đám cháy: sai lầm loại II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Im lặng đúng</a:t>
                      </a:r>
                    </a:p>
                  </a:txBody>
                  <a:tcPr marL="73152" marR="73152" marT="45720" marB="45720" anchor="ctr">
                    <a:solidFill>
                      <a:srgbClr val="F5F9FA"/>
                    </a:solidFill>
                  </a:tcPr>
                </a:tc>
              </a:tr>
            </a:tbl>
          </a:graphicData>
        </a:graphic>
      </p:graphicFrame>
      <p:sp>
        <p:nvSpPr>
          <p:cNvPr id="31" name="Caption"/>
          <p:cNvSpPr txBox="1"/>
          <p:nvPr/>
        </p:nvSpPr>
        <p:spPr>
          <a:xfrm>
            <a:off x="457200" y="378969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nguy cơ báo động giả. Lực thống kê = khả năng phát hiện tác động thật. Chuông kém nhạy hơn (alpha nhỏ hơn) thì ít báo động giả nhưng bỏ sót nhiều đám cháy hơn, trừ khi mua chuông tốt hơn: nhiều người bệnh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Cỡ mẫu: tác động lớn hơn, ít nhiễu hơn = ít người bệnh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công cụ tính trực tuyến miễn phí (ví dụ OpenEpi) trên màn hình chia sẻ</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trung bình: 70 so với 40 ml/kg, SD (độ lệch chuẩn) 35, lực thống kê 80%, alpha 5%: 22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tỷ lệ: tử vong 40% so với 30%: khoảng 356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Thay đổi từng đầu vào một. Đoán hướng thay đổi trước (bình chọn)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Dự phòng khi không có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Điều gì làm n thay đổi?</a:t>
            </a:r>
          </a:p>
          <a:p>
            <a:pPr marL="0" indent="0" algn="ctr">
              <a:lnSpc>
                <a:spcPct val="104000"/>
              </a:lnSpc>
              <a:spcBef>
                <a:spcPts val="300"/>
              </a:spcBef>
              <a:buNone/>
            </a:pPr>
            <a:r>
              <a:rPr lang="en-US" sz="1500" dirty="0">
                <a:solidFill>
                  <a:srgbClr val="000000"/>
                </a:solidFill>
                <a:latin typeface="Arial"/>
                <a:cs typeface="Arial"/>
              </a:rPr>
              <a:t>Tác động nhỏ hơn: n tăng</a:t>
            </a:r>
          </a:p>
          <a:p>
            <a:pPr marL="0" indent="0" algn="ctr">
              <a:lnSpc>
                <a:spcPct val="104000"/>
              </a:lnSpc>
              <a:spcBef>
                <a:spcPts val="300"/>
              </a:spcBef>
              <a:buNone/>
            </a:pPr>
            <a:r>
              <a:rPr lang="en-US" sz="1500" dirty="0">
                <a:solidFill>
                  <a:srgbClr val="000000"/>
                </a:solidFill>
                <a:latin typeface="Arial"/>
                <a:cs typeface="Arial"/>
              </a:rPr>
              <a:t>Nhiễu (SD) nhiều hơn: n tăng</a:t>
            </a:r>
          </a:p>
          <a:p>
            <a:pPr marL="0" indent="0" algn="ctr">
              <a:lnSpc>
                <a:spcPct val="104000"/>
              </a:lnSpc>
              <a:spcBef>
                <a:spcPts val="300"/>
              </a:spcBef>
              <a:buNone/>
            </a:pPr>
            <a:r>
              <a:rPr lang="en-US" sz="1500" dirty="0">
                <a:solidFill>
                  <a:srgbClr val="000000"/>
                </a:solidFill>
                <a:latin typeface="Arial"/>
                <a:cs typeface="Arial"/>
              </a:rPr>
              <a:t>Lực thống kê cao hơn: n tăng</a:t>
            </a:r>
          </a:p>
          <a:p>
            <a:pPr marL="0" indent="0" algn="ctr">
              <a:lnSpc>
                <a:spcPct val="104000"/>
              </a:lnSpc>
              <a:spcBef>
                <a:spcPts val="300"/>
              </a:spcBef>
              <a:buNone/>
            </a:pPr>
            <a:r>
              <a:rPr lang="en-US" sz="1500" dirty="0">
                <a:solidFill>
                  <a:srgbClr val="000000"/>
                </a:solidFill>
                <a:latin typeface="Arial"/>
                <a:cs typeface="Arial"/>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kiểm định: một bảng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614683"/>
          <a:ext cx="11277600" cy="284320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Kết cục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Hình dạng hoặc tần số</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Hai nhóm độc lập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Cùng người bệnh đo hai lần (ghép cặp)</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Gần đối xứng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 ghép cặp</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Lệch, hoặc mẫu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cho cặp (signed-rank)</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Tần số kỳ vọng từ 5 trở lên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Tần số nhỏ (dưới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Chính xác Fisher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454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 hình dạng + ghép cặp hay không = kiểm định phù hợp. Bài báo 1 (Boulet 2024) dùng Mann-Whitney vì cân bằng dịch bị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hay không ghép cặp? Cùng hay khác người bệnh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người bệnh đo hai lần = kiểm định ghép cặp. Khác người bệnh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So sánh bội (multiple comparisons): ví dụ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Cần làm gì</a:t>
            </a:r>
          </a:p>
          <a:p>
            <a:pPr marL="274320" indent="-274320" algn="l">
              <a:spcBef>
                <a:spcPts val="440"/>
              </a:spcBef>
              <a:buFont typeface="Arial"/>
              <a:buChar char="•"/>
            </a:pPr>
            <a:r>
              <a:rPr lang="en-US" sz="1450" dirty="0">
                <a:solidFill>
                  <a:srgbClr val="000000"/>
                </a:solidFill>
                <a:latin typeface="Arial"/>
                <a:cs typeface="Arial"/>
              </a:rPr>
              <a:t>Định trước một kết cục chính</a:t>
            </a:r>
          </a:p>
          <a:p>
            <a:pPr marL="274320" indent="-274320" algn="l">
              <a:spcBef>
                <a:spcPts val="440"/>
              </a:spcBef>
              <a:buFont typeface="Arial"/>
              <a:buChar char="•"/>
            </a:pPr>
            <a:r>
              <a:rPr lang="en-US" sz="1450" dirty="0">
                <a:solidFill>
                  <a:srgbClr val="000000"/>
                </a:solidFill>
                <a:latin typeface="Arial"/>
                <a:cs typeface="Arial"/>
              </a:rPr>
              <a:t>Gọi phần còn lại là thăm dò</a:t>
            </a:r>
          </a:p>
          <a:p>
            <a:pPr marL="274320" indent="-274320" algn="l">
              <a:spcBef>
                <a:spcPts val="440"/>
              </a:spcBef>
              <a:buFont typeface="Arial"/>
              <a:buChar char="•"/>
            </a:pPr>
            <a:r>
              <a:rPr lang="en-US" sz="1450" dirty="0">
                <a:solidFill>
                  <a:srgbClr val="000000"/>
                </a:solidFill>
                <a:latin typeface="Arial"/>
                <a:cs typeface="Arial"/>
              </a:rPr>
              <a:t>Hiệu chỉnh, ví dụ Bonferroni: 0.05 / số kiểm định</a:t>
            </a:r>
          </a:p>
          <a:p>
            <a:pPr marL="274320" indent="-274320" algn="l">
              <a:spcBef>
                <a:spcPts val="440"/>
              </a:spcBef>
              <a:buFont typeface="Arial"/>
              <a:buChar char="•"/>
            </a:pPr>
            <a:r>
              <a:rPr lang="en-US" sz="1450" dirty="0">
                <a:solidFill>
                  <a:srgbClr val="000000"/>
                </a:solidFill>
                <a:latin typeface="Arial"/>
                <a:cs typeface="Arial"/>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(lệch) ở nhóm cân bằng dịch dương và âm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(có/không) ở 300 so với 300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lúc vào và sau 6 giờ trên cùng 40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Lọc máu (có/không): 2/24 so với 5/24 người bệnh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Khi bình phương</a:t>
            </a:r>
          </a:p>
          <a:p>
            <a:pPr marL="0" indent="0" algn="ctr">
              <a:lnSpc>
                <a:spcPct val="104000"/>
              </a:lnSpc>
              <a:spcBef>
                <a:spcPts val="300"/>
              </a:spcBef>
              <a:buNone/>
            </a:pPr>
            <a:r>
              <a:rPr lang="en-US" sz="1500" dirty="0">
                <a:solidFill>
                  <a:srgbClr val="000000"/>
                </a:solidFill>
                <a:latin typeface="Arial"/>
                <a:cs typeface="Arial"/>
              </a:rPr>
              <a:t>t ghép cặp</a:t>
            </a:r>
          </a:p>
          <a:p>
            <a:pPr marL="0" indent="0" algn="ctr">
              <a:lnSpc>
                <a:spcPct val="104000"/>
              </a:lnSpc>
              <a:spcBef>
                <a:spcPts val="300"/>
              </a:spcBef>
              <a:buNone/>
            </a:pPr>
            <a:r>
              <a:rPr lang="en-US" sz="1500" dirty="0">
                <a:solidFill>
                  <a:srgbClr val="000000"/>
                </a:solidFill>
                <a:latin typeface="Arial"/>
                <a:cs typeface="Arial"/>
              </a:rPr>
              <a:t>Chính xác Fisher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dùng được bảng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Chọn kiểm định theo kết cục, rồi đọc kết quả như một tác động kèm KTC.</a:t>
            </a:r>
          </a:p>
          <a:p>
            <a:pPr marL="0" indent="0" algn="ctr">
              <a:spcBef>
                <a:spcPts val="1200"/>
              </a:spcBef>
              <a:buNone/>
            </a:pPr>
            <a:r>
              <a:rPr lang="en-US" sz="1900" i="1" dirty="0">
                <a:solidFill>
                  <a:srgbClr val="595959"/>
                </a:solidFill>
                <a:latin typeface="Arial"/>
                <a:cs typeface="Arial"/>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Tuổi (đối xứng): kiểm định 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và lactat (lệch):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Tử vong 28 ngày (có/không): bảng 2x2 và khi bình phương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Bảng quyết định</a:t>
            </a:r>
          </a:p>
          <a:p>
            <a:pPr marL="0" indent="0" algn="ctr">
              <a:lnSpc>
                <a:spcPct val="104000"/>
              </a:lnSpc>
              <a:spcBef>
                <a:spcPts val="300"/>
              </a:spcBef>
              <a:buNone/>
            </a:pPr>
            <a:r>
              <a:rPr lang="en-US" sz="1500" dirty="0">
                <a:solidFill>
                  <a:srgbClr val="000000"/>
                </a:solidFill>
                <a:latin typeface="Arial"/>
                <a:cs typeface="Arial"/>
              </a:rPr>
              <a:t>Số đo hay phân loại?</a:t>
            </a:r>
          </a:p>
          <a:p>
            <a:pPr marL="0" indent="0" algn="ctr">
              <a:lnSpc>
                <a:spcPct val="104000"/>
              </a:lnSpc>
              <a:spcBef>
                <a:spcPts val="300"/>
              </a:spcBef>
              <a:buNone/>
            </a:pPr>
            <a:r>
              <a:rPr lang="en-US" sz="1500" dirty="0">
                <a:solidFill>
                  <a:srgbClr val="000000"/>
                </a:solidFill>
                <a:latin typeface="Arial"/>
                <a:cs typeface="Arial"/>
              </a:rPr>
              <a:t>Đối xứng hay lệch?</a:t>
            </a:r>
          </a:p>
          <a:p>
            <a:pPr marL="0" indent="0" algn="ctr">
              <a:lnSpc>
                <a:spcPct val="104000"/>
              </a:lnSpc>
              <a:spcBef>
                <a:spcPts val="300"/>
              </a:spcBef>
              <a:buNone/>
            </a:pPr>
            <a:r>
              <a:rPr lang="en-US" sz="1500" dirty="0">
                <a:solidFill>
                  <a:srgbClr val="000000"/>
                </a:solidFill>
                <a:latin typeface="Arial"/>
                <a:cs typeface="Arial"/>
              </a:rPr>
              <a:t>Ghép cặp hay không?</a:t>
            </a:r>
          </a:p>
          <a:p>
            <a:pPr marL="0" indent="0" algn="ctr">
              <a:lnSpc>
                <a:spcPct val="104000"/>
              </a:lnSpc>
              <a:spcBef>
                <a:spcPts val="300"/>
              </a:spcBef>
              <a:buNone/>
            </a:pPr>
            <a:r>
              <a:rPr lang="en-US" sz="1500" dirty="0">
                <a:solidFill>
                  <a:srgbClr val="000000"/>
                </a:solidFill>
                <a:latin typeface="Arial"/>
                <a:cs typeface="Arial"/>
              </a:rPr>
              <a:t>Tác động + KTC 95%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94683"/>
          <a:ext cx="11277600" cy="320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300" b="1" dirty="0">
                          <a:solidFill>
                            <a:srgbClr val="FFFFFF"/>
                          </a:solidFill>
                          <a:latin typeface="Arial"/>
                          <a:cs typeface="Arial"/>
                        </a:rPr>
                        <a:t>Kết cục (loại)</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dương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Kiểm định</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Kết quả</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Tử vong 28 ngày (có/không)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Hiệu số nguy cơ 17.6 điểm (KTC 95% 10.7 đến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Tổn thương thận cấp (có/không)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Số ngày không thở máy (0-28, lệch)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28 (22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20 (0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Thời gian nằm ICU ở người sống (ngày, lệch)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đến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đến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Chênh lệch 2.5 ngày (KTC 95% 1.8 đến 3.2), p &lt; 0.001</a:t>
                      </a:r>
                    </a:p>
                  </a:txBody>
                  <a:tcPr marL="73152" marR="73152" marT="45720" marB="45720" anchor="ctr">
                    <a:solidFill>
                      <a:srgbClr val="F5F9FA"/>
                    </a:solidFill>
                  </a:tcPr>
                </a:tc>
              </a:tr>
            </a:tbl>
          </a:graphicData>
        </a:graphic>
      </p:graphicFrame>
      <p:sp>
        <p:nvSpPr>
          <p:cNvPr id="31" name="Caption"/>
          <p:cNvSpPr txBox="1"/>
          <p:nvPr/>
        </p:nvSpPr>
        <p:spPr>
          <a:xfrm>
            <a:off x="457200" y="478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hoặc trung vị (IQR). So sánh chưa hiệu chỉnh. Dữ liệu mô phỏng (key_results.md). 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1 (Q1),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Nguy cơ</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Dương: 134/373 = 35.9%</a:t>
            </a:r>
          </a:p>
          <a:p>
            <a:pPr marL="0" indent="0" algn="ctr">
              <a:lnSpc>
                <a:spcPct val="104000"/>
              </a:lnSpc>
              <a:spcBef>
                <a:spcPts val="200"/>
              </a:spcBef>
              <a:buNone/>
            </a:pPr>
            <a:r>
              <a:rPr lang="en-US" sz="1500" dirty="0">
                <a:solidFill>
                  <a:srgbClr val="000000"/>
                </a:solidFill>
                <a:latin typeface="Arial"/>
                <a:cs typeface="Arial"/>
              </a:rPr>
              <a:t>Âm: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Hiệu số</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điểm phần trăm</a:t>
            </a:r>
          </a:p>
          <a:p>
            <a:pPr marL="0" indent="0" algn="ctr">
              <a:lnSpc>
                <a:spcPct val="104000"/>
              </a:lnSpc>
              <a:spcBef>
                <a:spcPts val="200"/>
              </a:spcBef>
              <a:buNone/>
            </a:pPr>
            <a:r>
              <a:rPr lang="en-US" sz="1500" dirty="0">
                <a:solidFill>
                  <a:srgbClr val="000000"/>
                </a:solidFill>
                <a:latin typeface="Arial"/>
                <a:cs typeface="Arial"/>
              </a:rPr>
              <a:t>KTC 95%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Tỷ số</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Nguy cơ tương đối (RR) 1.96</a:t>
            </a:r>
          </a:p>
          <a:p>
            <a:pPr marL="0" indent="0" algn="ctr">
              <a:lnSpc>
                <a:spcPct val="104000"/>
              </a:lnSpc>
              <a:spcBef>
                <a:spcPts val="200"/>
              </a:spcBef>
              <a:buNone/>
            </a:pPr>
            <a:r>
              <a:rPr lang="en-US" sz="1500" dirty="0">
                <a:solidFill>
                  <a:srgbClr val="000000"/>
                </a:solidFill>
                <a:latin typeface="Arial"/>
                <a:cs typeface="Arial"/>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định</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Khi bình phương,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Nhưng...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Chưa hiệu chỉnh: nhóm dương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tác động và KTC.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tử vong 28 ngày trong bảng so sánh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kiểm định nào đã được dùng,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nói kết quả như một tác động kèm KTC 95%. Giảng viên viết thành một câu Kết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một lý do khiến phép so sánh có thể bị sai lệch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giảng viên đọc mỗi kết quả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Tránh</a:t>
            </a:r>
          </a:p>
          <a:p>
            <a:pPr marL="0" indent="0" algn="ctr">
              <a:lnSpc>
                <a:spcPct val="104000"/>
              </a:lnSpc>
              <a:spcBef>
                <a:spcPts val="300"/>
              </a:spcBef>
              <a:buNone/>
            </a:pPr>
            <a:r>
              <a:rPr lang="en-US" sz="1500" dirty="0">
                <a:solidFill>
                  <a:srgbClr val="000000"/>
                </a:solidFill>
                <a:latin typeface="Arial"/>
                <a:cs typeface="Arial"/>
              </a:rPr>
              <a:t>Chỉ có giá trị p</a:t>
            </a:r>
          </a:p>
          <a:p>
            <a:pPr marL="0" indent="0" algn="ctr">
              <a:lnSpc>
                <a:spcPct val="104000"/>
              </a:lnSpc>
              <a:spcBef>
                <a:spcPts val="300"/>
              </a:spcBef>
              <a:buNone/>
            </a:pPr>
            <a:r>
              <a:rPr lang="en-US" sz="1500" dirty="0">
                <a:solidFill>
                  <a:srgbClr val="000000"/>
                </a:solidFill>
                <a:latin typeface="Arial"/>
                <a:cs typeface="Arial"/>
              </a:rPr>
              <a:t>'chứng minh', 'gây ra'</a:t>
            </a:r>
          </a:p>
          <a:p>
            <a:pPr marL="0" indent="0" algn="ctr">
              <a:lnSpc>
                <a:spcPct val="104000"/>
              </a:lnSpc>
              <a:spcBef>
                <a:spcPts val="300"/>
              </a:spcBef>
              <a:buNone/>
            </a:pPr>
            <a:r>
              <a:rPr lang="en-US" sz="1500" dirty="0">
                <a:solidFill>
                  <a:srgbClr val="000000"/>
                </a:solidFill>
                <a:latin typeface="Arial"/>
                <a:cs typeface="Arial"/>
              </a:rPr>
              <a:t>'xu hướng' khi p &gt; 0.05</a:t>
            </a:r>
          </a:p>
          <a:p>
            <a:pPr marL="0" indent="0" algn="ctr">
              <a:lnSpc>
                <a:spcPct val="104000"/>
              </a:lnSpc>
              <a:spcBef>
                <a:spcPts val="300"/>
              </a:spcBef>
              <a:buNone/>
            </a:pPr>
            <a:r>
              <a:rPr lang="en-US" sz="1500" dirty="0">
                <a:solidFill>
                  <a:srgbClr val="000000"/>
                </a:solidFill>
                <a:latin typeface="Arial"/>
                <a:cs typeface="Arial"/>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Kết quả cho Q1, mỗi câu Q2 đến Q5 một dòng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chạy mô hình mới đọc được mô hình.</a:t>
            </a:r>
          </a:p>
          <a:p>
            <a:pPr marL="0" indent="0" algn="ctr">
              <a:spcBef>
                <a:spcPts val="1200"/>
              </a:spcBef>
              <a:buNone/>
            </a:pPr>
            <a:r>
              <a:rPr lang="en-US" sz="1900" i="1" dirty="0">
                <a:solidFill>
                  <a:srgbClr val="595959"/>
                </a:solidFill>
                <a:latin typeface="Arial"/>
                <a:cs typeface="Arial"/>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Hồi quy logistic biến kết cục có/không thành tỷ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Kết cục của anh chị là...</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Mô hình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báo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'không tác động'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ví dụ 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tuyến tính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Hệ số (B): một hiệu số</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Có / không, ví dụ tử vong đến ngày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Hồi quy logistic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Tỷ số chênh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Thời gian đến sự kiện, ví dụ thời gian đến tử vong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Cox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Tỷ số nguy cơ tức thời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Hiệu chỉnh = so sánh những người bệnh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8016"/>
          <a:ext cx="11277600" cy="322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Biến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OR đã hiệu chỉnh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95%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có chứa 1 không?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Cân bằng dịch dương (có so với 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đến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Tuổi (mỗi 10 năm)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đến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Điểm SOFA (mỗi 1 điểm)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đến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Nữ (so với nam)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đến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 (mỗi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đến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FFFFF"/>
                    </a:solidFill>
                  </a:tcPr>
                </a:tc>
              </a:tr>
            </a:tbl>
          </a:graphicData>
        </a:graphic>
      </p:graphicFrame>
      <p:sp>
        <p:nvSpPr>
          <p:cNvPr id="31" name="Caption"/>
          <p:cNvSpPr txBox="1"/>
          <p:nvPr/>
        </p:nvSpPr>
        <p:spPr>
          <a:xfrm>
            <a:off x="457200" y="48012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Kết cục: tử vong đến ngày 28. Hồi quy logistic đa biến, số liệu giả định. Các dòng sau dòng 1 là những yếu tố gây nhiễu tác giả đã 'hiệu chỉnh'. Đọc mỗi dòng: so sánh gì, tác động, KTC 95%, KTC có chứa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đọc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Dùng bảng ở trang trước ('Đọc bảng hồi quy, từng dòng một')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với giới nữ, KTC 95% có chứa 1 không? Điều đó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'OR 1.15 mỗi điểm SOFA'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cho cả lớp: một câu dễ hiểu cho cân bằng dịch dương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Luyện thêm ở nhà: Bài 5 và 6 trong phiếu bài tập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Đọc theo 4 bước</a:t>
            </a:r>
          </a:p>
          <a:p>
            <a:pPr marL="0" indent="0" algn="ctr">
              <a:lnSpc>
                <a:spcPct val="104000"/>
              </a:lnSpc>
              <a:spcBef>
                <a:spcPts val="300"/>
              </a:spcBef>
              <a:buNone/>
            </a:pPr>
            <a:r>
              <a:rPr lang="en-US" sz="1500" dirty="0">
                <a:solidFill>
                  <a:srgbClr val="000000"/>
                </a:solidFill>
                <a:latin typeface="Arial"/>
                <a:cs typeface="Arial"/>
              </a:rPr>
              <a:t>So sánh cái gì?</a:t>
            </a:r>
          </a:p>
          <a:p>
            <a:pPr marL="0" indent="0" algn="ctr">
              <a:lnSpc>
                <a:spcPct val="104000"/>
              </a:lnSpc>
              <a:spcBef>
                <a:spcPts val="300"/>
              </a:spcBef>
              <a:buNone/>
            </a:pPr>
            <a:r>
              <a:rPr lang="en-US" sz="1500" dirty="0">
                <a:solidFill>
                  <a:srgbClr val="000000"/>
                </a:solidFill>
                <a:latin typeface="Arial"/>
                <a:cs typeface="Arial"/>
              </a:rPr>
              <a:t>Tác động lớn đến đâu?</a:t>
            </a:r>
          </a:p>
          <a:p>
            <a:pPr marL="0" indent="0" algn="ctr">
              <a:lnSpc>
                <a:spcPct val="104000"/>
              </a:lnSpc>
              <a:spcBef>
                <a:spcPts val="300"/>
              </a:spcBef>
              <a:buNone/>
            </a:pPr>
            <a:r>
              <a:rPr lang="en-US" sz="1500" dirty="0">
                <a:solidFill>
                  <a:srgbClr val="000000"/>
                </a:solidFill>
                <a:latin typeface="Arial"/>
                <a:cs typeface="Arial"/>
              </a:rPr>
              <a:t>KTC rộng đến đâu?</a:t>
            </a:r>
          </a:p>
          <a:p>
            <a:pPr marL="0" indent="0" algn="ctr">
              <a:lnSpc>
                <a:spcPct val="104000"/>
              </a:lnSpc>
              <a:spcBef>
                <a:spcPts val="300"/>
              </a:spcBef>
              <a:buNone/>
            </a:pPr>
            <a:r>
              <a:rPr lang="en-US" sz="1500" dirty="0">
                <a:solidFill>
                  <a:srgbClr val="000000"/>
                </a:solidFill>
                <a:latin typeface="Arial"/>
                <a:cs typeface="Arial"/>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Một câu diễn giải đúng, dễ hiểu, được cả lớp thống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Vì sao chọn biến từng bước gây hiểu nhầm</a:t>
            </a:r>
          </a:p>
          <a:p>
            <a:pPr marL="274320" indent="-274320" algn="l">
              <a:spcBef>
                <a:spcPts val="440"/>
              </a:spcBef>
              <a:buFont typeface="Arial"/>
              <a:buChar char="•"/>
            </a:pPr>
            <a:r>
              <a:rPr lang="en-US" sz="1450" dirty="0">
                <a:solidFill>
                  <a:srgbClr val="000000"/>
                </a:solidFill>
                <a:latin typeface="Arial"/>
                <a:cs typeface="Arial"/>
              </a:rPr>
              <a:t>Chọn biến theo giá trị p</a:t>
            </a:r>
          </a:p>
          <a:p>
            <a:pPr marL="274320" indent="-274320" algn="l">
              <a:spcBef>
                <a:spcPts val="440"/>
              </a:spcBef>
              <a:buFont typeface="Arial"/>
              <a:buChar char="•"/>
            </a:pPr>
            <a:r>
              <a:rPr lang="en-US" sz="1450" dirty="0">
                <a:solidFill>
                  <a:srgbClr val="000000"/>
                </a:solidFill>
                <a:latin typeface="Arial"/>
                <a:cs typeface="Arial"/>
              </a:rPr>
              <a:t>Tìm ra 'yếu tố dự báo' ngẫu nhiên</a:t>
            </a:r>
          </a:p>
          <a:p>
            <a:pPr marL="274320" indent="-274320" algn="l">
              <a:spcBef>
                <a:spcPts val="440"/>
              </a:spcBef>
              <a:buFont typeface="Arial"/>
              <a:buChar char="•"/>
            </a:pPr>
            <a:r>
              <a:rPr lang="en-US" sz="1450" dirty="0">
                <a:solidFill>
                  <a:srgbClr val="000000"/>
                </a:solidFill>
                <a:latin typeface="Arial"/>
                <a:cs typeface="Arial"/>
              </a:rPr>
              <a:t>Tác động quá lớn, KTC quá hẹp</a:t>
            </a:r>
          </a:p>
          <a:p>
            <a:pPr marL="274320" indent="-274320" algn="l">
              <a:spcBef>
                <a:spcPts val="440"/>
              </a:spcBef>
              <a:buFont typeface="Arial"/>
              <a:buChar char="•"/>
            </a:pPr>
            <a:r>
              <a:rPr lang="en-US" sz="1450" dirty="0">
                <a:solidFill>
                  <a:srgbClr val="000000"/>
                </a:solidFill>
                <a:latin typeface="Arial"/>
                <a:cs typeface="Arial"/>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Hiệu chỉnh theo kế hoạch, đọc KTC, và trung thực về các ô trống.</a:t>
            </a:r>
          </a:p>
          <a:p>
            <a:pPr marL="0" indent="0" algn="ctr">
              <a:spcBef>
                <a:spcPts val="1200"/>
              </a:spcBef>
              <a:buNone/>
            </a:pPr>
            <a:r>
              <a:rPr lang="en-US" sz="1900" i="1" dirty="0">
                <a:solidFill>
                  <a:srgbClr val="595959"/>
                </a:solidFill>
                <a:latin typeface="Arial"/>
                <a:cs typeface="Arial"/>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Kế hoạch phân tích thống kê (SAP) được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Chính</a:t>
            </a:r>
          </a:p>
        </p:txBody>
      </p:sp>
      <p:sp>
        <p:nvSpPr>
          <p:cNvPr id="81" name="StepText"/>
          <p:cNvSpPr/>
          <p:nvPr/>
        </p:nvSpPr>
        <p:spPr>
          <a:xfrm>
            <a:off x="49720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Tử vong 28 ngày</a:t>
            </a:r>
          </a:p>
          <a:p>
            <a:pPr marL="0" indent="0" algn="ctr">
              <a:lnSpc>
                <a:spcPct val="104000"/>
              </a:lnSpc>
              <a:spcBef>
                <a:spcPts val="200"/>
              </a:spcBef>
              <a:buNone/>
            </a:pPr>
            <a:r>
              <a:rPr lang="en-US" sz="1500" dirty="0">
                <a:solidFill>
                  <a:srgbClr val="000000"/>
                </a:solidFill>
                <a:latin typeface="Arial"/>
                <a:cs typeface="Arial"/>
              </a:rPr>
              <a:t>Hồi quy logistic, tỷ số chênh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Gây nhiễu</a:t>
            </a:r>
          </a:p>
        </p:txBody>
      </p:sp>
      <p:sp>
        <p:nvSpPr>
          <p:cNvPr id="83" name="StepText"/>
          <p:cNvSpPr/>
          <p:nvPr/>
        </p:nvSpPr>
        <p:spPr>
          <a:xfrm>
            <a:off x="274072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Tuổi, SOFA, lactat</a:t>
            </a:r>
          </a:p>
          <a:p>
            <a:pPr marL="0" indent="0" algn="ctr">
              <a:lnSpc>
                <a:spcPct val="104000"/>
              </a:lnSpc>
              <a:spcBef>
                <a:spcPts val="200"/>
              </a:spcBef>
              <a:buNone/>
            </a:pPr>
            <a:r>
              <a:rPr lang="en-US" sz="1500" dirty="0">
                <a:solidFill>
                  <a:srgbClr val="000000"/>
                </a:solidFill>
                <a:latin typeface="Arial"/>
                <a:cs typeface="Arial"/>
              </a:rPr>
              <a:t>Vận mạch, thở máy</a:t>
            </a:r>
          </a:p>
          <a:p>
            <a:pPr marL="0" indent="0" algn="ctr">
              <a:lnSpc>
                <a:spcPct val="104000"/>
              </a:lnSpc>
              <a:spcBef>
                <a:spcPts val="200"/>
              </a:spcBef>
              <a:buNone/>
            </a:pPr>
            <a:r>
              <a:rPr lang="en-US" sz="1500" dirty="0">
                <a:solidFill>
                  <a:srgbClr val="000000"/>
                </a:solidFill>
                <a:latin typeface="Arial"/>
                <a:cs typeface="Arial"/>
              </a:rPr>
              <a:t>Bệnh thận mạn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Hỗ trợ</a:t>
            </a:r>
          </a:p>
        </p:txBody>
      </p:sp>
      <p:sp>
        <p:nvSpPr>
          <p:cNvPr id="85" name="StepText"/>
          <p:cNvSpPr/>
          <p:nvPr/>
        </p:nvSpPr>
        <p:spPr>
          <a:xfrm>
            <a:off x="498424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và kiểm định log-rank</a:t>
            </a:r>
          </a:p>
          <a:p>
            <a:pPr marL="0" indent="0" algn="ctr">
              <a:lnSpc>
                <a:spcPct val="104000"/>
              </a:lnSpc>
              <a:spcBef>
                <a:spcPts val="200"/>
              </a:spcBef>
              <a:buNone/>
            </a:pPr>
            <a:r>
              <a:rPr lang="en-US" sz="1500" dirty="0">
                <a:solidFill>
                  <a:srgbClr val="000000"/>
                </a:solidFill>
                <a:latin typeface="Arial"/>
                <a:cs typeface="Arial"/>
              </a:rPr>
              <a:t>Tỷ số nguy cơ tức thời (HR) từ mô hình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nhóm</a:t>
            </a:r>
          </a:p>
        </p:txBody>
      </p:sp>
      <p:sp>
        <p:nvSpPr>
          <p:cNvPr id="87" name="StepText"/>
          <p:cNvSpPr/>
          <p:nvPr/>
        </p:nvSpPr>
        <p:spPr>
          <a:xfrm>
            <a:off x="722776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phân nhóm định trước: 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Dữ liệu thiếu</a:t>
            </a:r>
          </a:p>
        </p:txBody>
      </p:sp>
      <p:sp>
        <p:nvSpPr>
          <p:cNvPr id="89" name="StepText"/>
          <p:cNvSpPr/>
          <p:nvPr/>
        </p:nvSpPr>
        <p:spPr>
          <a:xfrm>
            <a:off x="947128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Phân tích các trường hợp đầy đủ</a:t>
            </a:r>
          </a:p>
          <a:p>
            <a:pPr marL="0" indent="0" algn="ctr">
              <a:lnSpc>
                <a:spcPct val="104000"/>
              </a:lnSpc>
              <a:spcBef>
                <a:spcPts val="200"/>
              </a:spcBef>
              <a:buNone/>
            </a:pPr>
            <a:r>
              <a:rPr lang="en-US" sz="15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từng dòng: so sánh gì, OR, KTC 95%,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Mô hình Cox: cùng câu chuyện bằng tỷ số nguy cơ tức thời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Phân tích hỗ trợ của Q1 (04_models.R). HR = tỷ số nguy cơ tức thời. OR = tỷ số chênh.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KTC 95%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đã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KTC 95% 1.00 đến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Nguy cơ tỷ lệ: kiểm định chung p = 0.10</a:t>
            </a:r>
          </a:p>
          <a:p>
            <a:pPr marL="0" indent="0" algn="ctr">
              <a:lnSpc>
                <a:spcPct val="104000"/>
              </a:lnSpc>
              <a:spcBef>
                <a:spcPts val="400"/>
              </a:spcBef>
              <a:buNone/>
            </a:pPr>
            <a:r>
              <a:rPr lang="en-US" sz="1600" dirty="0">
                <a:solidFill>
                  <a:srgbClr val="000000"/>
                </a:solidFill>
                <a:latin typeface="Arial"/>
                <a:cs typeface="Arial"/>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OR đã hiệu chỉnh 1.62, p = 0.044</a:t>
            </a:r>
          </a:p>
          <a:p>
            <a:pPr marL="0" indent="0" algn="ctr">
              <a:lnSpc>
                <a:spcPct val="104000"/>
              </a:lnSpc>
              <a:spcBef>
                <a:spcPts val="400"/>
              </a:spcBef>
              <a:buNone/>
            </a:pPr>
            <a:r>
              <a:rPr lang="en-US" sz="1600" dirty="0">
                <a:solidFill>
                  <a:srgbClr val="000000"/>
                </a:solidFill>
                <a:latin typeface="Arial"/>
                <a:cs typeface="Arial"/>
              </a:rPr>
              <a:t>HR đã hiệu chỉnh 1.46, p = 0.053</a:t>
            </a:r>
          </a:p>
          <a:p>
            <a:pPr marL="0" indent="0" algn="ctr">
              <a:lnSpc>
                <a:spcPct val="104000"/>
              </a:lnSpc>
              <a:spcBef>
                <a:spcPts val="400"/>
              </a:spcBef>
              <a:buNone/>
            </a:pPr>
            <a:r>
              <a:rPr lang="en-US" sz="1600" dirty="0">
                <a:solidFill>
                  <a:srgbClr val="000000"/>
                </a:solidFill>
                <a:latin typeface="Arial"/>
                <a:cs typeface="Arial"/>
              </a:rPr>
              <a:t>Cùng chiều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0.044 và p = 0.053 nói cùng một điều: hãy đọc ước lượng và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RR, OR và HR: ý nghĩa và khi nào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ba đều so sánh hai nhóm. 1 = không khác biệt. Trên 1: nhiều biến cố hơn. Dưới 1: ít hơn.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Tỷ số nguy cơ (RR)</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Nguy cơ ở nhóm này / nguy cơ ở nhóm kia</a:t>
            </a:r>
          </a:p>
          <a:p>
            <a:pPr marL="0" indent="0" algn="ctr">
              <a:lnSpc>
                <a:spcPct val="104000"/>
              </a:lnSpc>
              <a:spcBef>
                <a:spcPts val="400"/>
              </a:spcBef>
              <a:buNone/>
            </a:pPr>
            <a:r>
              <a:rPr lang="en-US" sz="1750" dirty="0">
                <a:solidFill>
                  <a:srgbClr val="000000"/>
                </a:solidFill>
                <a:latin typeface="Arial"/>
                <a:cs typeface="Arial"/>
              </a:rPr>
              <a:t>Thử nghiệm và thuần tập, từ bảng 2x2</a:t>
            </a:r>
          </a:p>
          <a:p>
            <a:pPr marL="0" indent="0" algn="ctr">
              <a:lnSpc>
                <a:spcPct val="104000"/>
              </a:lnSpc>
              <a:spcBef>
                <a:spcPts val="400"/>
              </a:spcBef>
              <a:buNone/>
            </a:pPr>
            <a:r>
              <a:rPr lang="en-US" sz="1750" dirty="0">
                <a:solidFill>
                  <a:srgbClr val="000000"/>
                </a:solidFill>
                <a:latin typeface="Arial"/>
                <a:cs typeface="Arial"/>
              </a:rPr>
              <a:t>Buổi 4</a:t>
            </a:r>
          </a:p>
        </p:txBody>
      </p:sp>
      <p:sp>
        <p:nvSpPr>
          <p:cNvPr id="72" name="CardHead"/>
          <p:cNvSpPr/>
          <p:nvPr/>
        </p:nvSpPr>
        <p:spPr>
          <a:xfrm>
            <a:off x="4283066"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Tỷ số chênh (OR)</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Odds ở nhóm này / odds ở nhóm kia</a:t>
            </a:r>
          </a:p>
          <a:p>
            <a:pPr marL="0" indent="0" algn="ctr">
              <a:lnSpc>
                <a:spcPct val="104000"/>
              </a:lnSpc>
              <a:spcBef>
                <a:spcPts val="400"/>
              </a:spcBef>
              <a:buNone/>
            </a:pPr>
            <a:r>
              <a:rPr lang="en-US" sz="1750" dirty="0">
                <a:solidFill>
                  <a:srgbClr val="000000"/>
                </a:solidFill>
                <a:latin typeface="Arial"/>
                <a:cs typeface="Arial"/>
              </a:rPr>
              <a:t>Nghiên cứu bệnh-chứng và hồi quy logistic</a:t>
            </a:r>
          </a:p>
          <a:p>
            <a:pPr marL="0" indent="0" algn="ctr">
              <a:lnSpc>
                <a:spcPct val="104000"/>
              </a:lnSpc>
              <a:spcBef>
                <a:spcPts val="400"/>
              </a:spcBef>
              <a:buNone/>
            </a:pPr>
            <a:r>
              <a:rPr lang="en-US" sz="1750" dirty="0">
                <a:solidFill>
                  <a:srgbClr val="000000"/>
                </a:solidFill>
                <a:latin typeface="Arial"/>
                <a:cs typeface="Arial"/>
              </a:rPr>
              <a:t>Gần bằng RR khi kết cục hiếm</a:t>
            </a:r>
          </a:p>
        </p:txBody>
      </p:sp>
      <p:sp>
        <p:nvSpPr>
          <p:cNvPr id="74" name="CardHead"/>
          <p:cNvSpPr/>
          <p:nvPr/>
        </p:nvSpPr>
        <p:spPr>
          <a:xfrm>
            <a:off x="8108932"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Tỷ số nguy cơ tức thời (HR)</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Tốc độ xảy ra biến cố theo thời gian, nhóm này so với nhóm kia</a:t>
            </a:r>
          </a:p>
          <a:p>
            <a:pPr marL="0" indent="0" algn="ctr">
              <a:lnSpc>
                <a:spcPct val="104000"/>
              </a:lnSpc>
              <a:spcBef>
                <a:spcPts val="400"/>
              </a:spcBef>
              <a:buNone/>
            </a:pPr>
            <a:r>
              <a:rPr lang="en-US" sz="1750" dirty="0">
                <a:solidFill>
                  <a:srgbClr val="000000"/>
                </a:solidFill>
                <a:latin typeface="Arial"/>
                <a:cs typeface="Arial"/>
              </a:rPr>
              <a:t>Thời gian đến biến cố: Kaplan-Meier và hồi quy Cox</a:t>
            </a:r>
          </a:p>
          <a:p>
            <a:pPr marL="0" indent="0" algn="ctr">
              <a:lnSpc>
                <a:spcPct val="104000"/>
              </a:lnSpc>
              <a:spcBef>
                <a:spcPts val="400"/>
              </a:spcBef>
              <a:buNone/>
            </a:pPr>
            <a:r>
              <a:rPr lang="en-US" sz="1750" dirty="0">
                <a:solidFill>
                  <a:srgbClr val="000000"/>
                </a:solidFill>
                <a:latin typeface="Arial"/>
                <a:cs typeface="Arial"/>
              </a:rPr>
              <a:t>Buổi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và thiết kế quyết định tỷ số: nguy cơ (RR), odds (OR) hay tốc độ theo thời gian (HR).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Lactat thiếu chủ yếu ở người bệnh nhẹ hơn: không phải MCAR, nhưng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Trường hợp đầy đủ so với quy gán đa bội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cả 620 người bệnh.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OR thô và đã hiệu chỉnh trong bảng mô hình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hiệu chỉnh làm ước lượng thay đổi bao nhiêu,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KTC 95% đã hiệu chỉnh có chứa 1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Cả lớp cùng viết hai câu Kết quả: thô, rồi đã hiệu chỉnh, kèm KTC</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ước lượng thô và đã hiệu chỉnh, mỗi câu một dòng</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Từ nên dùng</a:t>
            </a:r>
          </a:p>
          <a:p>
            <a:pPr marL="0" indent="0" algn="ctr">
              <a:lnSpc>
                <a:spcPct val="104000"/>
              </a:lnSpc>
              <a:spcBef>
                <a:spcPts val="300"/>
              </a:spcBef>
              <a:buNone/>
            </a:pPr>
            <a:r>
              <a:rPr lang="en-US" sz="1500" dirty="0">
                <a:solidFill>
                  <a:srgbClr val="000000"/>
                </a:solidFill>
                <a:latin typeface="Arial"/>
                <a:cs typeface="Arial"/>
              </a:rPr>
              <a:t>'có liên quan với'</a:t>
            </a:r>
          </a:p>
          <a:p>
            <a:pPr marL="0" indent="0" algn="ctr">
              <a:lnSpc>
                <a:spcPct val="104000"/>
              </a:lnSpc>
              <a:spcBef>
                <a:spcPts val="300"/>
              </a:spcBef>
              <a:buNone/>
            </a:pPr>
            <a:r>
              <a:rPr lang="en-US" sz="1500" dirty="0">
                <a:solidFill>
                  <a:srgbClr val="000000"/>
                </a:solidFill>
                <a:latin typeface="Arial"/>
                <a:cs typeface="Arial"/>
              </a:rPr>
              <a:t>'sau khi hiệu chỉnh'</a:t>
            </a:r>
          </a:p>
          <a:p>
            <a:pPr marL="0" indent="0" algn="ctr">
              <a:lnSpc>
                <a:spcPct val="104000"/>
              </a:lnSpc>
              <a:spcBef>
                <a:spcPts val="300"/>
              </a:spcBef>
              <a:buNone/>
            </a:pPr>
            <a:r>
              <a:rPr lang="en-US" sz="1500" dirty="0">
                <a:solidFill>
                  <a:srgbClr val="000000"/>
                </a:solidFill>
                <a:latin typeface="Arial"/>
                <a:cs typeface="Arial"/>
              </a:rPr>
              <a:t>'KTC 95%'</a:t>
            </a:r>
          </a:p>
          <a:p>
            <a:pPr marL="0" indent="0" algn="ctr">
              <a:lnSpc>
                <a:spcPct val="104000"/>
              </a:lnSpc>
              <a:spcBef>
                <a:spcPts val="300"/>
              </a:spcBef>
              <a:buNone/>
            </a:pPr>
            <a:r>
              <a:rPr lang="en-US" sz="1500" dirty="0">
                <a:solidFill>
                  <a:srgbClr val="000000"/>
                </a:solidFill>
                <a:latin typeface="Arial"/>
                <a:cs typeface="Arial"/>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cho Q1, mỗi câu Q2 đến Q5 một dòng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Làm mẫu trên ví dụ xuyên suốt (một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Cỡ mẫu</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40% so với 30%</a:t>
            </a:r>
          </a:p>
          <a:p>
            <a:pPr marL="0" indent="0" algn="ctr">
              <a:lnSpc>
                <a:spcPct val="104000"/>
              </a:lnSpc>
              <a:spcBef>
                <a:spcPts val="400"/>
              </a:spcBef>
              <a:buNone/>
            </a:pPr>
            <a:r>
              <a:rPr lang="en-US" sz="1600" dirty="0">
                <a:solidFill>
                  <a:srgbClr val="000000"/>
                </a:solidFill>
                <a:latin typeface="Arial"/>
                <a:cs typeface="Arial"/>
              </a:rPr>
              <a:t>Lực thống kê 80%, alpha 5% hai phía</a:t>
            </a:r>
          </a:p>
          <a:p>
            <a:pPr marL="0" indent="0" algn="ctr">
              <a:lnSpc>
                <a:spcPct val="104000"/>
              </a:lnSpc>
              <a:spcBef>
                <a:spcPts val="400"/>
              </a:spcBef>
              <a:buNone/>
            </a:pPr>
            <a:r>
              <a:rPr lang="en-US" sz="1600" dirty="0">
                <a:solidFill>
                  <a:srgbClr val="000000"/>
                </a:solidFill>
                <a:latin typeface="Arial"/>
                <a:cs typeface="Arial"/>
              </a:rPr>
              <a:t>356 mỗi nhóm, cộng thêm 10%</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 phân tích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n (%), trung vị (IQR)</a:t>
            </a:r>
          </a:p>
          <a:p>
            <a:pPr marL="0" indent="0" algn="ctr">
              <a:lnSpc>
                <a:spcPct val="104000"/>
              </a:lnSpc>
              <a:spcBef>
                <a:spcPts val="400"/>
              </a:spcBef>
              <a:buNone/>
            </a:pPr>
            <a:r>
              <a:rPr lang="en-US" sz="1600" dirty="0">
                <a:solidFill>
                  <a:srgbClr val="000000"/>
                </a:solidFill>
                <a:latin typeface="Arial"/>
                <a:cs typeface="Arial"/>
              </a:rPr>
              <a:t>So sánh: khi bình phương</a:t>
            </a:r>
          </a:p>
          <a:p>
            <a:pPr marL="0" indent="0" algn="ctr">
              <a:lnSpc>
                <a:spcPct val="104000"/>
              </a:lnSpc>
              <a:spcBef>
                <a:spcPts val="400"/>
              </a:spcBef>
              <a:buNone/>
            </a:pPr>
            <a:r>
              <a:rPr lang="en-US" sz="1600" dirty="0">
                <a:solidFill>
                  <a:srgbClr val="000000"/>
                </a:solidFill>
                <a:latin typeface="Arial"/>
                <a:cs typeface="Arial"/>
              </a:rPr>
              <a:t>Báo cáo: RR kèm KTC 95%</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Yếu tố gây nhiễu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Chọn từ trước</a:t>
            </a:r>
          </a:p>
          <a:p>
            <a:pPr marL="0" indent="0" algn="ctr">
              <a:lnSpc>
                <a:spcPct val="104000"/>
              </a:lnSpc>
              <a:spcBef>
                <a:spcPts val="400"/>
              </a:spcBef>
              <a:buNone/>
            </a:pPr>
            <a:r>
              <a:rPr lang="en-US" sz="1600" dirty="0">
                <a:solidFill>
                  <a:srgbClr val="000000"/>
                </a:solidFill>
                <a:latin typeface="Arial"/>
                <a:cs typeface="Arial"/>
              </a:rPr>
              <a:t>Khoảng 10 biến cố mỗi biến</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Dữ liệu thiếu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Dự kiến thiếu gì và vì sao</a:t>
            </a:r>
          </a:p>
          <a:p>
            <a:pPr marL="0" indent="0" algn="ctr">
              <a:lnSpc>
                <a:spcPct val="104000"/>
              </a:lnSpc>
              <a:spcBef>
                <a:spcPts val="400"/>
              </a:spcBef>
              <a:buNone/>
            </a:pPr>
            <a:r>
              <a:rPr lang="en-US" sz="1600" dirty="0">
                <a:solidFill>
                  <a:srgbClr val="000000"/>
                </a:solidFill>
                <a:latin typeface="Arial"/>
                <a:cs typeface="Arial"/>
              </a:rPr>
              <a:t>Phòng ngừa</a:t>
            </a:r>
          </a:p>
          <a:p>
            <a:pPr marL="0" indent="0" algn="ctr">
              <a:lnSpc>
                <a:spcPct val="104000"/>
              </a:lnSpc>
              <a:spcBef>
                <a:spcPts val="400"/>
              </a:spcBef>
              <a:buNone/>
            </a:pPr>
            <a:r>
              <a:rPr lang="en-US" sz="1600" dirty="0">
                <a:solidFill>
                  <a:srgbClr val="000000"/>
                </a:solidFill>
                <a:latin typeface="Arial"/>
                <a:cs typeface="Arial"/>
              </a:rPr>
              <a:t>Báo cáo dữ liệu thiếu thế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bao nhiêu người bệnh,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Giảng viên làm mẫu trực tiếp từng phần trên ví dụ xuyên suốt (18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Cỡ mẫu, kế hoạch phân tích, yếu tố gây nhiễu, kế hoạch dữ liệu thiếu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Sau đó anh chị tự viết các đầu vào cỡ mẫu vào mẫu đề cương của mình (10 phút, làm riêng)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Hỏi đáp (2 phút): giơ tay hoặc dùng khung chat. Các phần còn lại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Dùng các công cụ này</a:t>
            </a:r>
          </a:p>
          <a:p>
            <a:pPr marL="0" indent="0" algn="ctr">
              <a:lnSpc>
                <a:spcPct val="104000"/>
              </a:lnSpc>
              <a:spcBef>
                <a:spcPts val="300"/>
              </a:spcBef>
              <a:buNone/>
            </a:pPr>
            <a:r>
              <a:rPr lang="en-US" sz="1500" dirty="0">
                <a:solidFill>
                  <a:srgbClr val="000000"/>
                </a:solidFill>
                <a:latin typeface="Arial"/>
                <a:cs typeface="Arial"/>
              </a:rPr>
              <a:t>Bảng tính cỡ mẫu</a:t>
            </a:r>
          </a:p>
          <a:p>
            <a:pPr marL="0" indent="0" algn="ctr">
              <a:lnSpc>
                <a:spcPct val="104000"/>
              </a:lnSpc>
              <a:spcBef>
                <a:spcPts val="300"/>
              </a:spcBef>
              <a:buNone/>
            </a:pPr>
            <a:r>
              <a:rPr lang="en-US" sz="1500" dirty="0">
                <a:solidFill>
                  <a:srgbClr val="000000"/>
                </a:solidFill>
                <a:latin typeface="Arial"/>
                <a:cs typeface="Arial"/>
              </a:rPr>
              <a:t>Bảng chọn kiểm định (6.1)</a:t>
            </a:r>
          </a:p>
          <a:p>
            <a:pPr marL="0" indent="0" algn="ctr">
              <a:lnSpc>
                <a:spcPct val="104000"/>
              </a:lnSpc>
              <a:spcBef>
                <a:spcPts val="300"/>
              </a:spcBef>
              <a:buNone/>
            </a:pPr>
            <a:r>
              <a:rPr lang="en-US" sz="1500" dirty="0">
                <a:solidFill>
                  <a:srgbClr val="000000"/>
                </a:solidFill>
                <a:latin typeface="Arial"/>
                <a:cs typeface="Arial"/>
              </a:rPr>
              <a:t>SAP của FLUID-ICU làm mẫu</a:t>
            </a:r>
          </a:p>
          <a:p>
            <a:pPr marL="0" indent="0" algn="ctr">
              <a:lnSpc>
                <a:spcPct val="104000"/>
              </a:lnSpc>
              <a:spcBef>
                <a:spcPts val="300"/>
              </a:spcBef>
              <a:buNone/>
            </a:pPr>
            <a:r>
              <a:rPr lang="en-US" sz="1500" dirty="0">
                <a:solidFill>
                  <a:srgbClr val="000000"/>
                </a:solidFill>
                <a:latin typeface="Arial"/>
                <a:cs typeface="Arial"/>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Đề cương của chính anh chị, Phần 3 hoàn chỉnh: bắt đầu cỡ mẫu trên lớp, phần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Không chắc chắn</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KTC 95%</a:t>
            </a:r>
          </a:p>
          <a:p>
            <a:pPr marL="0" indent="0" algn="ctr">
              <a:lnSpc>
                <a:spcPct val="104000"/>
              </a:lnSpc>
              <a:spcBef>
                <a:spcPts val="400"/>
              </a:spcBef>
              <a:buNone/>
            </a:pPr>
            <a:r>
              <a:rPr lang="en-US" sz="1600" dirty="0">
                <a:solidFill>
                  <a:srgbClr val="000000"/>
                </a:solidFill>
                <a:latin typeface="Arial"/>
                <a:cs typeface="Arial"/>
              </a:rPr>
              <a:t>Giá trị p (hai phía)</a:t>
            </a:r>
          </a:p>
          <a:p>
            <a:pPr marL="0" indent="0" algn="ctr">
              <a:lnSpc>
                <a:spcPct val="104000"/>
              </a:lnSpc>
              <a:spcBef>
                <a:spcPts val="400"/>
              </a:spcBef>
              <a:buNone/>
            </a:pPr>
            <a:r>
              <a:rPr lang="en-US" sz="1600" dirty="0">
                <a:solidFill>
                  <a:srgbClr val="000000"/>
                </a:solidFill>
                <a:latin typeface="Arial"/>
                <a:cs typeface="Arial"/>
              </a:rPr>
              <a:t>Lực thống kê</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Kiểm định t / Mann-Whitney</a:t>
            </a:r>
          </a:p>
          <a:p>
            <a:pPr marL="0" indent="0" algn="ctr">
              <a:lnSpc>
                <a:spcPct val="104000"/>
              </a:lnSpc>
              <a:spcBef>
                <a:spcPts val="400"/>
              </a:spcBef>
              <a:buNone/>
            </a:pPr>
            <a:r>
              <a:rPr lang="en-US" sz="1600" dirty="0">
                <a:solidFill>
                  <a:srgbClr val="000000"/>
                </a:solidFill>
                <a:latin typeface="Arial"/>
                <a:cs typeface="Arial"/>
              </a:rPr>
              <a:t>Khi bình phương</a:t>
            </a:r>
          </a:p>
          <a:p>
            <a:pPr marL="0" indent="0" algn="ctr">
              <a:lnSpc>
                <a:spcPct val="104000"/>
              </a:lnSpc>
              <a:spcBef>
                <a:spcPts val="400"/>
              </a:spcBef>
              <a:buNone/>
            </a:pPr>
            <a:r>
              <a:rPr lang="en-US" sz="1600" dirty="0">
                <a:solidFill>
                  <a:srgbClr val="000000"/>
                </a:solidFill>
                <a:latin typeface="Arial"/>
                <a:cs typeface="Arial"/>
              </a:rPr>
              <a:t>Ghép cặp</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hình</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OR đã hiệu chỉnh</a:t>
            </a:r>
          </a:p>
          <a:p>
            <a:pPr marL="0" indent="0" algn="ctr">
              <a:lnSpc>
                <a:spcPct val="104000"/>
              </a:lnSpc>
              <a:spcBef>
                <a:spcPts val="400"/>
              </a:spcBef>
              <a:buNone/>
            </a:pPr>
            <a:r>
              <a:rPr lang="en-US" sz="1600" dirty="0">
                <a:solidFill>
                  <a:srgbClr val="000000"/>
                </a:solidFill>
                <a:latin typeface="Arial"/>
                <a:cs typeface="Arial"/>
              </a:rPr>
              <a:t>Tỷ số nguy cơ tức thời (HR)</a:t>
            </a:r>
          </a:p>
          <a:p>
            <a:pPr marL="0" indent="0" algn="ctr">
              <a:lnSpc>
                <a:spcPct val="104000"/>
              </a:lnSpc>
              <a:spcBef>
                <a:spcPts val="400"/>
              </a:spcBef>
              <a:buNone/>
            </a:pPr>
            <a:r>
              <a:rPr lang="en-US" sz="1600" dirty="0">
                <a:solidFill>
                  <a:srgbClr val="000000"/>
                </a:solidFill>
                <a:latin typeface="Arial"/>
                <a:cs typeface="Arial"/>
              </a:rPr>
              <a:t>Kiểm duyệt</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Trung thực</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KTC</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Tác động + KTC 95%</a:t>
            </a:r>
          </a:p>
          <a:p>
            <a:pPr marL="0" indent="0" algn="ctr">
              <a:lnSpc>
                <a:spcPct val="104000"/>
              </a:lnSpc>
              <a:spcBef>
                <a:spcPts val="400"/>
              </a:spcBef>
              <a:buNone/>
            </a:pPr>
            <a:r>
              <a:rPr lang="en-US" sz="1750" dirty="0">
                <a:solidFill>
                  <a:srgbClr val="000000"/>
                </a:solidFill>
                <a:latin typeface="Arial"/>
                <a:cs typeface="Arial"/>
              </a:rPr>
              <a:t>Giá trị không tác động ở đâu?</a:t>
            </a:r>
          </a:p>
          <a:p>
            <a:pPr marL="0" indent="0" algn="ctr">
              <a:lnSpc>
                <a:spcPct val="104000"/>
              </a:lnSpc>
              <a:spcBef>
                <a:spcPts val="400"/>
              </a:spcBef>
              <a:buNone/>
            </a:pPr>
            <a:r>
              <a:rPr lang="en-US" sz="1750" dirty="0">
                <a:solidFill>
                  <a:srgbClr val="000000"/>
                </a:solidFill>
                <a:latin typeface="Arial"/>
                <a:cs typeface="Arial"/>
              </a:rPr>
              <a:t>p chỉ là thông tin phụ</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Hiệu chỉnh trung thực</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Thô so với đã hiệu chỉnh</a:t>
            </a:r>
          </a:p>
          <a:p>
            <a:pPr marL="0" indent="0" algn="ctr">
              <a:lnSpc>
                <a:spcPct val="104000"/>
              </a:lnSpc>
              <a:spcBef>
                <a:spcPts val="400"/>
              </a:spcBef>
              <a:buNone/>
            </a:pPr>
            <a:r>
              <a:rPr lang="en-US" sz="1750" dirty="0">
                <a:solidFill>
                  <a:srgbClr val="000000"/>
                </a:solidFill>
                <a:latin typeface="Arial"/>
                <a:cs typeface="Arial"/>
              </a:rPr>
              <a:t>Yếu tố gây nhiễu chọn từ trước</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 trước</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trước khi có dữ liệu</a:t>
            </a:r>
          </a:p>
          <a:p>
            <a:pPr marL="0" indent="0" algn="ctr">
              <a:lnSpc>
                <a:spcPct val="104000"/>
              </a:lnSpc>
              <a:spcBef>
                <a:spcPts val="400"/>
              </a:spcBef>
              <a:buNone/>
            </a:pPr>
            <a:r>
              <a:rPr lang="en-US" sz="1750" dirty="0">
                <a:solidFill>
                  <a:srgbClr val="000000"/>
                </a:solidFill>
                <a:latin typeface="Arial"/>
                <a:cs typeface="Arial"/>
              </a:rPr>
              <a:t>Kiểm định hai phía</a:t>
            </a:r>
          </a:p>
          <a:p>
            <a:pPr marL="0" indent="0" algn="ctr">
              <a:lnSpc>
                <a:spcPct val="104000"/>
              </a:lnSpc>
              <a:spcBef>
                <a:spcPts val="400"/>
              </a:spcBef>
              <a:buNone/>
            </a:pPr>
            <a:r>
              <a:rPr lang="en-US" sz="1750" dirty="0">
                <a:solidFill>
                  <a:srgbClr val="000000"/>
                </a:solidFill>
                <a:latin typeface="Arial"/>
                <a:cs typeface="Arial"/>
              </a:rPr>
              <a:t>Dữ liệu thiếu: báo cáo, 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được lên kế hoạch trước, hiệu chỉnh trung thực và đọc qua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Sản phẩm thứ hai: phần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Chọn một câu hỏi FLUID-ICU (Q1 đến Q5) ngay tối nay. Hướng dẫn bài tập bản thảo sẽ được gửi qua email.</a:t>
            </a:r>
          </a:p>
        </p:txBody>
      </p:sp>
      <p:sp>
        <p:nvSpPr>
          <p:cNvPr id="70" name="CardHead"/>
          <p:cNvSpPr/>
          <p:nvPr/>
        </p:nvSpPr>
        <p:spPr>
          <a:xfrm>
            <a:off x="457200" y="211641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Bắt buộc</a:t>
            </a:r>
          </a:p>
        </p:txBody>
      </p:sp>
      <p:sp>
        <p:nvSpPr>
          <p:cNvPr id="71" name="CardBody"/>
          <p:cNvSpPr/>
          <p:nvPr/>
        </p:nvSpPr>
        <p:spPr>
          <a:xfrm>
            <a:off x="457200" y="2756416"/>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Phần Kết quả cho câu hỏi của anh chị</a:t>
            </a:r>
          </a:p>
          <a:p>
            <a:pPr marL="0" indent="0" algn="ctr">
              <a:lnSpc>
                <a:spcPct val="104000"/>
              </a:lnSpc>
              <a:spcBef>
                <a:spcPts val="400"/>
              </a:spcBef>
              <a:buNone/>
            </a:pPr>
            <a:r>
              <a:rPr lang="en-US" sz="1750" dirty="0">
                <a:solidFill>
                  <a:srgbClr val="000000"/>
                </a:solidFill>
                <a:latin typeface="Arial"/>
                <a:cs typeface="Arial"/>
              </a:rPr>
              <a:t>Tên bài dự kiến</a:t>
            </a:r>
          </a:p>
          <a:p>
            <a:pPr marL="0" indent="0" algn="ctr">
              <a:lnSpc>
                <a:spcPct val="104000"/>
              </a:lnSpc>
              <a:spcBef>
                <a:spcPts val="400"/>
              </a:spcBef>
              <a:buNone/>
            </a:pPr>
            <a:r>
              <a:rPr lang="en-US" sz="1750" dirty="0">
                <a:solidFill>
                  <a:srgbClr val="000000"/>
                </a:solidFill>
                <a:latin typeface="Arial"/>
                <a:cs typeface="Arial"/>
              </a:rPr>
              <a:t>Bảng 1 và một bảng hoặc hình chính</a:t>
            </a:r>
          </a:p>
        </p:txBody>
      </p:sp>
      <p:sp>
        <p:nvSpPr>
          <p:cNvPr id="72" name="CardHead"/>
          <p:cNvSpPr/>
          <p:nvPr/>
        </p:nvSpPr>
        <p:spPr>
          <a:xfrm>
            <a:off x="4283066" y="211641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bắt buộc</a:t>
            </a:r>
          </a:p>
        </p:txBody>
      </p:sp>
      <p:sp>
        <p:nvSpPr>
          <p:cNvPr id="73" name="CardBody"/>
          <p:cNvSpPr/>
          <p:nvPr/>
        </p:nvSpPr>
        <p:spPr>
          <a:xfrm>
            <a:off x="4283066" y="2756416"/>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Phương pháp, Đặt vấn đề</a:t>
            </a:r>
          </a:p>
          <a:p>
            <a:pPr marL="0" indent="0" algn="ctr">
              <a:lnSpc>
                <a:spcPct val="104000"/>
              </a:lnSpc>
              <a:spcBef>
                <a:spcPts val="400"/>
              </a:spcBef>
              <a:buNone/>
            </a:pPr>
            <a:r>
              <a:rPr lang="en-US" sz="1750" dirty="0">
                <a:solidFill>
                  <a:srgbClr val="000000"/>
                </a:solidFill>
                <a:latin typeface="Arial"/>
                <a:cs typeface="Arial"/>
              </a:rPr>
              <a:t>Bàn luận, Tóm tắt</a:t>
            </a:r>
          </a:p>
          <a:p>
            <a:pPr marL="0" indent="0" algn="ctr">
              <a:lnSpc>
                <a:spcPct val="104000"/>
              </a:lnSpc>
              <a:spcBef>
                <a:spcPts val="400"/>
              </a:spcBef>
              <a:buNone/>
            </a:pPr>
            <a:r>
              <a:rPr lang="en-US" sz="1750" dirty="0">
                <a:solidFill>
                  <a:srgbClr val="000000"/>
                </a:solidFill>
                <a:latin typeface="Arial"/>
                <a:cs typeface="Arial"/>
              </a:rPr>
              <a:t>Giảng viên cũng nhận xét các phần này</a:t>
            </a:r>
          </a:p>
        </p:txBody>
      </p:sp>
      <p:sp>
        <p:nvSpPr>
          <p:cNvPr id="74" name="CardHead"/>
          <p:cNvSpPr/>
          <p:nvPr/>
        </p:nvSpPr>
        <p:spPr>
          <a:xfrm>
            <a:off x="8108932" y="2116416"/>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Khi nào</a:t>
            </a:r>
          </a:p>
        </p:txBody>
      </p:sp>
      <p:sp>
        <p:nvSpPr>
          <p:cNvPr id="75" name="CardBody"/>
          <p:cNvSpPr/>
          <p:nvPr/>
        </p:nvSpPr>
        <p:spPr>
          <a:xfrm>
            <a:off x="8108932" y="2756416"/>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Buổi 7: viết trực tiếp phần Kết quả của Q1</a:t>
            </a:r>
          </a:p>
          <a:p>
            <a:pPr marL="0" indent="0" algn="ctr">
              <a:lnSpc>
                <a:spcPct val="104000"/>
              </a:lnSpc>
              <a:spcBef>
                <a:spcPts val="400"/>
              </a:spcBef>
              <a:buNone/>
            </a:pPr>
            <a:r>
              <a:rPr lang="en-US" sz="1750" dirty="0">
                <a:solidFill>
                  <a:srgbClr val="000000"/>
                </a:solidFill>
                <a:latin typeface="Arial"/>
                <a:cs typeface="Arial"/>
              </a:rPr>
              <a:t>Buổi 8: hoàn thiện bản nháp</a:t>
            </a:r>
          </a:p>
          <a:p>
            <a:pPr marL="0" indent="0" algn="ctr">
              <a:lnSpc>
                <a:spcPct val="104000"/>
              </a:lnSpc>
              <a:spcBef>
                <a:spcPts val="400"/>
              </a:spcBef>
              <a:buNone/>
            </a:pPr>
            <a:r>
              <a:rPr lang="en-US" sz="1750" dirty="0">
                <a:solidFill>
                  <a:srgbClr val="000000"/>
                </a:solidFill>
                <a:latin typeface="Arial"/>
                <a:cs typeface="Arial"/>
              </a:rPr>
              <a:t>Hạn nộp 23:59 ngày học Buổi 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câu hỏi của anh chị cho trưởng khóa học ngay tối nay, trong khung chat hoặc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tóm tắt và phần Kết quả của anh chị (các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trong một câu, 'KTC 95% 1.48 đến 3.06' cho biết điều gì?</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đề cương của chính anh chị. Bắt đầu các slide đề cương (mọi người đều nộp)</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Chọn câu hỏi FLUID-ICU ngay tối nay và đọc gói kết quả của câu đó</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Tuần 7-8</a:t>
            </a:r>
          </a:p>
          <a:p>
            <a:pPr marL="0" indent="0" algn="ctr">
              <a:lnSpc>
                <a:spcPct val="104000"/>
              </a:lnSpc>
              <a:spcBef>
                <a:spcPts val="300"/>
              </a:spcBef>
              <a:buNone/>
            </a:pPr>
            <a:r>
              <a:rPr lang="en-US" sz="1500" dirty="0">
                <a:solidFill>
                  <a:srgbClr val="000000"/>
                </a:solidFill>
                <a:latin typeface="Arial"/>
                <a:cs typeface="Arial"/>
              </a:rPr>
              <a:t>Đề cương, đạo đức, đăng ký</a:t>
            </a:r>
          </a:p>
          <a:p>
            <a:pPr marL="0" indent="0" algn="ctr">
              <a:lnSpc>
                <a:spcPct val="104000"/>
              </a:lnSpc>
              <a:spcBef>
                <a:spcPts val="300"/>
              </a:spcBef>
              <a:buNone/>
            </a:pPr>
            <a:r>
              <a:rPr lang="en-US" sz="1500" dirty="0">
                <a:solidFill>
                  <a:srgbClr val="000000"/>
                </a:solidFill>
                <a:latin typeface="Arial"/>
                <a:cs typeface="Arial"/>
              </a:rPr>
              <a:t>Liêm chính nghiên cứu</a:t>
            </a:r>
          </a:p>
          <a:p>
            <a:pPr marL="0" indent="0" algn="ctr">
              <a:lnSpc>
                <a:spcPct val="104000"/>
              </a:lnSpc>
              <a:spcBef>
                <a:spcPts val="300"/>
              </a:spcBef>
              <a:buNone/>
            </a:pPr>
            <a:r>
              <a:rPr lang="en-US" sz="1500" dirty="0">
                <a:solidFill>
                  <a:srgbClr val="000000"/>
                </a:solidFill>
                <a:latin typeface="Arial"/>
                <a:cs typeface="Arial"/>
              </a:rPr>
              <a:t>Viết phần Kết quả</a:t>
            </a:r>
          </a:p>
          <a:p>
            <a:pPr marL="0" indent="0" algn="ctr">
              <a:lnSpc>
                <a:spcPct val="104000"/>
              </a:lnSpc>
              <a:spcBef>
                <a:spcPts val="300"/>
              </a:spcBef>
              <a:buNone/>
            </a:pPr>
            <a:r>
              <a:rPr lang="en-US" sz="1500" dirty="0">
                <a:solidFill>
                  <a:srgbClr val="000000"/>
                </a:solidFill>
                <a:latin typeface="Arial"/>
                <a:cs typeface="Arial"/>
              </a:rPr>
              <a:t>Công bố bài báo</a:t>
            </a:r>
          </a:p>
          <a:p>
            <a:pPr marL="0" indent="0" algn="ctr">
              <a:lnSpc>
                <a:spcPct val="104000"/>
              </a:lnSpc>
              <a:spcBef>
                <a:spcPts val="300"/>
              </a:spcBef>
              <a:buNone/>
            </a:pPr>
            <a:r>
              <a:rPr lang="en-US" sz="1500" dirty="0">
                <a:solidFill>
                  <a:srgbClr val="000000"/>
                </a:solidFill>
                <a:latin typeface="Arial"/>
                <a:cs typeface="Arial"/>
              </a:rPr>
              <a:t>Trình bày của người tình nguyện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trong khung chat.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Tương tác, giá trị không tác động, dự báo và học máy, chi tiết về dữ liệu bị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Mẫu cho một ước lượng. KTC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Đọc KTC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1 (Boulet 2024, RCT thí điểm), kết cục chính: cân bằng dịch tích lũy ngày 5.</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Trung vị 6.9 so với 35.0 ml/kg</a:t>
            </a:r>
          </a:p>
          <a:p>
            <a:pPr marL="0" indent="0" algn="ctr">
              <a:lnSpc>
                <a:spcPct val="104000"/>
              </a:lnSpc>
              <a:spcBef>
                <a:spcPts val="400"/>
              </a:spcBef>
              <a:buNone/>
            </a:pPr>
            <a:r>
              <a:rPr lang="en-US" sz="1750" dirty="0">
                <a:solidFill>
                  <a:srgbClr val="000000"/>
                </a:solidFill>
                <a:latin typeface="Arial"/>
                <a:cs typeface="Arial"/>
              </a:rPr>
              <a:t>Chênh lệch trung bình 13.2 ml/kg</a:t>
            </a:r>
          </a:p>
          <a:p>
            <a:pPr marL="0" indent="0" algn="ctr">
              <a:lnSpc>
                <a:spcPct val="104000"/>
              </a:lnSpc>
              <a:spcBef>
                <a:spcPts val="400"/>
              </a:spcBef>
              <a:buNone/>
            </a:pPr>
            <a:r>
              <a:rPr lang="en-US" sz="1750" dirty="0">
                <a:solidFill>
                  <a:srgbClr val="000000"/>
                </a:solidFill>
                <a:latin typeface="Arial"/>
                <a:cs typeface="Arial"/>
              </a:rPr>
              <a:t>KTC 95% -15.2 đến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Số 0 ở đâu?</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không khác biệt</a:t>
            </a:r>
          </a:p>
          <a:p>
            <a:pPr marL="0" indent="0" algn="ctr">
              <a:lnSpc>
                <a:spcPct val="104000"/>
              </a:lnSpc>
              <a:spcBef>
                <a:spcPts val="400"/>
              </a:spcBef>
              <a:buNone/>
            </a:pPr>
            <a:r>
              <a:rPr lang="en-US" sz="1750" dirty="0">
                <a:solidFill>
                  <a:srgbClr val="000000"/>
                </a:solidFill>
                <a:latin typeface="Arial"/>
                <a:cs typeface="Arial"/>
              </a:rPr>
              <a:t>KTC chứa số 0</a:t>
            </a:r>
          </a:p>
          <a:p>
            <a:pPr marL="0" indent="0" algn="ctr">
              <a:lnSpc>
                <a:spcPct val="104000"/>
              </a:lnSpc>
              <a:spcBef>
                <a:spcPts val="400"/>
              </a:spcBef>
              <a:buNone/>
            </a:pPr>
            <a:r>
              <a:rPr lang="en-US" sz="1750" dirty="0">
                <a:solidFill>
                  <a:srgbClr val="000000"/>
                </a:solidFill>
                <a:latin typeface="Arial"/>
                <a:cs typeface="Arial"/>
              </a:rPr>
              <a:t>Nên 'không khác biệt' phù hợp với dữ liệu</a:t>
            </a:r>
          </a:p>
        </p:txBody>
      </p:sp>
      <p:sp>
        <p:nvSpPr>
          <p:cNvPr id="74" name="CardHead"/>
          <p:cNvSpPr/>
          <p:nvPr/>
        </p:nvSpPr>
        <p:spPr>
          <a:xfrm>
            <a:off x="8108932" y="190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Rộng đến đâu?</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Từ 15 ml/kg theo một hướng đến 42 ml/kg theo hướng kia</a:t>
            </a:r>
          </a:p>
          <a:p>
            <a:pPr marL="0" indent="0" algn="ctr">
              <a:lnSpc>
                <a:spcPct val="104000"/>
              </a:lnSpc>
              <a:spcBef>
                <a:spcPts val="400"/>
              </a:spcBef>
              <a:buNone/>
            </a:pPr>
            <a:r>
              <a:rPr lang="en-US" sz="1750" dirty="0">
                <a:solidFill>
                  <a:srgbClr val="000000"/>
                </a:solidFill>
                <a:latin typeface="Arial"/>
                <a:cs typeface="Arial"/>
              </a:rPr>
              <a:t>Rất kém chính xác: chỉ 48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có ý nghĩa' với KTC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ví dụ xuyên suốt trong một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Bài báo 2 (Hyun 2023): cân bằng dịch tích lũy dương so với âm, các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Ngày 1: KTC cắt qua 1. Ngày 2 và 3: KTC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Log-rank, Cox và nguy cơ tỷ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thuật ngữ anh chị sẽ gặp trong mọi bài báo về sống còn. KM = Kaplan-Meier. HR = tỷ số nguy cơ tức thời.</a:t>
            </a:r>
          </a:p>
        </p:txBody>
      </p:sp>
      <p:sp>
        <p:nvSpPr>
          <p:cNvPr id="70" name="CardHead"/>
          <p:cNvSpPr/>
          <p:nvPr/>
        </p:nvSpPr>
        <p:spPr>
          <a:xfrm>
            <a:off x="457200" y="220902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Kiểm định log-rank</a:t>
            </a:r>
          </a:p>
        </p:txBody>
      </p:sp>
      <p:sp>
        <p:nvSpPr>
          <p:cNvPr id="71" name="CardBody"/>
          <p:cNvSpPr/>
          <p:nvPr/>
        </p:nvSpPr>
        <p:spPr>
          <a:xfrm>
            <a:off x="457200"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So sánh toàn bộ đường KM</a:t>
            </a:r>
          </a:p>
          <a:p>
            <a:pPr marL="0" indent="0" algn="ctr">
              <a:lnSpc>
                <a:spcPct val="104000"/>
              </a:lnSpc>
              <a:spcBef>
                <a:spcPts val="400"/>
              </a:spcBef>
              <a:buNone/>
            </a:pPr>
            <a:r>
              <a:rPr lang="en-US" sz="1750" dirty="0">
                <a:solidFill>
                  <a:srgbClr val="000000"/>
                </a:solidFill>
                <a:latin typeface="Arial"/>
                <a:cs typeface="Arial"/>
              </a:rPr>
              <a:t>Cho giá trị p</a:t>
            </a:r>
          </a:p>
          <a:p>
            <a:pPr marL="0" indent="0" algn="ctr">
              <a:lnSpc>
                <a:spcPct val="104000"/>
              </a:lnSpc>
              <a:spcBef>
                <a:spcPts val="400"/>
              </a:spcBef>
              <a:buNone/>
            </a:pPr>
            <a:r>
              <a:rPr lang="en-US" sz="1750" dirty="0">
                <a:solidFill>
                  <a:srgbClr val="000000"/>
                </a:solidFill>
                <a:latin typeface="Arial"/>
                <a:cs typeface="Arial"/>
              </a:rPr>
              <a:t>Không cho độ lớn, không hiệu chỉnh</a:t>
            </a:r>
          </a:p>
        </p:txBody>
      </p:sp>
      <p:sp>
        <p:nvSpPr>
          <p:cNvPr id="72" name="CardHead"/>
          <p:cNvSpPr/>
          <p:nvPr/>
        </p:nvSpPr>
        <p:spPr>
          <a:xfrm>
            <a:off x="4283066" y="220902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Hồi quy Cox</a:t>
            </a:r>
          </a:p>
        </p:txBody>
      </p:sp>
      <p:sp>
        <p:nvSpPr>
          <p:cNvPr id="73" name="CardBody"/>
          <p:cNvSpPr/>
          <p:nvPr/>
        </p:nvSpPr>
        <p:spPr>
          <a:xfrm>
            <a:off x="4283066"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 HR kèm KTC 95%</a:t>
            </a:r>
          </a:p>
          <a:p>
            <a:pPr marL="0" indent="0" algn="ctr">
              <a:lnSpc>
                <a:spcPct val="104000"/>
              </a:lnSpc>
              <a:spcBef>
                <a:spcPts val="400"/>
              </a:spcBef>
              <a:buNone/>
            </a:pPr>
            <a:r>
              <a:rPr lang="en-US" sz="1750" dirty="0">
                <a:solidFill>
                  <a:srgbClr val="000000"/>
                </a:solidFill>
                <a:latin typeface="Arial"/>
                <a:cs typeface="Arial"/>
              </a:rPr>
              <a:t>Không tác động = 1</a:t>
            </a:r>
          </a:p>
          <a:p>
            <a:pPr marL="0" indent="0" algn="ctr">
              <a:lnSpc>
                <a:spcPct val="104000"/>
              </a:lnSpc>
              <a:spcBef>
                <a:spcPts val="400"/>
              </a:spcBef>
              <a:buNone/>
            </a:pPr>
            <a:r>
              <a:rPr lang="en-US" sz="1750" dirty="0">
                <a:solidFill>
                  <a:srgbClr val="000000"/>
                </a:solidFill>
                <a:latin typeface="Arial"/>
                <a:cs typeface="Arial"/>
              </a:rPr>
              <a:t>Hiệu chỉnh được yếu tố gây nhiễu</a:t>
            </a:r>
          </a:p>
        </p:txBody>
      </p:sp>
      <p:sp>
        <p:nvSpPr>
          <p:cNvPr id="74" name="CardHead"/>
          <p:cNvSpPr/>
          <p:nvPr/>
        </p:nvSpPr>
        <p:spPr>
          <a:xfrm>
            <a:off x="8108932" y="220902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Nguy cơ tỷ lệ</a:t>
            </a:r>
          </a:p>
        </p:txBody>
      </p:sp>
      <p:sp>
        <p:nvSpPr>
          <p:cNvPr id="75" name="CardBody"/>
          <p:cNvSpPr/>
          <p:nvPr/>
        </p:nvSpPr>
        <p:spPr>
          <a:xfrm>
            <a:off x="8108932"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Giả định HR không đổi theo thời gian</a:t>
            </a:r>
          </a:p>
          <a:p>
            <a:pPr marL="0" indent="0" algn="ctr">
              <a:lnSpc>
                <a:spcPct val="104000"/>
              </a:lnSpc>
              <a:spcBef>
                <a:spcPts val="400"/>
              </a:spcBef>
              <a:buNone/>
            </a:pPr>
            <a:r>
              <a:rPr lang="en-US" sz="1750" dirty="0">
                <a:solidFill>
                  <a:srgbClr val="000000"/>
                </a:solidFill>
                <a:latin typeface="Arial"/>
                <a:cs typeface="Arial"/>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2 (Hyun 2023): HR từ mô hình Cox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Đường 'không tác động': 0 cho hiệu số, 1 cho tỷ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giá trị không tác động trước, rồi xem KTC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Mô hình dự báo tốt phân biệt được người bệnh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Học máy (ML)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Dự đoán nguy cơ từng người</a:t>
            </a:r>
          </a:p>
          <a:p>
            <a:pPr marL="0" indent="0" algn="ctr">
              <a:lnSpc>
                <a:spcPct val="104000"/>
              </a:lnSpc>
              <a:spcBef>
                <a:spcPts val="400"/>
              </a:spcBef>
              <a:buNone/>
            </a:pPr>
            <a:r>
              <a:rPr lang="en-US" sz="1600" dirty="0">
                <a:solidFill>
                  <a:srgbClr val="000000"/>
                </a:solidFill>
                <a:latin typeface="Arial"/>
                <a:cs typeface="Arial"/>
              </a:rPr>
              <a:t>Không để giải thích nguyên nhân</a:t>
            </a:r>
          </a:p>
          <a:p>
            <a:pPr marL="0" indent="0" algn="ctr">
              <a:lnSpc>
                <a:spcPct val="104000"/>
              </a:lnSpc>
              <a:spcBef>
                <a:spcPts val="400"/>
              </a:spcBef>
              <a:buNone/>
            </a:pPr>
            <a:r>
              <a:rPr lang="en-US" sz="1600" dirty="0">
                <a:solidFill>
                  <a:srgbClr val="000000"/>
                </a:solidFill>
                <a:latin typeface="Arial"/>
                <a:cs typeface="Arial"/>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Học máy cần rất nhiều biến cố</a:t>
            </a:r>
          </a:p>
          <a:p>
            <a:pPr marL="0" indent="0" algn="ctr">
              <a:lnSpc>
                <a:spcPct val="104000"/>
              </a:lnSpc>
              <a:spcBef>
                <a:spcPts val="400"/>
              </a:spcBef>
              <a:buNone/>
            </a:pPr>
            <a:r>
              <a:rPr lang="en-US" sz="1600" dirty="0">
                <a:solidFill>
                  <a:srgbClr val="000000"/>
                </a:solidFill>
                <a:latin typeface="Arial"/>
                <a:cs typeface="Arial"/>
              </a:rPr>
              <a:t>Nguy cơ quá khớp cao</a:t>
            </a:r>
          </a:p>
          <a:p>
            <a:pPr marL="0" indent="0" algn="ctr">
              <a:lnSpc>
                <a:spcPct val="104000"/>
              </a:lnSpc>
              <a:spcBef>
                <a:spcPts val="400"/>
              </a:spcBef>
              <a:buNone/>
            </a:pPr>
            <a:r>
              <a:rPr lang="en-US" sz="1600" dirty="0">
                <a:solidFill>
                  <a:srgbClr val="000000"/>
                </a:solidFill>
                <a:latin typeface="Arial"/>
                <a:cs typeface="Arial"/>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Phân biệt (AUC)</a:t>
            </a:r>
          </a:p>
          <a:p>
            <a:pPr marL="0" indent="0" algn="ctr">
              <a:lnSpc>
                <a:spcPct val="104000"/>
              </a:lnSpc>
              <a:spcBef>
                <a:spcPts val="400"/>
              </a:spcBef>
              <a:buNone/>
            </a:pPr>
            <a:r>
              <a:rPr lang="en-US" sz="1600" dirty="0">
                <a:solidFill>
                  <a:srgbClr val="000000"/>
                </a:solidFill>
                <a:latin typeface="Arial"/>
                <a:cs typeface="Arial"/>
              </a:rPr>
              <a:t>Biểu đồ hiệu chuẩn</a:t>
            </a:r>
          </a:p>
          <a:p>
            <a:pPr marL="0" indent="0" algn="ctr">
              <a:lnSpc>
                <a:spcPct val="104000"/>
              </a:lnSpc>
              <a:spcBef>
                <a:spcPts val="400"/>
              </a:spcBef>
              <a:buNone/>
            </a:pPr>
            <a:r>
              <a:rPr lang="en-US" sz="1600" dirty="0">
                <a:solidFill>
                  <a:srgbClr val="000000"/>
                </a:solidFill>
                <a:latin typeface="Arial"/>
                <a:cs typeface="Arial"/>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kiểm TRIPOD+AI</a:t>
            </a:r>
          </a:p>
          <a:p>
            <a:pPr marL="0" indent="0" algn="ctr">
              <a:lnSpc>
                <a:spcPct val="104000"/>
              </a:lnSpc>
              <a:spcBef>
                <a:spcPts val="400"/>
              </a:spcBef>
              <a:buNone/>
            </a:pPr>
            <a:r>
              <a:rPr lang="en-US" sz="1600" dirty="0">
                <a:solidFill>
                  <a:srgbClr val="000000"/>
                </a:solidFill>
                <a:latin typeface="Arial"/>
                <a:cs typeface="Arial"/>
              </a:rPr>
              <a:t>Mã, dữ liệu, công bằng</a:t>
            </a:r>
          </a:p>
          <a:p>
            <a:pPr marL="0" indent="0" algn="ctr">
              <a:lnSpc>
                <a:spcPct val="104000"/>
              </a:lnSpc>
              <a:spcBef>
                <a:spcPts val="400"/>
              </a:spcBef>
              <a:buNone/>
            </a:pPr>
            <a:r>
              <a:rPr lang="en-US" sz="1600" dirty="0">
                <a:solidFill>
                  <a:srgbClr val="000000"/>
                </a:solidFill>
                <a:latin typeface="Arial"/>
                <a:cs typeface="Arial"/>
              </a:rPr>
              <a:t>Tác động lên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Phân tích các trường hợp đầy đủ và quy gán đa bội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mọi người bệnh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điều người phản biện sẽ tìm.</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Số thiếu theo từng biến</a:t>
            </a:r>
          </a:p>
          <a:p>
            <a:pPr marL="0" indent="0" algn="ctr">
              <a:lnSpc>
                <a:spcPct val="104000"/>
              </a:lnSpc>
              <a:spcBef>
                <a:spcPts val="400"/>
              </a:spcBef>
              <a:buNone/>
            </a:pPr>
            <a:r>
              <a:rPr lang="en-US" sz="1600" dirty="0">
                <a:solidFill>
                  <a:srgbClr val="000000"/>
                </a:solidFill>
                <a:latin typeface="Arial"/>
                <a:cs typeface="Arial"/>
              </a:rPr>
              <a:t>Sơ đồ: ai và vì sao</a:t>
            </a:r>
          </a:p>
          <a:p>
            <a:pPr marL="0" indent="0" algn="ctr">
              <a:lnSpc>
                <a:spcPct val="104000"/>
              </a:lnSpc>
              <a:spcBef>
                <a:spcPts val="400"/>
              </a:spcBef>
              <a:buNone/>
            </a:pPr>
            <a:r>
              <a:rPr lang="en-US" sz="1600" dirty="0">
                <a:solidFill>
                  <a:srgbClr val="000000"/>
                </a:solidFill>
                <a:latin typeface="Arial"/>
                <a:cs typeface="Arial"/>
              </a:rPr>
              <a:t>Trong Bảng 1 hoặc chú thích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Người bệnh có và không có dữ liệu đầy đủ</a:t>
            </a:r>
          </a:p>
          <a:p>
            <a:pPr marL="0" indent="0" algn="ctr">
              <a:lnSpc>
                <a:spcPct val="104000"/>
              </a:lnSpc>
              <a:spcBef>
                <a:spcPts val="400"/>
              </a:spcBef>
              <a:buNone/>
            </a:pPr>
            <a:r>
              <a:rPr lang="en-US" sz="1600" dirty="0">
                <a:solidFill>
                  <a:srgbClr val="000000"/>
                </a:solidFill>
                <a:latin typeface="Arial"/>
                <a:cs typeface="Arial"/>
              </a:rPr>
              <a:t>Họ có khác nhau không?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Độ nhạy (Cấp độ 3)</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Trường hợp đầy đủ so với quy gán đa bội</a:t>
            </a:r>
          </a:p>
          <a:p>
            <a:pPr marL="0" indent="0" algn="ctr">
              <a:lnSpc>
                <a:spcPct val="104000"/>
              </a:lnSpc>
              <a:spcBef>
                <a:spcPts val="400"/>
              </a:spcBef>
              <a:buNone/>
            </a:pPr>
            <a:r>
              <a:rPr lang="en-US" sz="1600" dirty="0">
                <a:solidFill>
                  <a:srgbClr val="000000"/>
                </a:solidFill>
                <a:latin typeface="Arial"/>
                <a:cs typeface="Arial"/>
              </a:rPr>
              <a:t>Script mẫu: 05_missing.R</a:t>
            </a:r>
          </a:p>
          <a:p>
            <a:pPr marL="0" indent="0" algn="ctr">
              <a:lnSpc>
                <a:spcPct val="104000"/>
              </a:lnSpc>
              <a:spcBef>
                <a:spcPts val="400"/>
              </a:spcBef>
              <a:buNone/>
            </a:pPr>
            <a:r>
              <a:rPr lang="en-US" sz="1600" dirty="0">
                <a:solidFill>
                  <a:srgbClr val="000000"/>
                </a:solidFill>
                <a:latin typeface="Arial"/>
                <a:cs typeface="Arial"/>
              </a:rPr>
              <a:t>Thực hành ở Cấp độ 3, Học phần H</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Viết trong SAP trước khi thấy dữ liệu</a:t>
            </a:r>
          </a:p>
          <a:p>
            <a:pPr marL="0" indent="0" algn="ctr">
              <a:lnSpc>
                <a:spcPct val="104000"/>
              </a:lnSpc>
              <a:spcBef>
                <a:spcPts val="400"/>
              </a:spcBef>
              <a:buNone/>
            </a:pPr>
            <a:r>
              <a:rPr lang="en-US" sz="1600" dirty="0">
                <a:solidFill>
                  <a:srgbClr val="000000"/>
                </a:solidFill>
                <a:latin typeface="Arial"/>
                <a:cs typeface="Arial"/>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